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84" r:id="rId2"/>
    <p:sldId id="273" r:id="rId3"/>
    <p:sldId id="275" r:id="rId4"/>
    <p:sldId id="278" r:id="rId5"/>
    <p:sldId id="283" r:id="rId6"/>
    <p:sldId id="286" r:id="rId7"/>
    <p:sldId id="288" r:id="rId8"/>
    <p:sldId id="291" r:id="rId9"/>
    <p:sldId id="294" r:id="rId10"/>
    <p:sldId id="297" r:id="rId11"/>
    <p:sldId id="300" r:id="rId12"/>
    <p:sldId id="303" r:id="rId13"/>
    <p:sldId id="307" r:id="rId14"/>
    <p:sldId id="31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55"/>
    <a:srgbClr val="FF003D"/>
    <a:srgbClr val="FF23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12"/>
    <p:restoredTop sz="94682"/>
  </p:normalViewPr>
  <p:slideViewPr>
    <p:cSldViewPr snapToGrid="0">
      <p:cViewPr varScale="1">
        <p:scale>
          <a:sx n="118" d="100"/>
          <a:sy n="118" d="100"/>
        </p:scale>
        <p:origin x="216"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EBEBFA-5EE7-E844-A054-717F296F564C}" type="datetimeFigureOut">
              <a:rPr lang="en-US" smtClean="0"/>
              <a:t>5/5/26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ED477-7BA4-5646-94B0-485CB19D6913}" type="slidenum">
              <a:rPr lang="en-US" smtClean="0"/>
              <a:t>‹#›</a:t>
            </a:fld>
            <a:endParaRPr lang="en-US" dirty="0"/>
          </a:p>
        </p:txBody>
      </p:sp>
    </p:spTree>
    <p:extLst>
      <p:ext uri="{BB962C8B-B14F-4D97-AF65-F5344CB8AC3E}">
        <p14:creationId xmlns:p14="http://schemas.microsoft.com/office/powerpoint/2010/main" val="1938339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2ED477-7BA4-5646-94B0-485CB19D6913}" type="slidenum">
              <a:rPr lang="en-US" smtClean="0"/>
              <a:t>2</a:t>
            </a:fld>
            <a:endParaRPr lang="en-US" dirty="0"/>
          </a:p>
        </p:txBody>
      </p:sp>
    </p:spTree>
    <p:extLst>
      <p:ext uri="{BB962C8B-B14F-4D97-AF65-F5344CB8AC3E}">
        <p14:creationId xmlns:p14="http://schemas.microsoft.com/office/powerpoint/2010/main" val="278207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2ED477-7BA4-5646-94B0-485CB19D6913}" type="slidenum">
              <a:rPr lang="en-US" smtClean="0"/>
              <a:t>4</a:t>
            </a:fld>
            <a:endParaRPr lang="en-US" dirty="0"/>
          </a:p>
        </p:txBody>
      </p:sp>
    </p:spTree>
    <p:extLst>
      <p:ext uri="{BB962C8B-B14F-4D97-AF65-F5344CB8AC3E}">
        <p14:creationId xmlns:p14="http://schemas.microsoft.com/office/powerpoint/2010/main" val="1917064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2ED477-7BA4-5646-94B0-485CB19D6913}" type="slidenum">
              <a:rPr lang="en-US" smtClean="0"/>
              <a:t>11</a:t>
            </a:fld>
            <a:endParaRPr lang="en-US" dirty="0"/>
          </a:p>
        </p:txBody>
      </p:sp>
    </p:spTree>
    <p:extLst>
      <p:ext uri="{BB962C8B-B14F-4D97-AF65-F5344CB8AC3E}">
        <p14:creationId xmlns:p14="http://schemas.microsoft.com/office/powerpoint/2010/main" val="988727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2ED477-7BA4-5646-94B0-485CB19D6913}" type="slidenum">
              <a:rPr lang="en-US" smtClean="0"/>
              <a:t>13</a:t>
            </a:fld>
            <a:endParaRPr lang="en-US" dirty="0"/>
          </a:p>
        </p:txBody>
      </p:sp>
    </p:spTree>
    <p:extLst>
      <p:ext uri="{BB962C8B-B14F-4D97-AF65-F5344CB8AC3E}">
        <p14:creationId xmlns:p14="http://schemas.microsoft.com/office/powerpoint/2010/main" val="263878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E6BF8-5A4F-E2E0-B5EA-CD39BD0D45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9080DD-7527-7BA5-BC09-A4CE5CF200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2F1C4-8D17-3895-F0E6-8FBE2DFEB648}"/>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5" name="Footer Placeholder 4">
            <a:extLst>
              <a:ext uri="{FF2B5EF4-FFF2-40B4-BE49-F238E27FC236}">
                <a16:creationId xmlns:a16="http://schemas.microsoft.com/office/drawing/2014/main" id="{DE531814-9FDF-7338-27EB-E727037B11B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694B8B-70A4-3EB9-3642-88AB89733906}"/>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837871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3775-7B01-71E7-614D-1E7ADEED86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0FE443-7824-0C37-188B-984B6EBEBE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966D23-1E18-0AD6-050B-0C13820419B5}"/>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5" name="Footer Placeholder 4">
            <a:extLst>
              <a:ext uri="{FF2B5EF4-FFF2-40B4-BE49-F238E27FC236}">
                <a16:creationId xmlns:a16="http://schemas.microsoft.com/office/drawing/2014/main" id="{F8913CBE-F9F0-0165-2910-29562AF6F5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2DBDD-2B3A-357A-ADA1-BFCD740CDEA3}"/>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27197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40B5A-7AA0-B1A8-60AE-24582911DE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61149D-B5AC-B55B-90A6-4B8F881B44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01A3C5-E631-1708-92F8-61F8CF72347D}"/>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5" name="Footer Placeholder 4">
            <a:extLst>
              <a:ext uri="{FF2B5EF4-FFF2-40B4-BE49-F238E27FC236}">
                <a16:creationId xmlns:a16="http://schemas.microsoft.com/office/drawing/2014/main" id="{5DC272A5-F4E7-83F8-D78F-92BB18EE6E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26B5BF-2B55-15B8-3ED9-45B546175729}"/>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686174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09B09-987E-3489-D43B-A36CC118FA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2A4DD-3499-9761-2641-351F5D052E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A3BB35-AF95-47CE-EDDC-BADAB63259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7E1E60-9ABB-6961-6676-4E45CFDC7636}"/>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6" name="Footer Placeholder 5">
            <a:extLst>
              <a:ext uri="{FF2B5EF4-FFF2-40B4-BE49-F238E27FC236}">
                <a16:creationId xmlns:a16="http://schemas.microsoft.com/office/drawing/2014/main" id="{E0B917BF-1834-31DB-6B30-C29F4E42FC5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758871B-E648-8931-369B-C069A21983C9}"/>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239761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ED710-D952-77B9-0A62-42688E56B4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C7A0E6-7920-43A4-91A2-C744B96729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1F394E-0E31-0327-9533-87D7E61AE0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8D354C-1AE8-1509-7A14-468A98F451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F615A1-1B59-F9AA-3EF6-11659262A0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1D9AB-2107-3655-6DA9-4F6E21A6CB76}"/>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8" name="Footer Placeholder 7">
            <a:extLst>
              <a:ext uri="{FF2B5EF4-FFF2-40B4-BE49-F238E27FC236}">
                <a16:creationId xmlns:a16="http://schemas.microsoft.com/office/drawing/2014/main" id="{E43777CB-AC99-D8B7-762C-6C5B5D54BA7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F3B9153-987E-9F2C-CB6A-249D4EBB7A3D}"/>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0022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85A20-7D80-A808-5E6B-2BB61FC6C4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42C9A0-5B24-6A80-777F-5702D620E854}"/>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4" name="Footer Placeholder 3">
            <a:extLst>
              <a:ext uri="{FF2B5EF4-FFF2-40B4-BE49-F238E27FC236}">
                <a16:creationId xmlns:a16="http://schemas.microsoft.com/office/drawing/2014/main" id="{B0601EFE-D4E6-71E2-6F11-12284C964460}"/>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751FA04-54AB-9113-5E9B-D198083D9FC6}"/>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3370641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CD75D7-7ABE-8018-7E24-022BFE403400}"/>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3" name="Footer Placeholder 2">
            <a:extLst>
              <a:ext uri="{FF2B5EF4-FFF2-40B4-BE49-F238E27FC236}">
                <a16:creationId xmlns:a16="http://schemas.microsoft.com/office/drawing/2014/main" id="{159F4B2B-BFB9-C682-D4CD-2B147412DA9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AAEC3DB-82E4-2419-BBE2-1479F32B8825}"/>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3220374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33A33-E502-DD47-923C-8A72543DC2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3251AB-BC8E-979A-A0EB-349B0768E6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E9991E-2C5C-6D1E-33F8-BE6234D0ED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2789CD-3EA0-B73C-AF19-F75074AA880E}"/>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6" name="Footer Placeholder 5">
            <a:extLst>
              <a:ext uri="{FF2B5EF4-FFF2-40B4-BE49-F238E27FC236}">
                <a16:creationId xmlns:a16="http://schemas.microsoft.com/office/drawing/2014/main" id="{1624D363-F316-1862-1AFD-AD8F299FB41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F3F4BFD-CDE8-488C-8273-9326A4A23D00}"/>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3705580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C5D28-4CCA-06A1-C257-EFEF1F658E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98426D-F7F1-3503-6D6D-F174907F15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F48BE68-001A-BBEC-6EF9-5DB02D800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7F0BA3-1030-E594-9797-166A4EE519B0}"/>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6" name="Footer Placeholder 5">
            <a:extLst>
              <a:ext uri="{FF2B5EF4-FFF2-40B4-BE49-F238E27FC236}">
                <a16:creationId xmlns:a16="http://schemas.microsoft.com/office/drawing/2014/main" id="{31AD312C-910A-70DF-0E0F-FCEA314DCD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CE91F7-F37C-4560-B1E7-CAA69F232D3E}"/>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2943962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DFE6A-3952-8D47-0A75-B4C17D0B37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7AB1DD-6223-F423-9B2B-133708B701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D90E7-B404-400E-B066-756AFCC17850}"/>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5" name="Footer Placeholder 4">
            <a:extLst>
              <a:ext uri="{FF2B5EF4-FFF2-40B4-BE49-F238E27FC236}">
                <a16:creationId xmlns:a16="http://schemas.microsoft.com/office/drawing/2014/main" id="{7EE6461A-0387-43AC-F304-5CAAF104CD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ADD160E-B414-2FC4-C5C1-6133501DA144}"/>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82418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764CD4-E029-4BC7-E394-45AA1B01C6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C82AAA-A10F-2DDB-F1B1-1F536D47E6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FF8800-1865-7755-73BB-A0A2C55AAC1A}"/>
              </a:ext>
            </a:extLst>
          </p:cNvPr>
          <p:cNvSpPr>
            <a:spLocks noGrp="1"/>
          </p:cNvSpPr>
          <p:nvPr>
            <p:ph type="dt" sz="half" idx="10"/>
          </p:nvPr>
        </p:nvSpPr>
        <p:spPr/>
        <p:txBody>
          <a:bodyPr/>
          <a:lstStyle/>
          <a:p>
            <a:fld id="{AE6CF0C4-85D3-7E48-A56E-9B883473E0E0}" type="datetimeFigureOut">
              <a:rPr lang="en-US" smtClean="0"/>
              <a:t>5/5/26</a:t>
            </a:fld>
            <a:endParaRPr lang="en-US" dirty="0"/>
          </a:p>
        </p:txBody>
      </p:sp>
      <p:sp>
        <p:nvSpPr>
          <p:cNvPr id="5" name="Footer Placeholder 4">
            <a:extLst>
              <a:ext uri="{FF2B5EF4-FFF2-40B4-BE49-F238E27FC236}">
                <a16:creationId xmlns:a16="http://schemas.microsoft.com/office/drawing/2014/main" id="{340AD417-3B3E-2CB7-9576-6A0F6932E4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358698-A781-38FB-91C5-16544D67749E}"/>
              </a:ext>
            </a:extLst>
          </p:cNvPr>
          <p:cNvSpPr>
            <a:spLocks noGrp="1"/>
          </p:cNvSpPr>
          <p:nvPr>
            <p:ph type="sldNum" sz="quarter" idx="12"/>
          </p:nvPr>
        </p:nvSpPr>
        <p:spPr/>
        <p:txBody>
          <a:bodyPr/>
          <a:lstStyle/>
          <a:p>
            <a:fld id="{C57B4032-2DEE-134E-B0B4-D6849760313E}" type="slidenum">
              <a:rPr lang="en-US" smtClean="0"/>
              <a:t>‹#›</a:t>
            </a:fld>
            <a:endParaRPr lang="en-US" dirty="0"/>
          </a:p>
        </p:txBody>
      </p:sp>
    </p:spTree>
    <p:extLst>
      <p:ext uri="{BB962C8B-B14F-4D97-AF65-F5344CB8AC3E}">
        <p14:creationId xmlns:p14="http://schemas.microsoft.com/office/powerpoint/2010/main" val="1983400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74795E-998B-66B1-869E-21D2AD125A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E666BC-68A0-99D9-72A3-49C303FBFC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EB92A-C0DC-C733-3694-EF3919E597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6CF0C4-85D3-7E48-A56E-9B883473E0E0}" type="datetimeFigureOut">
              <a:rPr lang="en-US" smtClean="0"/>
              <a:t>5/5/26</a:t>
            </a:fld>
            <a:endParaRPr lang="en-US" dirty="0"/>
          </a:p>
        </p:txBody>
      </p:sp>
      <p:sp>
        <p:nvSpPr>
          <p:cNvPr id="5" name="Footer Placeholder 4">
            <a:extLst>
              <a:ext uri="{FF2B5EF4-FFF2-40B4-BE49-F238E27FC236}">
                <a16:creationId xmlns:a16="http://schemas.microsoft.com/office/drawing/2014/main" id="{93096141-10E1-C487-A4B0-1ADD7F264B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DD156C3C-BEF7-55DA-7118-6EEE438C4A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7B4032-2DEE-134E-B0B4-D6849760313E}" type="slidenum">
              <a:rPr lang="en-US" smtClean="0"/>
              <a:t>‹#›</a:t>
            </a:fld>
            <a:endParaRPr lang="en-US" dirty="0"/>
          </a:p>
        </p:txBody>
      </p:sp>
    </p:spTree>
    <p:extLst>
      <p:ext uri="{BB962C8B-B14F-4D97-AF65-F5344CB8AC3E}">
        <p14:creationId xmlns:p14="http://schemas.microsoft.com/office/powerpoint/2010/main" val="29555881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3" name="FooterBand">
            <a:extLst>
              <a:ext uri="{FF2B5EF4-FFF2-40B4-BE49-F238E27FC236}">
                <a16:creationId xmlns:a16="http://schemas.microsoft.com/office/drawing/2014/main" id="{715A7F7F-E8D3-2442-9430-75F69BBEDAF4}"/>
              </a:ext>
            </a:extLst>
          </p:cNvPr>
          <p:cNvSpPr/>
          <p:nvPr/>
        </p:nvSpPr>
        <p:spPr>
          <a:xfrm>
            <a:off x="0" y="5393267"/>
            <a:ext cx="12192000" cy="1464733"/>
          </a:xfrm>
          <a:prstGeom prst="rect">
            <a:avLst/>
          </a:prstGeom>
          <a:solidFill>
            <a:srgbClr val="0E4D4D">
              <a:alpha val="89804"/>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600" dirty="0">
              <a:latin typeface="Big Caslon Medium" panose="02000603090000020003" pitchFamily="2" charset="-79"/>
              <a:cs typeface="Big Caslon Medium" panose="02000603090000020003" pitchFamily="2" charset="-79"/>
            </a:endParaRPr>
          </a:p>
        </p:txBody>
      </p:sp>
      <p:sp>
        <p:nvSpPr>
          <p:cNvPr id="20" name="TextBox 19">
            <a:extLst>
              <a:ext uri="{FF2B5EF4-FFF2-40B4-BE49-F238E27FC236}">
                <a16:creationId xmlns:a16="http://schemas.microsoft.com/office/drawing/2014/main" id="{3F11FECB-4691-F66D-1C32-B886CC428048}"/>
              </a:ext>
            </a:extLst>
          </p:cNvPr>
          <p:cNvSpPr txBox="1"/>
          <p:nvPr/>
        </p:nvSpPr>
        <p:spPr>
          <a:xfrm>
            <a:off x="406400" y="6070600"/>
            <a:ext cx="2286000" cy="338554"/>
          </a:xfrm>
          <a:prstGeom prst="rect">
            <a:avLst/>
          </a:prstGeom>
          <a:noFill/>
        </p:spPr>
        <p:txBody>
          <a:bodyPr wrap="square" rtlCol="0">
            <a:spAutoFit/>
          </a:bodyPr>
          <a:lstStyle/>
          <a:p>
            <a:pPr>
              <a:buNone/>
            </a:pPr>
            <a:r>
              <a:rPr lang="en-US" sz="1600" i="1" dirty="0">
                <a:solidFill>
                  <a:srgbClr val="F7F1E8"/>
                </a:solidFill>
                <a:latin typeface="BIG CASLON MEDIUM" panose="02000603090000020003" pitchFamily="2" charset="-79"/>
                <a:cs typeface="BIG CASLON MEDIUM" panose="02000603090000020003" pitchFamily="2" charset="-79"/>
              </a:rPr>
              <a:t>Rohith Reddy Kolanu</a:t>
            </a:r>
          </a:p>
        </p:txBody>
      </p:sp>
      <p:sp>
        <p:nvSpPr>
          <p:cNvPr id="26" name="TextBox 25">
            <a:extLst>
              <a:ext uri="{FF2B5EF4-FFF2-40B4-BE49-F238E27FC236}">
                <a16:creationId xmlns:a16="http://schemas.microsoft.com/office/drawing/2014/main" id="{0F31BF05-5B00-4B5A-7A7F-009E4C31885B}"/>
              </a:ext>
            </a:extLst>
          </p:cNvPr>
          <p:cNvSpPr txBox="1"/>
          <p:nvPr/>
        </p:nvSpPr>
        <p:spPr>
          <a:xfrm>
            <a:off x="2794000" y="6070600"/>
            <a:ext cx="2794000" cy="338554"/>
          </a:xfrm>
          <a:prstGeom prst="rect">
            <a:avLst/>
          </a:prstGeom>
          <a:noFill/>
        </p:spPr>
        <p:txBody>
          <a:bodyPr wrap="square" rtlCol="0">
            <a:spAutoFit/>
          </a:bodyPr>
          <a:lstStyle/>
          <a:p>
            <a:pPr>
              <a:buNone/>
            </a:pPr>
            <a:r>
              <a:rPr lang="en-US" sz="1600" i="1" dirty="0">
                <a:solidFill>
                  <a:srgbClr val="F7F1E8"/>
                </a:solidFill>
                <a:latin typeface="BIG CASLON MEDIUM" panose="02000603090000020003" pitchFamily="2" charset="-79"/>
                <a:cs typeface="BIG CASLON MEDIUM" panose="02000603090000020003" pitchFamily="2" charset="-79"/>
              </a:rPr>
              <a:t>Allen Joe Winny Tharigopala</a:t>
            </a:r>
          </a:p>
        </p:txBody>
      </p:sp>
      <p:sp>
        <p:nvSpPr>
          <p:cNvPr id="27" name="TextBox 26">
            <a:extLst>
              <a:ext uri="{FF2B5EF4-FFF2-40B4-BE49-F238E27FC236}">
                <a16:creationId xmlns:a16="http://schemas.microsoft.com/office/drawing/2014/main" id="{410AAE73-C7B3-4778-1961-AE3FE1AA2DB5}"/>
              </a:ext>
            </a:extLst>
          </p:cNvPr>
          <p:cNvSpPr txBox="1"/>
          <p:nvPr/>
        </p:nvSpPr>
        <p:spPr>
          <a:xfrm>
            <a:off x="5715000" y="6070600"/>
            <a:ext cx="2540000" cy="338554"/>
          </a:xfrm>
          <a:prstGeom prst="rect">
            <a:avLst/>
          </a:prstGeom>
          <a:noFill/>
        </p:spPr>
        <p:txBody>
          <a:bodyPr wrap="square" rtlCol="0">
            <a:spAutoFit/>
          </a:bodyPr>
          <a:lstStyle/>
          <a:p>
            <a:pPr>
              <a:buNone/>
            </a:pPr>
            <a:r>
              <a:rPr lang="en-US" sz="1600" i="1" dirty="0">
                <a:solidFill>
                  <a:srgbClr val="F7F1E8"/>
                </a:solidFill>
                <a:latin typeface="BIG CASLON MEDIUM" panose="02000603090000020003" pitchFamily="2" charset="-79"/>
                <a:cs typeface="BIG CASLON MEDIUM" panose="02000603090000020003" pitchFamily="2" charset="-79"/>
              </a:rPr>
              <a:t>Ruthwik Reddy Kolanu</a:t>
            </a:r>
          </a:p>
        </p:txBody>
      </p:sp>
      <p:sp>
        <p:nvSpPr>
          <p:cNvPr id="28" name="TextBox 27">
            <a:extLst>
              <a:ext uri="{FF2B5EF4-FFF2-40B4-BE49-F238E27FC236}">
                <a16:creationId xmlns:a16="http://schemas.microsoft.com/office/drawing/2014/main" id="{48766823-CE54-CD3C-D6E2-ECE5FBEE0E78}"/>
              </a:ext>
            </a:extLst>
          </p:cNvPr>
          <p:cNvSpPr txBox="1"/>
          <p:nvPr/>
        </p:nvSpPr>
        <p:spPr>
          <a:xfrm>
            <a:off x="8382000" y="6070600"/>
            <a:ext cx="2032000" cy="338554"/>
          </a:xfrm>
          <a:prstGeom prst="rect">
            <a:avLst/>
          </a:prstGeom>
          <a:noFill/>
        </p:spPr>
        <p:txBody>
          <a:bodyPr wrap="square" rtlCol="0">
            <a:spAutoFit/>
          </a:bodyPr>
          <a:lstStyle/>
          <a:p>
            <a:pPr>
              <a:buNone/>
            </a:pPr>
            <a:r>
              <a:rPr lang="en-US" sz="1600" i="1" dirty="0">
                <a:solidFill>
                  <a:srgbClr val="F7F1E8"/>
                </a:solidFill>
                <a:latin typeface="BIG CASLON MEDIUM" panose="02000603090000020003" pitchFamily="2" charset="-79"/>
                <a:cs typeface="BIG CASLON MEDIUM" panose="02000603090000020003" pitchFamily="2" charset="-79"/>
              </a:rPr>
              <a:t>Gianni Colonero</a:t>
            </a:r>
          </a:p>
        </p:txBody>
      </p:sp>
      <p:sp>
        <p:nvSpPr>
          <p:cNvPr id="4" name="TextBox 3">
            <a:extLst>
              <a:ext uri="{FF2B5EF4-FFF2-40B4-BE49-F238E27FC236}">
                <a16:creationId xmlns:a16="http://schemas.microsoft.com/office/drawing/2014/main" id="{43CB0EC0-3E5F-3189-F58E-EA1A7126E8D0}"/>
              </a:ext>
            </a:extLst>
          </p:cNvPr>
          <p:cNvSpPr txBox="1"/>
          <p:nvPr/>
        </p:nvSpPr>
        <p:spPr>
          <a:xfrm>
            <a:off x="711200" y="2288282"/>
            <a:ext cx="10414000" cy="1077218"/>
          </a:xfrm>
          <a:prstGeom prst="rect">
            <a:avLst/>
          </a:prstGeom>
          <a:noFill/>
        </p:spPr>
        <p:txBody>
          <a:bodyPr wrap="square" rtlCol="0">
            <a:spAutoFit/>
          </a:bodyPr>
          <a:lstStyle/>
          <a:p>
            <a:pPr>
              <a:buNone/>
            </a:pPr>
            <a:r>
              <a:rPr lang="en-US" sz="3200" b="1" i="1" dirty="0">
                <a:solidFill>
                  <a:srgbClr val="0E4D4D"/>
                </a:solidFill>
                <a:latin typeface="Playfair Display"/>
                <a:cs typeface="Playfair Display"/>
              </a:rPr>
              <a:t>Airbnb Price Prediction, Guest Sentiment Analysis &amp; Topic Modeling using ML, NLP &amp; Neural Networks</a:t>
            </a:r>
          </a:p>
        </p:txBody>
      </p:sp>
      <p:sp>
        <p:nvSpPr>
          <p:cNvPr id="31" name="AccentBar">
            <a:extLst>
              <a:ext uri="{FF2B5EF4-FFF2-40B4-BE49-F238E27FC236}">
                <a16:creationId xmlns:a16="http://schemas.microsoft.com/office/drawing/2014/main" id="{70F3CD15-5B28-8141-86A7-6F1349F132ED}"/>
              </a:ext>
            </a:extLst>
          </p:cNvPr>
          <p:cNvSpPr/>
          <p:nvPr/>
        </p:nvSpPr>
        <p:spPr>
          <a:xfrm>
            <a:off x="406400" y="1810891"/>
            <a:ext cx="63500" cy="2032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TextBox 4">
            <a:extLst>
              <a:ext uri="{FF2B5EF4-FFF2-40B4-BE49-F238E27FC236}">
                <a16:creationId xmlns:a16="http://schemas.microsoft.com/office/drawing/2014/main" id="{C21E7B59-6FD3-B8FD-7438-262DB0055379}"/>
              </a:ext>
            </a:extLst>
          </p:cNvPr>
          <p:cNvSpPr txBox="1"/>
          <p:nvPr/>
        </p:nvSpPr>
        <p:spPr>
          <a:xfrm>
            <a:off x="711200" y="3483189"/>
            <a:ext cx="7620000" cy="523220"/>
          </a:xfrm>
          <a:prstGeom prst="rect">
            <a:avLst/>
          </a:prstGeom>
          <a:noFill/>
        </p:spPr>
        <p:txBody>
          <a:bodyPr wrap="square" rtlCol="0">
            <a:spAutoFit/>
          </a:bodyPr>
          <a:lstStyle/>
          <a:p>
            <a:pPr>
              <a:buNone/>
            </a:pPr>
            <a:r>
              <a:rPr lang="en-US" sz="2800" b="1" dirty="0">
                <a:solidFill>
                  <a:srgbClr val="E07856"/>
                </a:solidFill>
                <a:latin typeface="Angsana New" panose="02020603050405020304" pitchFamily="18" charset="-34"/>
                <a:cs typeface="Angsana New" panose="02020603050405020304" pitchFamily="18" charset="-34"/>
              </a:rPr>
              <a:t>SCH-MGMT 661  </a:t>
            </a:r>
            <a:r>
              <a:rPr lang="en-US" sz="2800" b="1" dirty="0">
                <a:solidFill>
                  <a:srgbClr val="5A6B6B"/>
                </a:solidFill>
                <a:latin typeface="Angsana New" panose="02020603050405020304" pitchFamily="18" charset="-34"/>
                <a:cs typeface="Angsana New" panose="02020603050405020304" pitchFamily="18" charset="-34"/>
              </a:rPr>
              <a:t>- APPLICATIONS OF AI MODELS</a:t>
            </a:r>
          </a:p>
        </p:txBody>
      </p:sp>
      <p:sp>
        <p:nvSpPr>
          <p:cNvPr id="6" name="HeaderBar">
            <a:extLst>
              <a:ext uri="{FF2B5EF4-FFF2-40B4-BE49-F238E27FC236}">
                <a16:creationId xmlns:a16="http://schemas.microsoft.com/office/drawing/2014/main" id="{51123613-2132-D647-8A63-0CF502CEE293}"/>
              </a:ext>
            </a:extLst>
          </p:cNvPr>
          <p:cNvSpPr/>
          <p:nvPr/>
        </p:nvSpPr>
        <p:spPr>
          <a:xfrm>
            <a:off x="0" y="0"/>
            <a:ext cx="12192000" cy="1016000"/>
          </a:xfrm>
          <a:prstGeom prst="rect">
            <a:avLst/>
          </a:prstGeom>
          <a:solidFill>
            <a:srgbClr val="0E4D4D">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HeaderAccent">
            <a:extLst>
              <a:ext uri="{FF2B5EF4-FFF2-40B4-BE49-F238E27FC236}">
                <a16:creationId xmlns:a16="http://schemas.microsoft.com/office/drawing/2014/main" id="{FBD08979-E402-E74D-8AD9-73B821067460}"/>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pic>
        <p:nvPicPr>
          <p:cNvPr id="12" name="Picture 11">
            <a:extLst>
              <a:ext uri="{FF2B5EF4-FFF2-40B4-BE49-F238E27FC236}">
                <a16:creationId xmlns:a16="http://schemas.microsoft.com/office/drawing/2014/main" id="{DBA0BAF2-4FA8-F515-3A4C-10FE9E5DDDC0}"/>
              </a:ext>
            </a:extLst>
          </p:cNvPr>
          <p:cNvPicPr>
            <a:picLocks noChangeAspect="1"/>
          </p:cNvPicPr>
          <p:nvPr/>
        </p:nvPicPr>
        <p:blipFill>
          <a:blip r:embed="rId2"/>
          <a:stretch>
            <a:fillRect/>
          </a:stretch>
        </p:blipFill>
        <p:spPr>
          <a:xfrm>
            <a:off x="304800" y="228600"/>
            <a:ext cx="1066800" cy="558800"/>
          </a:xfrm>
          <a:prstGeom prst="roundRect">
            <a:avLst>
              <a:gd name="adj" fmla="val 18000"/>
            </a:avLst>
          </a:prstGeom>
          <a:ln>
            <a:noFill/>
          </a:ln>
          <a:effectLst>
            <a:softEdge rad="0"/>
          </a:effectLst>
        </p:spPr>
      </p:pic>
      <p:sp>
        <p:nvSpPr>
          <p:cNvPr id="8" name="ChicagoBox">
            <a:extLst>
              <a:ext uri="{FF2B5EF4-FFF2-40B4-BE49-F238E27FC236}">
                <a16:creationId xmlns:a16="http://schemas.microsoft.com/office/drawing/2014/main" id="{AD4EFB75-9A16-DD4E-81B2-2951659EFE0A}"/>
              </a:ext>
            </a:extLst>
          </p:cNvPr>
          <p:cNvSpPr/>
          <p:nvPr/>
        </p:nvSpPr>
        <p:spPr>
          <a:xfrm>
            <a:off x="9029701" y="196850"/>
            <a:ext cx="3036887" cy="558800"/>
          </a:xfrm>
          <a:prstGeom prst="round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8" name="TextBox 17">
            <a:extLst>
              <a:ext uri="{FF2B5EF4-FFF2-40B4-BE49-F238E27FC236}">
                <a16:creationId xmlns:a16="http://schemas.microsoft.com/office/drawing/2014/main" id="{0209CBD5-E3FB-D6EC-503F-C7914B63518F}"/>
              </a:ext>
            </a:extLst>
          </p:cNvPr>
          <p:cNvSpPr txBox="1"/>
          <p:nvPr/>
        </p:nvSpPr>
        <p:spPr>
          <a:xfrm>
            <a:off x="9432926" y="354112"/>
            <a:ext cx="2633662" cy="307777"/>
          </a:xfrm>
          <a:prstGeom prst="rect">
            <a:avLst/>
          </a:prstGeom>
          <a:noFill/>
        </p:spPr>
        <p:txBody>
          <a:bodyPr wrap="square" rtlCol="0">
            <a:spAutoFit/>
          </a:bodyPr>
          <a:lstStyle/>
          <a:p>
            <a:pPr algn="ctr">
              <a:buNone/>
            </a:pPr>
            <a:r>
              <a:rPr lang="en-US" sz="1400" b="1" spc="200" dirty="0">
                <a:solidFill>
                  <a:srgbClr val="0E4D4D"/>
                </a:solidFill>
                <a:latin typeface="BIG CASLON MEDIUM" panose="02000603090000020003" pitchFamily="2" charset="-79"/>
                <a:cs typeface="BIG CASLON MEDIUM" panose="02000603090000020003" pitchFamily="2" charset="-79"/>
              </a:rPr>
              <a:t>CHICAGO, ILLINOIS</a:t>
            </a:r>
          </a:p>
        </p:txBody>
      </p:sp>
      <p:pic>
        <p:nvPicPr>
          <p:cNvPr id="32" name="Graphic 32" descr="Location pi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97963" y="295175"/>
            <a:ext cx="403225" cy="403225"/>
          </a:xfrm>
          <a:prstGeom prst="rect">
            <a:avLst/>
          </a:prstGeom>
        </p:spPr>
      </p:pic>
      <p:sp>
        <p:nvSpPr>
          <p:cNvPr id="2" name="TextBox 1">
            <a:extLst>
              <a:ext uri="{FF2B5EF4-FFF2-40B4-BE49-F238E27FC236}">
                <a16:creationId xmlns:a16="http://schemas.microsoft.com/office/drawing/2014/main" id="{9BADD23E-BC18-11D7-E220-F42A8CD3BDD2}"/>
              </a:ext>
            </a:extLst>
          </p:cNvPr>
          <p:cNvSpPr txBox="1"/>
          <p:nvPr/>
        </p:nvSpPr>
        <p:spPr>
          <a:xfrm>
            <a:off x="469900" y="5542000"/>
            <a:ext cx="2540000" cy="523220"/>
          </a:xfrm>
          <a:prstGeom prst="rect">
            <a:avLst/>
          </a:prstGeom>
          <a:noFill/>
        </p:spPr>
        <p:txBody>
          <a:bodyPr wrap="square" rtlCol="0">
            <a:spAutoFit/>
          </a:bodyPr>
          <a:lstStyle/>
          <a:p>
            <a:pPr>
              <a:buNone/>
            </a:pPr>
            <a:r>
              <a:rPr lang="en-US" sz="2000" b="1" dirty="0">
                <a:solidFill>
                  <a:srgbClr val="E07856"/>
                </a:solidFill>
                <a:latin typeface="BIG CASLON MEDIUM" panose="02000603090000020003" pitchFamily="2" charset="-79"/>
                <a:ea typeface="Segoe UI Symbol" panose="020B0502040204020203" pitchFamily="34" charset="0"/>
                <a:cs typeface="BIG CASLON MEDIUM" panose="02000603090000020003" pitchFamily="2" charset="-79"/>
              </a:rPr>
              <a:t>Group</a:t>
            </a:r>
            <a:r>
              <a:rPr lang="en-US" sz="2800" b="1" dirty="0">
                <a:solidFill>
                  <a:schemeClr val="accent2"/>
                </a:solidFill>
                <a:latin typeface="BIG CASLON MEDIUM" panose="02000603090000020003" pitchFamily="2" charset="-79"/>
                <a:cs typeface="BIG CASLON MEDIUM" panose="02000603090000020003" pitchFamily="2" charset="-79"/>
              </a:rPr>
              <a:t> 5</a:t>
            </a:r>
          </a:p>
        </p:txBody>
      </p:sp>
      <p:sp>
        <p:nvSpPr>
          <p:cNvPr id="9" name="TextBox 8">
            <a:extLst>
              <a:ext uri="{FF2B5EF4-FFF2-40B4-BE49-F238E27FC236}">
                <a16:creationId xmlns:a16="http://schemas.microsoft.com/office/drawing/2014/main" id="{052E64B2-8E7A-D54D-AFFB-FDA3534F3FFB}"/>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buNone/>
            </a:pPr>
            <a:r>
              <a:rPr lang="en-US" sz="1000" b="1" spc="150" dirty="0">
                <a:solidFill>
                  <a:srgbClr val="E07856"/>
                </a:solidFill>
                <a:latin typeface="Big Caslon Medium"/>
              </a:rPr>
              <a:t>01 / 14</a:t>
            </a:r>
          </a:p>
        </p:txBody>
      </p:sp>
    </p:spTree>
    <p:extLst>
      <p:ext uri="{BB962C8B-B14F-4D97-AF65-F5344CB8AC3E}">
        <p14:creationId xmlns:p14="http://schemas.microsoft.com/office/powerpoint/2010/main" val="3553163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E9893-5D5B-B741-B5DE-F69D2C606933}"/>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32B08796-CBC1-5143-B515-DD4411F3FB81}"/>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C4BC28C1-D944-8644-A1A3-3FD6590C6002}"/>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7F55B304-F6E0-8141-B5FB-FB538DA85E07}"/>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TextBox 5">
            <a:extLst>
              <a:ext uri="{FF2B5EF4-FFF2-40B4-BE49-F238E27FC236}">
                <a16:creationId xmlns:a16="http://schemas.microsoft.com/office/drawing/2014/main" id="{4E901FEB-DAED-404D-8C71-9935900EBAB9}"/>
              </a:ext>
            </a:extLst>
          </p:cNvPr>
          <p:cNvSpPr txBox="1"/>
          <p:nvPr/>
        </p:nvSpPr>
        <p:spPr>
          <a:xfrm>
            <a:off x="1651000" y="355600"/>
            <a:ext cx="7112000" cy="304800"/>
          </a:xfrm>
          <a:prstGeom prst="rect">
            <a:avLst/>
          </a:prstGeom>
          <a:noFill/>
        </p:spPr>
        <p:txBody>
          <a:bodyPr vertOverflow="overflow" vert="horz" wrap="square" rtlCol="0" anchor="t">
            <a:spAutoFit/>
          </a:bodyPr>
          <a:lstStyle/>
          <a:p>
            <a:pPr algn="l"/>
            <a:r>
              <a:rPr lang="en-US" sz="1200" b="1" dirty="0">
                <a:solidFill>
                  <a:srgbClr val="F7F1E8"/>
                </a:solidFill>
                <a:latin typeface="BIG CASLON MEDIUM"/>
                <a:cs typeface="BIG CASLON MEDIUM"/>
              </a:rPr>
              <a:t>AIRBNB CHICAGO  ·  ML / NLP / NEURAL NETWORKS</a:t>
            </a:r>
          </a:p>
        </p:txBody>
      </p:sp>
      <p:sp>
        <p:nvSpPr>
          <p:cNvPr id="7" name="Rectangle 6">
            <a:extLst>
              <a:ext uri="{FF2B5EF4-FFF2-40B4-BE49-F238E27FC236}">
                <a16:creationId xmlns:a16="http://schemas.microsoft.com/office/drawing/2014/main" id="{EDD3A4BD-DC7F-234F-AAD3-22A1840D054F}"/>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8" name="TextBox 7">
            <a:extLst>
              <a:ext uri="{FF2B5EF4-FFF2-40B4-BE49-F238E27FC236}">
                <a16:creationId xmlns:a16="http://schemas.microsoft.com/office/drawing/2014/main" id="{B2ACE56F-B74D-B94F-8964-48844FD69385}"/>
              </a:ext>
            </a:extLst>
          </p:cNvPr>
          <p:cNvSpPr txBox="1"/>
          <p:nvPr/>
        </p:nvSpPr>
        <p:spPr>
          <a:xfrm>
            <a:off x="10033000" y="381000"/>
            <a:ext cx="1778000" cy="276999"/>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10" name="TextBox 9">
            <a:extLst>
              <a:ext uri="{FF2B5EF4-FFF2-40B4-BE49-F238E27FC236}">
                <a16:creationId xmlns:a16="http://schemas.microsoft.com/office/drawing/2014/main" id="{7F0D3A91-B3DF-A745-9DC1-0D6F455F2D69}"/>
              </a:ext>
            </a:extLst>
          </p:cNvPr>
          <p:cNvSpPr txBox="1"/>
          <p:nvPr/>
        </p:nvSpPr>
        <p:spPr>
          <a:xfrm>
            <a:off x="635000" y="1371600"/>
            <a:ext cx="10922000" cy="635000"/>
          </a:xfrm>
          <a:prstGeom prst="rect">
            <a:avLst/>
          </a:prstGeom>
          <a:noFill/>
        </p:spPr>
        <p:txBody>
          <a:bodyPr vertOverflow="overflow" vert="horz" wrap="square" rtlCol="0" anchor="t">
            <a:spAutoFit/>
          </a:bodyPr>
          <a:lstStyle/>
          <a:p>
            <a:pPr algn="l"/>
            <a:r>
              <a:rPr lang="en-US" sz="3200" b="1" i="1" dirty="0">
                <a:solidFill>
                  <a:srgbClr val="0E4D4D"/>
                </a:solidFill>
                <a:latin typeface="Playfair Display"/>
              </a:rPr>
              <a:t>Presentation Roadmap</a:t>
            </a:r>
          </a:p>
        </p:txBody>
      </p:sp>
      <p:sp>
        <p:nvSpPr>
          <p:cNvPr id="11" name="TextBox 10">
            <a:extLst>
              <a:ext uri="{FF2B5EF4-FFF2-40B4-BE49-F238E27FC236}">
                <a16:creationId xmlns:a16="http://schemas.microsoft.com/office/drawing/2014/main" id="{08FF3CCD-A53B-DF48-8C25-ADFA1811D8CC}"/>
              </a:ext>
            </a:extLst>
          </p:cNvPr>
          <p:cNvSpPr txBox="1"/>
          <p:nvPr/>
        </p:nvSpPr>
        <p:spPr>
          <a:xfrm>
            <a:off x="406400" y="6553200"/>
            <a:ext cx="6350000" cy="254000"/>
          </a:xfrm>
          <a:prstGeom prst="rect">
            <a:avLst/>
          </a:prstGeom>
          <a:noFill/>
        </p:spPr>
        <p:txBody>
          <a:bodyPr vertOverflow="overflow" vert="horz" wrap="square" rtlCol="0" anchor="t">
            <a:spAutoFit/>
          </a:bodyPr>
          <a:lstStyle/>
          <a:p>
            <a:pPr algn="l"/>
            <a:r>
              <a:rPr lang="en-US" sz="1000" b="1" dirty="0">
                <a:solidFill>
                  <a:srgbClr val="F7F1E8"/>
                </a:solidFill>
                <a:latin typeface="BIG CASLON MEDIUM"/>
                <a:cs typeface="BIG CASLON MEDIUM"/>
              </a:rPr>
              <a:t>SCH-MGMT 661  ·  Applications of AI Models</a:t>
            </a:r>
          </a:p>
        </p:txBody>
      </p:sp>
      <p:sp>
        <p:nvSpPr>
          <p:cNvPr id="12" name="TextBox 11">
            <a:extLst>
              <a:ext uri="{FF2B5EF4-FFF2-40B4-BE49-F238E27FC236}">
                <a16:creationId xmlns:a16="http://schemas.microsoft.com/office/drawing/2014/main" id="{DD401875-D935-D74F-A734-3D8E701C5C33}"/>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02 / 14</a:t>
            </a:r>
          </a:p>
        </p:txBody>
      </p:sp>
      <p:sp>
        <p:nvSpPr>
          <p:cNvPr id="13" name="TextBox 12">
            <a:extLst>
              <a:ext uri="{FF2B5EF4-FFF2-40B4-BE49-F238E27FC236}">
                <a16:creationId xmlns:a16="http://schemas.microsoft.com/office/drawing/2014/main" id="{3CC64FB3-CA05-9D40-92B9-030434A5B730}"/>
              </a:ext>
            </a:extLst>
          </p:cNvPr>
          <p:cNvSpPr txBox="1"/>
          <p:nvPr/>
        </p:nvSpPr>
        <p:spPr>
          <a:xfrm>
            <a:off x="711200" y="24765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01</a:t>
            </a:r>
          </a:p>
        </p:txBody>
      </p:sp>
      <p:sp>
        <p:nvSpPr>
          <p:cNvPr id="14" name="TextBox 13">
            <a:extLst>
              <a:ext uri="{FF2B5EF4-FFF2-40B4-BE49-F238E27FC236}">
                <a16:creationId xmlns:a16="http://schemas.microsoft.com/office/drawing/2014/main" id="{21E30A88-DDF7-D74B-AFA1-6B351BF11C8F}"/>
              </a:ext>
            </a:extLst>
          </p:cNvPr>
          <p:cNvSpPr txBox="1"/>
          <p:nvPr/>
        </p:nvSpPr>
        <p:spPr>
          <a:xfrm>
            <a:off x="1422400" y="25781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Problem Statement &amp; Objectives</a:t>
            </a:r>
          </a:p>
        </p:txBody>
      </p:sp>
      <p:sp>
        <p:nvSpPr>
          <p:cNvPr id="15" name="TextBox 14">
            <a:extLst>
              <a:ext uri="{FF2B5EF4-FFF2-40B4-BE49-F238E27FC236}">
                <a16:creationId xmlns:a16="http://schemas.microsoft.com/office/drawing/2014/main" id="{3F778FDE-73C8-5B49-AB31-3962C769A815}"/>
              </a:ext>
            </a:extLst>
          </p:cNvPr>
          <p:cNvSpPr txBox="1"/>
          <p:nvPr/>
        </p:nvSpPr>
        <p:spPr>
          <a:xfrm>
            <a:off x="6299200" y="24765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02</a:t>
            </a:r>
          </a:p>
        </p:txBody>
      </p:sp>
      <p:sp>
        <p:nvSpPr>
          <p:cNvPr id="16" name="TextBox 15">
            <a:extLst>
              <a:ext uri="{FF2B5EF4-FFF2-40B4-BE49-F238E27FC236}">
                <a16:creationId xmlns:a16="http://schemas.microsoft.com/office/drawing/2014/main" id="{989386F8-13F3-DF4B-BFAB-9C0011B8A433}"/>
              </a:ext>
            </a:extLst>
          </p:cNvPr>
          <p:cNvSpPr txBox="1"/>
          <p:nvPr/>
        </p:nvSpPr>
        <p:spPr>
          <a:xfrm>
            <a:off x="7010400" y="2578100"/>
            <a:ext cx="4572000" cy="338554"/>
          </a:xfrm>
          <a:prstGeom prst="rect">
            <a:avLst/>
          </a:prstGeom>
          <a:noFill/>
        </p:spPr>
        <p:txBody>
          <a:bodyPr vertOverflow="overflow" vert="horz" wrap="square" rtlCol="0" anchor="t">
            <a:spAutoFit/>
          </a:bodyPr>
          <a:lstStyle/>
          <a:p>
            <a:r>
              <a:rPr lang="en-US" sz="1600" dirty="0">
                <a:solidFill>
                  <a:srgbClr val="0E4D4D"/>
                </a:solidFill>
                <a:latin typeface="Big Caslon Medium"/>
                <a:cs typeface="Big Caslon Medium"/>
              </a:rPr>
              <a:t>Time Series Plot (Reviews per year)</a:t>
            </a:r>
          </a:p>
        </p:txBody>
      </p:sp>
      <p:sp>
        <p:nvSpPr>
          <p:cNvPr id="17" name="TextBox 16">
            <a:extLst>
              <a:ext uri="{FF2B5EF4-FFF2-40B4-BE49-F238E27FC236}">
                <a16:creationId xmlns:a16="http://schemas.microsoft.com/office/drawing/2014/main" id="{1D926FE1-22F7-9F4C-87C5-09A7293B8C5A}"/>
              </a:ext>
            </a:extLst>
          </p:cNvPr>
          <p:cNvSpPr txBox="1"/>
          <p:nvPr/>
        </p:nvSpPr>
        <p:spPr>
          <a:xfrm>
            <a:off x="711200" y="30861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03</a:t>
            </a:r>
          </a:p>
        </p:txBody>
      </p:sp>
      <p:sp>
        <p:nvSpPr>
          <p:cNvPr id="18" name="TextBox 17">
            <a:extLst>
              <a:ext uri="{FF2B5EF4-FFF2-40B4-BE49-F238E27FC236}">
                <a16:creationId xmlns:a16="http://schemas.microsoft.com/office/drawing/2014/main" id="{C607A865-B0F8-294F-857E-3D554FE1CDC6}"/>
              </a:ext>
            </a:extLst>
          </p:cNvPr>
          <p:cNvSpPr txBox="1"/>
          <p:nvPr/>
        </p:nvSpPr>
        <p:spPr>
          <a:xfrm>
            <a:off x="1422400" y="31877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Reviews Data Preprocessing</a:t>
            </a:r>
          </a:p>
        </p:txBody>
      </p:sp>
      <p:sp>
        <p:nvSpPr>
          <p:cNvPr id="19" name="TextBox 18">
            <a:extLst>
              <a:ext uri="{FF2B5EF4-FFF2-40B4-BE49-F238E27FC236}">
                <a16:creationId xmlns:a16="http://schemas.microsoft.com/office/drawing/2014/main" id="{AFA83AC5-C470-C74F-BDAF-616E1A4C4223}"/>
              </a:ext>
            </a:extLst>
          </p:cNvPr>
          <p:cNvSpPr txBox="1"/>
          <p:nvPr/>
        </p:nvSpPr>
        <p:spPr>
          <a:xfrm>
            <a:off x="6299200" y="30861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04</a:t>
            </a:r>
          </a:p>
        </p:txBody>
      </p:sp>
      <p:sp>
        <p:nvSpPr>
          <p:cNvPr id="20" name="TextBox 19">
            <a:extLst>
              <a:ext uri="{FF2B5EF4-FFF2-40B4-BE49-F238E27FC236}">
                <a16:creationId xmlns:a16="http://schemas.microsoft.com/office/drawing/2014/main" id="{439DB67C-7DB4-A04E-860E-00B7B63F5B47}"/>
              </a:ext>
            </a:extLst>
          </p:cNvPr>
          <p:cNvSpPr txBox="1"/>
          <p:nvPr/>
        </p:nvSpPr>
        <p:spPr>
          <a:xfrm>
            <a:off x="7010400" y="31877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Sentiment Analysis (VADER &amp; Hugging Face)</a:t>
            </a:r>
          </a:p>
        </p:txBody>
      </p:sp>
      <p:sp>
        <p:nvSpPr>
          <p:cNvPr id="21" name="TextBox 20">
            <a:extLst>
              <a:ext uri="{FF2B5EF4-FFF2-40B4-BE49-F238E27FC236}">
                <a16:creationId xmlns:a16="http://schemas.microsoft.com/office/drawing/2014/main" id="{C50E30C2-4BCA-DE4D-8C4E-D70EFE3A79AF}"/>
              </a:ext>
            </a:extLst>
          </p:cNvPr>
          <p:cNvSpPr txBox="1"/>
          <p:nvPr/>
        </p:nvSpPr>
        <p:spPr>
          <a:xfrm>
            <a:off x="711200" y="36957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05</a:t>
            </a:r>
          </a:p>
        </p:txBody>
      </p:sp>
      <p:sp>
        <p:nvSpPr>
          <p:cNvPr id="22" name="TextBox 21">
            <a:extLst>
              <a:ext uri="{FF2B5EF4-FFF2-40B4-BE49-F238E27FC236}">
                <a16:creationId xmlns:a16="http://schemas.microsoft.com/office/drawing/2014/main" id="{E09BD77D-28D7-224A-B2C3-0CECA58351F4}"/>
              </a:ext>
            </a:extLst>
          </p:cNvPr>
          <p:cNvSpPr txBox="1"/>
          <p:nvPr/>
        </p:nvSpPr>
        <p:spPr>
          <a:xfrm>
            <a:off x="1422400" y="3797300"/>
            <a:ext cx="4572000" cy="304800"/>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Zero-Shot Classification</a:t>
            </a:r>
          </a:p>
        </p:txBody>
      </p:sp>
      <p:sp>
        <p:nvSpPr>
          <p:cNvPr id="23" name="TextBox 22">
            <a:extLst>
              <a:ext uri="{FF2B5EF4-FFF2-40B4-BE49-F238E27FC236}">
                <a16:creationId xmlns:a16="http://schemas.microsoft.com/office/drawing/2014/main" id="{9B130FA5-0582-B045-891F-EFA6D0214BD3}"/>
              </a:ext>
            </a:extLst>
          </p:cNvPr>
          <p:cNvSpPr txBox="1"/>
          <p:nvPr/>
        </p:nvSpPr>
        <p:spPr>
          <a:xfrm>
            <a:off x="6299200" y="36957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06</a:t>
            </a:r>
          </a:p>
        </p:txBody>
      </p:sp>
      <p:sp>
        <p:nvSpPr>
          <p:cNvPr id="24" name="TextBox 23">
            <a:extLst>
              <a:ext uri="{FF2B5EF4-FFF2-40B4-BE49-F238E27FC236}">
                <a16:creationId xmlns:a16="http://schemas.microsoft.com/office/drawing/2014/main" id="{C2A488E7-E586-5D44-BB23-D7AEE6A1ED2B}"/>
              </a:ext>
            </a:extLst>
          </p:cNvPr>
          <p:cNvSpPr txBox="1"/>
          <p:nvPr/>
        </p:nvSpPr>
        <p:spPr>
          <a:xfrm>
            <a:off x="7010400" y="37973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Topic Modeling (LDA, NMF &amp; LSA)</a:t>
            </a:r>
          </a:p>
        </p:txBody>
      </p:sp>
      <p:sp>
        <p:nvSpPr>
          <p:cNvPr id="25" name="TextBox 24">
            <a:extLst>
              <a:ext uri="{FF2B5EF4-FFF2-40B4-BE49-F238E27FC236}">
                <a16:creationId xmlns:a16="http://schemas.microsoft.com/office/drawing/2014/main" id="{E6A1E106-228A-B24D-BA4F-5568AD0ED4BF}"/>
              </a:ext>
            </a:extLst>
          </p:cNvPr>
          <p:cNvSpPr txBox="1"/>
          <p:nvPr/>
        </p:nvSpPr>
        <p:spPr>
          <a:xfrm>
            <a:off x="711200" y="43053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07</a:t>
            </a:r>
          </a:p>
        </p:txBody>
      </p:sp>
      <p:sp>
        <p:nvSpPr>
          <p:cNvPr id="26" name="TextBox 25">
            <a:extLst>
              <a:ext uri="{FF2B5EF4-FFF2-40B4-BE49-F238E27FC236}">
                <a16:creationId xmlns:a16="http://schemas.microsoft.com/office/drawing/2014/main" id="{37E91DF8-35CA-C046-861C-116CBE4DA399}"/>
              </a:ext>
            </a:extLst>
          </p:cNvPr>
          <p:cNvSpPr txBox="1"/>
          <p:nvPr/>
        </p:nvSpPr>
        <p:spPr>
          <a:xfrm>
            <a:off x="1422400" y="44069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Listings Data Preprocessing &amp; Feature Selection</a:t>
            </a:r>
          </a:p>
        </p:txBody>
      </p:sp>
      <p:sp>
        <p:nvSpPr>
          <p:cNvPr id="27" name="TextBox 26">
            <a:extLst>
              <a:ext uri="{FF2B5EF4-FFF2-40B4-BE49-F238E27FC236}">
                <a16:creationId xmlns:a16="http://schemas.microsoft.com/office/drawing/2014/main" id="{07F94789-9406-AB4C-8D4A-684B4B8ADD5B}"/>
              </a:ext>
            </a:extLst>
          </p:cNvPr>
          <p:cNvSpPr txBox="1"/>
          <p:nvPr/>
        </p:nvSpPr>
        <p:spPr>
          <a:xfrm>
            <a:off x="6299200" y="43053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08</a:t>
            </a:r>
          </a:p>
        </p:txBody>
      </p:sp>
      <p:sp>
        <p:nvSpPr>
          <p:cNvPr id="28" name="TextBox 27">
            <a:extLst>
              <a:ext uri="{FF2B5EF4-FFF2-40B4-BE49-F238E27FC236}">
                <a16:creationId xmlns:a16="http://schemas.microsoft.com/office/drawing/2014/main" id="{66E04E9E-5331-284C-B688-48EABEBC1C9F}"/>
              </a:ext>
            </a:extLst>
          </p:cNvPr>
          <p:cNvSpPr txBox="1"/>
          <p:nvPr/>
        </p:nvSpPr>
        <p:spPr>
          <a:xfrm>
            <a:off x="7010400" y="4406900"/>
            <a:ext cx="4572000" cy="304800"/>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Exploratory Data Analysis</a:t>
            </a:r>
          </a:p>
        </p:txBody>
      </p:sp>
      <p:sp>
        <p:nvSpPr>
          <p:cNvPr id="29" name="TextBox 28">
            <a:extLst>
              <a:ext uri="{FF2B5EF4-FFF2-40B4-BE49-F238E27FC236}">
                <a16:creationId xmlns:a16="http://schemas.microsoft.com/office/drawing/2014/main" id="{B4CE1B45-85D0-6249-A8F6-601B1DAFBF7E}"/>
              </a:ext>
            </a:extLst>
          </p:cNvPr>
          <p:cNvSpPr txBox="1"/>
          <p:nvPr/>
        </p:nvSpPr>
        <p:spPr>
          <a:xfrm>
            <a:off x="711200" y="49149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09</a:t>
            </a:r>
          </a:p>
        </p:txBody>
      </p:sp>
      <p:sp>
        <p:nvSpPr>
          <p:cNvPr id="30" name="TextBox 29">
            <a:extLst>
              <a:ext uri="{FF2B5EF4-FFF2-40B4-BE49-F238E27FC236}">
                <a16:creationId xmlns:a16="http://schemas.microsoft.com/office/drawing/2014/main" id="{2791F839-DCA3-9C44-A1A6-531D5D7848CF}"/>
              </a:ext>
            </a:extLst>
          </p:cNvPr>
          <p:cNvSpPr txBox="1"/>
          <p:nvPr/>
        </p:nvSpPr>
        <p:spPr>
          <a:xfrm>
            <a:off x="1422400" y="50165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Neural Network &amp; XGBoost Models</a:t>
            </a:r>
          </a:p>
        </p:txBody>
      </p:sp>
      <p:sp>
        <p:nvSpPr>
          <p:cNvPr id="31" name="TextBox 30">
            <a:extLst>
              <a:ext uri="{FF2B5EF4-FFF2-40B4-BE49-F238E27FC236}">
                <a16:creationId xmlns:a16="http://schemas.microsoft.com/office/drawing/2014/main" id="{E7DB43D6-3C2E-2445-B890-7FF32131DB93}"/>
              </a:ext>
            </a:extLst>
          </p:cNvPr>
          <p:cNvSpPr txBox="1"/>
          <p:nvPr/>
        </p:nvSpPr>
        <p:spPr>
          <a:xfrm>
            <a:off x="6299200" y="49149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10</a:t>
            </a:r>
          </a:p>
        </p:txBody>
      </p:sp>
      <p:sp>
        <p:nvSpPr>
          <p:cNvPr id="32" name="TextBox 31">
            <a:extLst>
              <a:ext uri="{FF2B5EF4-FFF2-40B4-BE49-F238E27FC236}">
                <a16:creationId xmlns:a16="http://schemas.microsoft.com/office/drawing/2014/main" id="{CF4BC1FD-9D17-694C-A8A9-F59C00AD041B}"/>
              </a:ext>
            </a:extLst>
          </p:cNvPr>
          <p:cNvSpPr txBox="1"/>
          <p:nvPr/>
        </p:nvSpPr>
        <p:spPr>
          <a:xfrm>
            <a:off x="7010400" y="50165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Model Comparison &amp; Selection</a:t>
            </a:r>
          </a:p>
        </p:txBody>
      </p:sp>
      <p:sp>
        <p:nvSpPr>
          <p:cNvPr id="33" name="TextBox 32">
            <a:extLst>
              <a:ext uri="{FF2B5EF4-FFF2-40B4-BE49-F238E27FC236}">
                <a16:creationId xmlns:a16="http://schemas.microsoft.com/office/drawing/2014/main" id="{30BBDC60-930A-D34B-AA8A-5BD3297A9AFB}"/>
              </a:ext>
            </a:extLst>
          </p:cNvPr>
          <p:cNvSpPr txBox="1"/>
          <p:nvPr/>
        </p:nvSpPr>
        <p:spPr>
          <a:xfrm>
            <a:off x="711200" y="5524500"/>
            <a:ext cx="609600" cy="4572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11</a:t>
            </a:r>
          </a:p>
        </p:txBody>
      </p:sp>
      <p:sp>
        <p:nvSpPr>
          <p:cNvPr id="34" name="TextBox 33">
            <a:extLst>
              <a:ext uri="{FF2B5EF4-FFF2-40B4-BE49-F238E27FC236}">
                <a16:creationId xmlns:a16="http://schemas.microsoft.com/office/drawing/2014/main" id="{81A7DB64-2E70-7C4D-95A2-0F9F9B0C0449}"/>
              </a:ext>
            </a:extLst>
          </p:cNvPr>
          <p:cNvSpPr txBox="1"/>
          <p:nvPr/>
        </p:nvSpPr>
        <p:spPr>
          <a:xfrm>
            <a:off x="1422400" y="5626100"/>
            <a:ext cx="4572000" cy="338554"/>
          </a:xfrm>
          <a:prstGeom prst="rect">
            <a:avLst/>
          </a:prstGeom>
          <a:noFill/>
        </p:spPr>
        <p:txBody>
          <a:bodyPr vertOverflow="overflow" vert="horz" wrap="square" rtlCol="0" anchor="t">
            <a:spAutoFit/>
          </a:bodyPr>
          <a:lstStyle/>
          <a:p>
            <a:pPr algn="l"/>
            <a:r>
              <a:rPr lang="en-US" sz="1600" dirty="0">
                <a:solidFill>
                  <a:srgbClr val="0E4D4D"/>
                </a:solidFill>
                <a:latin typeface="Big Caslon Medium"/>
                <a:cs typeface="Big Caslon Medium"/>
              </a:rPr>
              <a:t>Insights, Recommendations &amp; Conclusion</a:t>
            </a:r>
          </a:p>
        </p:txBody>
      </p:sp>
      <p:pic>
        <p:nvPicPr>
          <p:cNvPr id="37" name="Picture 36">
            <a:extLst>
              <a:ext uri="{FF2B5EF4-FFF2-40B4-BE49-F238E27FC236}">
                <a16:creationId xmlns:a16="http://schemas.microsoft.com/office/drawing/2014/main" id="{9AD0B694-2175-4B10-4F8D-BE23293CD1E0}"/>
              </a:ext>
            </a:extLst>
          </p:cNvPr>
          <p:cNvPicPr>
            <a:picLocks noChangeAspect="1"/>
          </p:cNvPicPr>
          <p:nvPr/>
        </p:nvPicPr>
        <p:blipFill>
          <a:blip r:embed="rId3"/>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1491935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756C23-B0FC-4C41-B65C-8B0789871117}"/>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EE593E9E-B8D1-444E-8BAB-8C56A9B48A27}"/>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4BBCE6AB-B946-5142-BC5E-DAC3F71E7935}"/>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E0C2770F-7BF8-434E-9DB8-EC5C426713E8}"/>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Rectangle 5">
            <a:extLst>
              <a:ext uri="{FF2B5EF4-FFF2-40B4-BE49-F238E27FC236}">
                <a16:creationId xmlns:a16="http://schemas.microsoft.com/office/drawing/2014/main" id="{E49621FA-A2CC-A245-8E25-455EA65C4241}"/>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TextBox 6">
            <a:extLst>
              <a:ext uri="{FF2B5EF4-FFF2-40B4-BE49-F238E27FC236}">
                <a16:creationId xmlns:a16="http://schemas.microsoft.com/office/drawing/2014/main" id="{167AAF51-EE6F-7846-BDCC-9E541C270E39}"/>
              </a:ext>
            </a:extLst>
          </p:cNvPr>
          <p:cNvSpPr txBox="1"/>
          <p:nvPr/>
        </p:nvSpPr>
        <p:spPr>
          <a:xfrm>
            <a:off x="1651000" y="355600"/>
            <a:ext cx="7112000" cy="276999"/>
          </a:xfrm>
          <a:prstGeom prst="rect">
            <a:avLst/>
          </a:prstGeom>
          <a:noFill/>
        </p:spPr>
        <p:txBody>
          <a:bodyPr vertOverflow="overflow" vert="horz" wrap="square" rtlCol="0" anchor="t">
            <a:spAutoFit/>
          </a:bodyPr>
          <a:lstStyle/>
          <a:p>
            <a:pPr algn="l"/>
            <a:r>
              <a:rPr lang="en-US" sz="1200" b="1" dirty="0">
                <a:solidFill>
                  <a:srgbClr val="F7F1E8"/>
                </a:solidFill>
                <a:latin typeface="BIG CASLON MEDIUM"/>
                <a:cs typeface="BIG CASLON MEDIUM"/>
              </a:rPr>
              <a:t>AIRBNB CHICAGO  ·  ML / NLP / NEURAL NETWORKS</a:t>
            </a:r>
          </a:p>
        </p:txBody>
      </p:sp>
      <p:sp>
        <p:nvSpPr>
          <p:cNvPr id="8" name="TextBox 7">
            <a:extLst>
              <a:ext uri="{FF2B5EF4-FFF2-40B4-BE49-F238E27FC236}">
                <a16:creationId xmlns:a16="http://schemas.microsoft.com/office/drawing/2014/main" id="{52A7FF2D-6FED-A643-B8D5-D1F2E6EE29F8}"/>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10" name="TextBox 9">
            <a:extLst>
              <a:ext uri="{FF2B5EF4-FFF2-40B4-BE49-F238E27FC236}">
                <a16:creationId xmlns:a16="http://schemas.microsoft.com/office/drawing/2014/main" id="{EC571C25-0D8B-9342-A691-04E998DA9FDF}"/>
              </a:ext>
            </a:extLst>
          </p:cNvPr>
          <p:cNvSpPr txBox="1"/>
          <p:nvPr/>
        </p:nvSpPr>
        <p:spPr>
          <a:xfrm>
            <a:off x="635000" y="1372271"/>
            <a:ext cx="10922000" cy="584775"/>
          </a:xfrm>
          <a:prstGeom prst="rect">
            <a:avLst/>
          </a:prstGeom>
          <a:noFill/>
        </p:spPr>
        <p:txBody>
          <a:bodyPr vertOverflow="overflow" vert="horz" wrap="square" rtlCol="0" anchor="t">
            <a:spAutoFit/>
          </a:bodyPr>
          <a:lstStyle/>
          <a:p>
            <a:pPr algn="l"/>
            <a:r>
              <a:rPr lang="en-US" sz="3200" b="1" i="1" dirty="0">
                <a:solidFill>
                  <a:srgbClr val="0E4D4D"/>
                </a:solidFill>
                <a:latin typeface="Playfair Display"/>
              </a:rPr>
              <a:t>Problem Statement &amp; Objectives</a:t>
            </a:r>
          </a:p>
        </p:txBody>
      </p:sp>
      <p:sp>
        <p:nvSpPr>
          <p:cNvPr id="11" name="TextBox 10">
            <a:extLst>
              <a:ext uri="{FF2B5EF4-FFF2-40B4-BE49-F238E27FC236}">
                <a16:creationId xmlns:a16="http://schemas.microsoft.com/office/drawing/2014/main" id="{34D8C36C-2D46-9A47-BD01-AB391DE6A401}"/>
              </a:ext>
            </a:extLst>
          </p:cNvPr>
          <p:cNvSpPr txBox="1"/>
          <p:nvPr/>
        </p:nvSpPr>
        <p:spPr>
          <a:xfrm>
            <a:off x="406400" y="6553200"/>
            <a:ext cx="6350000" cy="254000"/>
          </a:xfrm>
          <a:prstGeom prst="rect">
            <a:avLst/>
          </a:prstGeom>
          <a:noFill/>
        </p:spPr>
        <p:txBody>
          <a:bodyPr vertOverflow="overflow" vert="horz" wrap="square" rtlCol="0" anchor="t">
            <a:spAutoFit/>
          </a:bodyPr>
          <a:lstStyle/>
          <a:p>
            <a:pPr algn="l"/>
            <a:r>
              <a:rPr lang="en-US" sz="1000" b="1" dirty="0">
                <a:solidFill>
                  <a:srgbClr val="F7F1E8"/>
                </a:solidFill>
                <a:latin typeface="BIG CASLON MEDIUM"/>
                <a:cs typeface="BIG CASLON MEDIUM"/>
              </a:rPr>
              <a:t>SCH-MGMT 661  ·  Applications of AI Models</a:t>
            </a:r>
          </a:p>
        </p:txBody>
      </p:sp>
      <p:sp>
        <p:nvSpPr>
          <p:cNvPr id="12" name="TextBox 11">
            <a:extLst>
              <a:ext uri="{FF2B5EF4-FFF2-40B4-BE49-F238E27FC236}">
                <a16:creationId xmlns:a16="http://schemas.microsoft.com/office/drawing/2014/main" id="{1FA4D28B-31EF-9A4F-B08A-C1F23A762934}"/>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03 / 14</a:t>
            </a:r>
          </a:p>
        </p:txBody>
      </p:sp>
      <p:sp>
        <p:nvSpPr>
          <p:cNvPr id="13" name="TextBox 12">
            <a:extLst>
              <a:ext uri="{FF2B5EF4-FFF2-40B4-BE49-F238E27FC236}">
                <a16:creationId xmlns:a16="http://schemas.microsoft.com/office/drawing/2014/main" id="{7A32A3C4-9F61-6B47-B645-5DA0E58F1AAA}"/>
              </a:ext>
            </a:extLst>
          </p:cNvPr>
          <p:cNvSpPr txBox="1"/>
          <p:nvPr/>
        </p:nvSpPr>
        <p:spPr>
          <a:xfrm>
            <a:off x="711200" y="2413000"/>
            <a:ext cx="5334000" cy="279400"/>
          </a:xfrm>
          <a:prstGeom prst="rect">
            <a:avLst/>
          </a:prstGeom>
          <a:noFill/>
        </p:spPr>
        <p:txBody>
          <a:bodyPr vertOverflow="overflow" vert="horz" wrap="square" rtlCol="0" anchor="t">
            <a:spAutoFit/>
          </a:bodyPr>
          <a:lstStyle/>
          <a:p>
            <a:pPr algn="l"/>
            <a:r>
              <a:rPr lang="en-US" sz="1200" b="1" dirty="0">
                <a:solidFill>
                  <a:srgbClr val="E07856"/>
                </a:solidFill>
                <a:latin typeface="BIG CASLON MEDIUM"/>
                <a:cs typeface="BIG CASLON MEDIUM"/>
              </a:rPr>
              <a:t>PROBLEM STATEMENT</a:t>
            </a:r>
          </a:p>
        </p:txBody>
      </p:sp>
      <p:sp>
        <p:nvSpPr>
          <p:cNvPr id="14" name="TextBox 13">
            <a:extLst>
              <a:ext uri="{FF2B5EF4-FFF2-40B4-BE49-F238E27FC236}">
                <a16:creationId xmlns:a16="http://schemas.microsoft.com/office/drawing/2014/main" id="{3E1A4EBD-92F0-0C4D-A9A8-218E56004269}"/>
              </a:ext>
            </a:extLst>
          </p:cNvPr>
          <p:cNvSpPr txBox="1"/>
          <p:nvPr/>
        </p:nvSpPr>
        <p:spPr>
          <a:xfrm>
            <a:off x="711200" y="2794000"/>
            <a:ext cx="5334000" cy="1825051"/>
          </a:xfrm>
          <a:prstGeom prst="rect">
            <a:avLst/>
          </a:prstGeom>
          <a:noFill/>
        </p:spPr>
        <p:txBody>
          <a:bodyPr vertOverflow="overflow" vert="horz" wrap="square" rtlCol="0" anchor="t">
            <a:spAutoFit/>
          </a:bodyPr>
          <a:lstStyle/>
          <a:p>
            <a:pPr>
              <a:lnSpc>
                <a:spcPts val="1700"/>
              </a:lnSpc>
              <a:spcAft>
                <a:spcPts val="200"/>
              </a:spcAft>
            </a:pPr>
            <a:r>
              <a:rPr lang="en-US" sz="1300" dirty="0">
                <a:solidFill>
                  <a:srgbClr val="0E4D4D"/>
                </a:solidFill>
                <a:latin typeface="Big Caslon Medium"/>
                <a:cs typeface="Big Caslon Medium"/>
              </a:rPr>
              <a:t>Airbnb hosts in Chicago struggle to understand what guests truly value and to price listings competitively in a saturated market. This project bridges that gap by applying sentiment analysis, zero-shot classification, and topic modeling to transform unstructured guest reviews into measurable experience indicators across cleanliness, safety, amenities, location, and service, then integrating these NLP-derived signals with structured property attributes to build neural network and machine learning models that deliver actionable pricing insights for hosts, guests and Airbnb.</a:t>
            </a:r>
          </a:p>
        </p:txBody>
      </p:sp>
      <p:sp>
        <p:nvSpPr>
          <p:cNvPr id="15" name="TextBox 14">
            <a:extLst>
              <a:ext uri="{FF2B5EF4-FFF2-40B4-BE49-F238E27FC236}">
                <a16:creationId xmlns:a16="http://schemas.microsoft.com/office/drawing/2014/main" id="{F380BFD9-001A-C644-BE1F-485F20E35291}"/>
              </a:ext>
            </a:extLst>
          </p:cNvPr>
          <p:cNvSpPr txBox="1"/>
          <p:nvPr/>
        </p:nvSpPr>
        <p:spPr>
          <a:xfrm>
            <a:off x="6400800" y="2413000"/>
            <a:ext cx="5334000" cy="279400"/>
          </a:xfrm>
          <a:prstGeom prst="rect">
            <a:avLst/>
          </a:prstGeom>
          <a:noFill/>
        </p:spPr>
        <p:txBody>
          <a:bodyPr vertOverflow="overflow" vert="horz" wrap="square" rtlCol="0" anchor="t">
            <a:spAutoFit/>
          </a:bodyPr>
          <a:lstStyle/>
          <a:p>
            <a:pPr algn="l"/>
            <a:r>
              <a:rPr lang="en-US" sz="1200" b="1" dirty="0">
                <a:solidFill>
                  <a:srgbClr val="E07856"/>
                </a:solidFill>
                <a:latin typeface="BIG CASLON MEDIUM"/>
                <a:cs typeface="BIG CASLON MEDIUM"/>
              </a:rPr>
              <a:t>OBJECTIVES</a:t>
            </a:r>
          </a:p>
        </p:txBody>
      </p:sp>
      <p:sp>
        <p:nvSpPr>
          <p:cNvPr id="16" name="TextBox 15">
            <a:extLst>
              <a:ext uri="{FF2B5EF4-FFF2-40B4-BE49-F238E27FC236}">
                <a16:creationId xmlns:a16="http://schemas.microsoft.com/office/drawing/2014/main" id="{27621FFD-9BFC-9640-9085-016701700490}"/>
              </a:ext>
            </a:extLst>
          </p:cNvPr>
          <p:cNvSpPr txBox="1"/>
          <p:nvPr/>
        </p:nvSpPr>
        <p:spPr>
          <a:xfrm>
            <a:off x="6400800" y="2794000"/>
            <a:ext cx="762000" cy="457200"/>
          </a:xfrm>
          <a:prstGeom prst="rect">
            <a:avLst/>
          </a:prstGeom>
          <a:noFill/>
        </p:spPr>
        <p:txBody>
          <a:bodyPr vertOverflow="overflow" vert="horz" wrap="none" rtlCol="0" anchor="t">
            <a:noAutofit/>
          </a:bodyPr>
          <a:lstStyle/>
          <a:p>
            <a:pPr algn="l"/>
            <a:r>
              <a:rPr lang="en-US" sz="2400" b="1" i="1" dirty="0">
                <a:solidFill>
                  <a:srgbClr val="E07856"/>
                </a:solidFill>
                <a:latin typeface="Playfair Display"/>
              </a:rPr>
              <a:t>01</a:t>
            </a:r>
          </a:p>
        </p:txBody>
      </p:sp>
      <p:sp>
        <p:nvSpPr>
          <p:cNvPr id="17" name="TextBox 16">
            <a:extLst>
              <a:ext uri="{FF2B5EF4-FFF2-40B4-BE49-F238E27FC236}">
                <a16:creationId xmlns:a16="http://schemas.microsoft.com/office/drawing/2014/main" id="{56C5C028-1D4B-2949-96AC-0EA30248B43A}"/>
              </a:ext>
            </a:extLst>
          </p:cNvPr>
          <p:cNvSpPr txBox="1"/>
          <p:nvPr/>
        </p:nvSpPr>
        <p:spPr>
          <a:xfrm>
            <a:off x="6959600" y="2819400"/>
            <a:ext cx="4826000" cy="323165"/>
          </a:xfrm>
          <a:prstGeom prst="rect">
            <a:avLst/>
          </a:prstGeom>
          <a:noFill/>
        </p:spPr>
        <p:txBody>
          <a:bodyPr vertOverflow="overflow" vert="horz" wrap="square" rtlCol="0" anchor="t">
            <a:spAutoFit/>
          </a:bodyPr>
          <a:lstStyle/>
          <a:p>
            <a:pPr algn="l"/>
            <a:r>
              <a:rPr lang="en-US" sz="1500" b="1" dirty="0">
                <a:solidFill>
                  <a:srgbClr val="0E4D4D"/>
                </a:solidFill>
                <a:latin typeface="BIG CASLON MEDIUM"/>
                <a:cs typeface="BIG CASLON MEDIUM"/>
              </a:rPr>
              <a:t>Guest Experience Analysis (NLP)</a:t>
            </a:r>
          </a:p>
        </p:txBody>
      </p:sp>
      <p:sp>
        <p:nvSpPr>
          <p:cNvPr id="18" name="TextBox 17">
            <a:extLst>
              <a:ext uri="{FF2B5EF4-FFF2-40B4-BE49-F238E27FC236}">
                <a16:creationId xmlns:a16="http://schemas.microsoft.com/office/drawing/2014/main" id="{E3816591-C484-C541-A3D7-8E4EDF2E309B}"/>
              </a:ext>
            </a:extLst>
          </p:cNvPr>
          <p:cNvSpPr txBox="1"/>
          <p:nvPr/>
        </p:nvSpPr>
        <p:spPr>
          <a:xfrm>
            <a:off x="6959600" y="3149600"/>
            <a:ext cx="4826000" cy="953018"/>
          </a:xfrm>
          <a:prstGeom prst="rect">
            <a:avLst/>
          </a:prstGeom>
          <a:noFill/>
        </p:spPr>
        <p:txBody>
          <a:bodyPr vertOverflow="overflow" vert="horz" wrap="square" rtlCol="0" anchor="t">
            <a:spAutoFit/>
          </a:bodyPr>
          <a:lstStyle/>
          <a:p>
            <a:pPr algn="l">
              <a:lnSpc>
                <a:spcPts val="1700"/>
              </a:lnSpc>
              <a:spcAft>
                <a:spcPts val="200"/>
              </a:spcAft>
            </a:pPr>
            <a:r>
              <a:rPr lang="en-US" sz="1300" dirty="0">
                <a:solidFill>
                  <a:srgbClr val="0E4D4D"/>
                </a:solidFill>
                <a:latin typeface="Big Caslon Medium"/>
                <a:cs typeface="Big Caslon Medium"/>
              </a:rPr>
              <a:t>Apply text preprocessing, sentiment analysis, zero-shot classification, and LDA, NMF, LSA and BERT topic modeling to Chicago Airbnb reviews to quantify guest perceptions across amenities and property types, and surface actionable themes for hosts.</a:t>
            </a:r>
          </a:p>
        </p:txBody>
      </p:sp>
      <p:sp>
        <p:nvSpPr>
          <p:cNvPr id="19" name="TextBox 18">
            <a:extLst>
              <a:ext uri="{FF2B5EF4-FFF2-40B4-BE49-F238E27FC236}">
                <a16:creationId xmlns:a16="http://schemas.microsoft.com/office/drawing/2014/main" id="{DC9A33B4-E4AB-B54B-B8AA-DC00900EC713}"/>
              </a:ext>
            </a:extLst>
          </p:cNvPr>
          <p:cNvSpPr txBox="1"/>
          <p:nvPr/>
        </p:nvSpPr>
        <p:spPr>
          <a:xfrm>
            <a:off x="6400800" y="4648200"/>
            <a:ext cx="762000" cy="830997"/>
          </a:xfrm>
          <a:prstGeom prst="rect">
            <a:avLst/>
          </a:prstGeom>
          <a:noFill/>
        </p:spPr>
        <p:txBody>
          <a:bodyPr vertOverflow="overflow" vert="horz" wrap="none" rtlCol="0" anchor="t">
            <a:noAutofit/>
          </a:bodyPr>
          <a:lstStyle/>
          <a:p>
            <a:pPr algn="l"/>
            <a:r>
              <a:rPr lang="en-US" sz="2400" b="1" i="1" dirty="0">
                <a:solidFill>
                  <a:srgbClr val="E07856"/>
                </a:solidFill>
                <a:latin typeface="Playfair Display"/>
              </a:rPr>
              <a:t>02</a:t>
            </a:r>
          </a:p>
        </p:txBody>
      </p:sp>
      <p:sp>
        <p:nvSpPr>
          <p:cNvPr id="20" name="TextBox 19">
            <a:extLst>
              <a:ext uri="{FF2B5EF4-FFF2-40B4-BE49-F238E27FC236}">
                <a16:creationId xmlns:a16="http://schemas.microsoft.com/office/drawing/2014/main" id="{29F413D7-39AB-234D-A5C6-6D0A1276A2A1}"/>
              </a:ext>
            </a:extLst>
          </p:cNvPr>
          <p:cNvSpPr txBox="1"/>
          <p:nvPr/>
        </p:nvSpPr>
        <p:spPr>
          <a:xfrm>
            <a:off x="6959600" y="4673600"/>
            <a:ext cx="4826000" cy="323165"/>
          </a:xfrm>
          <a:prstGeom prst="rect">
            <a:avLst/>
          </a:prstGeom>
          <a:noFill/>
        </p:spPr>
        <p:txBody>
          <a:bodyPr vertOverflow="overflow" vert="horz" wrap="square" rtlCol="0" anchor="t">
            <a:spAutoFit/>
          </a:bodyPr>
          <a:lstStyle/>
          <a:p>
            <a:pPr algn="l"/>
            <a:r>
              <a:rPr lang="en-US" sz="1500" b="1" dirty="0">
                <a:solidFill>
                  <a:srgbClr val="0E4D4D"/>
                </a:solidFill>
                <a:latin typeface="BIG CASLON MEDIUM"/>
                <a:cs typeface="BIG CASLON MEDIUM"/>
              </a:rPr>
              <a:t>Price Prediction (Neural Networks + ML)</a:t>
            </a:r>
          </a:p>
        </p:txBody>
      </p:sp>
      <p:sp>
        <p:nvSpPr>
          <p:cNvPr id="21" name="TextBox 20">
            <a:extLst>
              <a:ext uri="{FF2B5EF4-FFF2-40B4-BE49-F238E27FC236}">
                <a16:creationId xmlns:a16="http://schemas.microsoft.com/office/drawing/2014/main" id="{1DA8DCC5-A87C-0E42-AFC7-64E7549643F1}"/>
              </a:ext>
            </a:extLst>
          </p:cNvPr>
          <p:cNvSpPr txBox="1"/>
          <p:nvPr/>
        </p:nvSpPr>
        <p:spPr>
          <a:xfrm>
            <a:off x="6959600" y="5003800"/>
            <a:ext cx="4826000" cy="953018"/>
          </a:xfrm>
          <a:prstGeom prst="rect">
            <a:avLst/>
          </a:prstGeom>
          <a:noFill/>
        </p:spPr>
        <p:txBody>
          <a:bodyPr vertOverflow="overflow" vert="horz" wrap="square" rtlCol="0" anchor="t">
            <a:spAutoFit/>
          </a:bodyPr>
          <a:lstStyle/>
          <a:p>
            <a:pPr algn="l">
              <a:lnSpc>
                <a:spcPts val="1700"/>
              </a:lnSpc>
              <a:spcAft>
                <a:spcPts val="200"/>
              </a:spcAft>
            </a:pPr>
            <a:r>
              <a:rPr lang="en-US" sz="1300" dirty="0">
                <a:solidFill>
                  <a:srgbClr val="0E4D4D"/>
                </a:solidFill>
                <a:latin typeface="Big Caslon Medium"/>
                <a:cs typeface="Big Caslon Medium"/>
              </a:rPr>
              <a:t>Build neural network and regression models that combine structured listing attributes with NLP-derived sentiment, zero-shot, and topic scores to test whether guest perception signals improve price prediction accuracy.</a:t>
            </a:r>
          </a:p>
        </p:txBody>
      </p:sp>
      <p:pic>
        <p:nvPicPr>
          <p:cNvPr id="23" name="Picture 22">
            <a:extLst>
              <a:ext uri="{FF2B5EF4-FFF2-40B4-BE49-F238E27FC236}">
                <a16:creationId xmlns:a16="http://schemas.microsoft.com/office/drawing/2014/main" id="{B0B1D016-0BCA-D06E-604A-55B5B3D2A907}"/>
              </a:ext>
            </a:extLst>
          </p:cNvPr>
          <p:cNvPicPr>
            <a:picLocks noChangeAspect="1"/>
          </p:cNvPicPr>
          <p:nvPr/>
        </p:nvPicPr>
        <p:blipFill>
          <a:blip r:embed="rId2"/>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303779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4442272-3692-B94A-8BAE-AD5653D2DB3C}"/>
              </a:ext>
            </a:extLst>
          </p:cNvPr>
          <p:cNvSpPr/>
          <p:nvPr/>
        </p:nvSpPr>
        <p:spPr>
          <a:xfrm>
            <a:off x="279400" y="2540000"/>
            <a:ext cx="7569200" cy="3746500"/>
          </a:xfrm>
          <a:prstGeom prst="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 name="Rectangle 1">
            <a:extLst>
              <a:ext uri="{FF2B5EF4-FFF2-40B4-BE49-F238E27FC236}">
                <a16:creationId xmlns:a16="http://schemas.microsoft.com/office/drawing/2014/main" id="{8682059E-406B-3C4C-8815-3A7FCCB79FB7}"/>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5352C01F-3267-C140-98A1-7493EBAAAE33}"/>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31A38C42-3145-6C48-954D-F00400886EA6}"/>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C3A08E17-3088-9244-8E82-E11E7E3CAF43}"/>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Rectangle 5">
            <a:extLst>
              <a:ext uri="{FF2B5EF4-FFF2-40B4-BE49-F238E27FC236}">
                <a16:creationId xmlns:a16="http://schemas.microsoft.com/office/drawing/2014/main" id="{11B8B697-00DC-9940-AA42-07FF0481240A}"/>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TextBox 6">
            <a:extLst>
              <a:ext uri="{FF2B5EF4-FFF2-40B4-BE49-F238E27FC236}">
                <a16:creationId xmlns:a16="http://schemas.microsoft.com/office/drawing/2014/main" id="{34330D9D-C312-9241-82E7-8F039606A4A7}"/>
              </a:ext>
            </a:extLst>
          </p:cNvPr>
          <p:cNvSpPr txBox="1"/>
          <p:nvPr/>
        </p:nvSpPr>
        <p:spPr>
          <a:xfrm>
            <a:off x="1651000" y="355600"/>
            <a:ext cx="7112000" cy="276999"/>
          </a:xfrm>
          <a:prstGeom prst="rect">
            <a:avLst/>
          </a:prstGeom>
          <a:noFill/>
        </p:spPr>
        <p:txBody>
          <a:bodyPr vertOverflow="overflow" vert="horz" wrap="square" rtlCol="0" anchor="t">
            <a:spAutoFit/>
          </a:bodyPr>
          <a:lstStyle/>
          <a:p>
            <a:pPr algn="l"/>
            <a:r>
              <a:rPr lang="en-US" sz="1200" b="1" dirty="0">
                <a:solidFill>
                  <a:srgbClr val="F7F1E8"/>
                </a:solidFill>
                <a:latin typeface="BIG CASLON MEDIUM"/>
                <a:cs typeface="BIG CASLON MEDIUM"/>
              </a:rPr>
              <a:t>AIRBNB CHICAGO  ·  ML / NLP / NEURAL NETWORKS</a:t>
            </a:r>
          </a:p>
        </p:txBody>
      </p:sp>
      <p:sp>
        <p:nvSpPr>
          <p:cNvPr id="8" name="TextBox 7">
            <a:extLst>
              <a:ext uri="{FF2B5EF4-FFF2-40B4-BE49-F238E27FC236}">
                <a16:creationId xmlns:a16="http://schemas.microsoft.com/office/drawing/2014/main" id="{502151BF-AEF9-7A46-9C3D-5AF7D39BD94F}"/>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287EFD61-C500-7F46-B011-A382C79DAEB1}"/>
              </a:ext>
            </a:extLst>
          </p:cNvPr>
          <p:cNvSpPr txBox="1"/>
          <p:nvPr/>
        </p:nvSpPr>
        <p:spPr>
          <a:xfrm>
            <a:off x="711200" y="1270000"/>
            <a:ext cx="7620000" cy="261610"/>
          </a:xfrm>
          <a:prstGeom prst="rect">
            <a:avLst/>
          </a:prstGeom>
          <a:noFill/>
        </p:spPr>
        <p:txBody>
          <a:bodyPr vertOverflow="overflow" vert="horz" wrap="square" rtlCol="0" anchor="t">
            <a:spAutoFit/>
          </a:bodyPr>
          <a:lstStyle/>
          <a:p>
            <a:pPr algn="l"/>
            <a:r>
              <a:rPr lang="en-US" sz="1100" b="1" dirty="0">
                <a:solidFill>
                  <a:srgbClr val="E07856"/>
                </a:solidFill>
                <a:latin typeface="BIG CASLON MEDIUM"/>
                <a:cs typeface="BIG CASLON MEDIUM"/>
              </a:rPr>
              <a:t>DATA EXPLORATION</a:t>
            </a:r>
          </a:p>
        </p:txBody>
      </p:sp>
      <p:sp>
        <p:nvSpPr>
          <p:cNvPr id="10" name="TextBox 9">
            <a:extLst>
              <a:ext uri="{FF2B5EF4-FFF2-40B4-BE49-F238E27FC236}">
                <a16:creationId xmlns:a16="http://schemas.microsoft.com/office/drawing/2014/main" id="{4A6FA78E-C7A8-0F4E-8EA1-228FD80758F4}"/>
              </a:ext>
            </a:extLst>
          </p:cNvPr>
          <p:cNvSpPr txBox="1"/>
          <p:nvPr/>
        </p:nvSpPr>
        <p:spPr>
          <a:xfrm>
            <a:off x="635000" y="1498600"/>
            <a:ext cx="10922000" cy="584775"/>
          </a:xfrm>
          <a:prstGeom prst="rect">
            <a:avLst/>
          </a:prstGeom>
          <a:noFill/>
        </p:spPr>
        <p:txBody>
          <a:bodyPr vertOverflow="overflow" vert="horz" wrap="square" rtlCol="0" anchor="t">
            <a:spAutoFit/>
          </a:bodyPr>
          <a:lstStyle/>
          <a:p>
            <a:pPr algn="l"/>
            <a:r>
              <a:rPr lang="en-US" sz="3200" b="1" i="1" dirty="0">
                <a:solidFill>
                  <a:srgbClr val="0E4D4D"/>
                </a:solidFill>
                <a:latin typeface="Playfair Display"/>
              </a:rPr>
              <a:t>Reviews Over Time</a:t>
            </a:r>
          </a:p>
        </p:txBody>
      </p:sp>
      <p:sp>
        <p:nvSpPr>
          <p:cNvPr id="11" name="TextBox 10">
            <a:extLst>
              <a:ext uri="{FF2B5EF4-FFF2-40B4-BE49-F238E27FC236}">
                <a16:creationId xmlns:a16="http://schemas.microsoft.com/office/drawing/2014/main" id="{11E4C00B-13B5-7942-8C68-76E84A8292CC}"/>
              </a:ext>
            </a:extLst>
          </p:cNvPr>
          <p:cNvSpPr txBox="1"/>
          <p:nvPr/>
        </p:nvSpPr>
        <p:spPr>
          <a:xfrm>
            <a:off x="406400" y="6553200"/>
            <a:ext cx="6350000" cy="254000"/>
          </a:xfrm>
          <a:prstGeom prst="rect">
            <a:avLst/>
          </a:prstGeom>
          <a:noFill/>
        </p:spPr>
        <p:txBody>
          <a:bodyPr vertOverflow="overflow" vert="horz" wrap="square" rtlCol="0" anchor="t">
            <a:spAutoFit/>
          </a:bodyPr>
          <a:lstStyle/>
          <a:p>
            <a:pPr algn="l"/>
            <a:r>
              <a:rPr lang="en-US" sz="1000" b="1" dirty="0">
                <a:solidFill>
                  <a:srgbClr val="F7F1E8"/>
                </a:solidFill>
                <a:latin typeface="BIG CASLON MEDIUM"/>
                <a:cs typeface="BIG CASLON MEDIUM"/>
              </a:rPr>
              <a:t>SCH-MGMT 661  ·  Applications of AI Models</a:t>
            </a:r>
          </a:p>
        </p:txBody>
      </p:sp>
      <p:sp>
        <p:nvSpPr>
          <p:cNvPr id="12" name="TextBox 11">
            <a:extLst>
              <a:ext uri="{FF2B5EF4-FFF2-40B4-BE49-F238E27FC236}">
                <a16:creationId xmlns:a16="http://schemas.microsoft.com/office/drawing/2014/main" id="{34B644DE-E227-6849-B1B2-9A27518A8BCD}"/>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04 / 14</a:t>
            </a:r>
          </a:p>
        </p:txBody>
      </p:sp>
      <p:sp>
        <p:nvSpPr>
          <p:cNvPr id="13" name="TextBox 12">
            <a:extLst>
              <a:ext uri="{FF2B5EF4-FFF2-40B4-BE49-F238E27FC236}">
                <a16:creationId xmlns:a16="http://schemas.microsoft.com/office/drawing/2014/main" id="{1F1E7CF6-3C84-4A4C-A027-FAFF241ACA2F}"/>
              </a:ext>
            </a:extLst>
          </p:cNvPr>
          <p:cNvSpPr txBox="1"/>
          <p:nvPr/>
        </p:nvSpPr>
        <p:spPr>
          <a:xfrm>
            <a:off x="7874000" y="2476500"/>
            <a:ext cx="3810000" cy="279400"/>
          </a:xfrm>
          <a:prstGeom prst="rect">
            <a:avLst/>
          </a:prstGeom>
          <a:noFill/>
        </p:spPr>
        <p:txBody>
          <a:bodyPr vertOverflow="overflow" vert="horz" wrap="square" rtlCol="0" anchor="t">
            <a:spAutoFit/>
          </a:bodyPr>
          <a:lstStyle/>
          <a:p>
            <a:pPr algn="l"/>
            <a:r>
              <a:rPr lang="en-US" sz="1200" b="1" dirty="0">
                <a:solidFill>
                  <a:srgbClr val="E07856"/>
                </a:solidFill>
                <a:latin typeface="BIG CASLON MEDIUM"/>
                <a:cs typeface="BIG CASLON MEDIUM"/>
              </a:rPr>
              <a:t>KEY INSIGHTS</a:t>
            </a:r>
          </a:p>
        </p:txBody>
      </p:sp>
      <p:sp>
        <p:nvSpPr>
          <p:cNvPr id="14" name="TextBox 13">
            <a:extLst>
              <a:ext uri="{FF2B5EF4-FFF2-40B4-BE49-F238E27FC236}">
                <a16:creationId xmlns:a16="http://schemas.microsoft.com/office/drawing/2014/main" id="{C4822595-EA3F-1947-8BA1-9598DBA513DF}"/>
              </a:ext>
            </a:extLst>
          </p:cNvPr>
          <p:cNvSpPr txBox="1"/>
          <p:nvPr/>
        </p:nvSpPr>
        <p:spPr>
          <a:xfrm>
            <a:off x="7874000" y="2857500"/>
            <a:ext cx="508000" cy="369332"/>
          </a:xfrm>
          <a:prstGeom prst="rect">
            <a:avLst/>
          </a:prstGeom>
          <a:noFill/>
        </p:spPr>
        <p:txBody>
          <a:bodyPr vertOverflow="overflow" vert="horz" wrap="square" rtlCol="0" anchor="t">
            <a:spAutoFit/>
          </a:bodyPr>
          <a:lstStyle/>
          <a:p>
            <a:pPr algn="l"/>
            <a:r>
              <a:rPr lang="en-US" sz="1800" b="1" i="1" dirty="0">
                <a:solidFill>
                  <a:srgbClr val="E07856"/>
                </a:solidFill>
                <a:latin typeface="Playfair Display"/>
              </a:rPr>
              <a:t>01</a:t>
            </a:r>
          </a:p>
        </p:txBody>
      </p:sp>
      <p:sp>
        <p:nvSpPr>
          <p:cNvPr id="15" name="TextBox 14">
            <a:extLst>
              <a:ext uri="{FF2B5EF4-FFF2-40B4-BE49-F238E27FC236}">
                <a16:creationId xmlns:a16="http://schemas.microsoft.com/office/drawing/2014/main" id="{AC44086E-039F-F843-9A5C-2BE75E80FFF2}"/>
              </a:ext>
            </a:extLst>
          </p:cNvPr>
          <p:cNvSpPr txBox="1"/>
          <p:nvPr/>
        </p:nvSpPr>
        <p:spPr>
          <a:xfrm>
            <a:off x="8382000" y="2857500"/>
            <a:ext cx="3429000" cy="659796"/>
          </a:xfrm>
          <a:prstGeom prst="rect">
            <a:avLst/>
          </a:prstGeom>
          <a:noFill/>
        </p:spPr>
        <p:txBody>
          <a:bodyPr vertOverflow="overflow" vert="horz" wrap="square" rtlCol="0" anchor="t">
            <a:spAutoFit/>
          </a:bodyPr>
          <a:lstStyle/>
          <a:p>
            <a:pPr>
              <a:lnSpc>
                <a:spcPts val="1500"/>
              </a:lnSpc>
            </a:pPr>
            <a:r>
              <a:rPr lang="en-US" sz="1100" dirty="0">
                <a:solidFill>
                  <a:srgbClr val="0E4D4D"/>
                </a:solidFill>
                <a:latin typeface="Big Caslon Medium"/>
                <a:cs typeface="Big Caslon Medium"/>
              </a:rPr>
              <a:t>Reviews scaled from fewer than 100 annually in 2009 to 2011 to a peak of 102,132 in 2024, roughly a thousandfold increase over the period.</a:t>
            </a:r>
          </a:p>
        </p:txBody>
      </p:sp>
      <p:sp>
        <p:nvSpPr>
          <p:cNvPr id="16" name="TextBox 15">
            <a:extLst>
              <a:ext uri="{FF2B5EF4-FFF2-40B4-BE49-F238E27FC236}">
                <a16:creationId xmlns:a16="http://schemas.microsoft.com/office/drawing/2014/main" id="{A0C900FD-E9C6-F540-8BA8-9AF32A53CC53}"/>
              </a:ext>
            </a:extLst>
          </p:cNvPr>
          <p:cNvSpPr txBox="1"/>
          <p:nvPr/>
        </p:nvSpPr>
        <p:spPr>
          <a:xfrm>
            <a:off x="7874000" y="3746500"/>
            <a:ext cx="508000" cy="369332"/>
          </a:xfrm>
          <a:prstGeom prst="rect">
            <a:avLst/>
          </a:prstGeom>
          <a:noFill/>
        </p:spPr>
        <p:txBody>
          <a:bodyPr vertOverflow="overflow" vert="horz" wrap="square" rtlCol="0" anchor="t">
            <a:spAutoFit/>
          </a:bodyPr>
          <a:lstStyle/>
          <a:p>
            <a:pPr algn="l"/>
            <a:r>
              <a:rPr lang="en-US" sz="1800" b="1" i="1" dirty="0">
                <a:solidFill>
                  <a:srgbClr val="E07856"/>
                </a:solidFill>
                <a:latin typeface="Playfair Display"/>
              </a:rPr>
              <a:t>02</a:t>
            </a:r>
          </a:p>
        </p:txBody>
      </p:sp>
      <p:sp>
        <p:nvSpPr>
          <p:cNvPr id="17" name="TextBox 16">
            <a:extLst>
              <a:ext uri="{FF2B5EF4-FFF2-40B4-BE49-F238E27FC236}">
                <a16:creationId xmlns:a16="http://schemas.microsoft.com/office/drawing/2014/main" id="{5CB17F26-44EF-EC41-B71E-0E6993452D27}"/>
              </a:ext>
            </a:extLst>
          </p:cNvPr>
          <p:cNvSpPr txBox="1"/>
          <p:nvPr/>
        </p:nvSpPr>
        <p:spPr>
          <a:xfrm>
            <a:off x="8382000" y="3746500"/>
            <a:ext cx="3429000" cy="659796"/>
          </a:xfrm>
          <a:prstGeom prst="rect">
            <a:avLst/>
          </a:prstGeom>
          <a:noFill/>
        </p:spPr>
        <p:txBody>
          <a:bodyPr vertOverflow="overflow" vert="horz" wrap="square" rtlCol="0" anchor="t">
            <a:spAutoFit/>
          </a:bodyPr>
          <a:lstStyle/>
          <a:p>
            <a:pPr>
              <a:lnSpc>
                <a:spcPts val="1500"/>
              </a:lnSpc>
            </a:pPr>
            <a:r>
              <a:rPr lang="en-US" sz="1100" dirty="0">
                <a:solidFill>
                  <a:srgbClr val="0E4D4D"/>
                </a:solidFill>
                <a:latin typeface="Big Caslon Medium"/>
                <a:cs typeface="Big Caslon Medium"/>
              </a:rPr>
              <a:t>Review volume collapsed to 18,772 in 2020, a roughly 50% year over year drop and the only major break in the upward trend.</a:t>
            </a:r>
          </a:p>
        </p:txBody>
      </p:sp>
      <p:sp>
        <p:nvSpPr>
          <p:cNvPr id="18" name="TextBox 17">
            <a:extLst>
              <a:ext uri="{FF2B5EF4-FFF2-40B4-BE49-F238E27FC236}">
                <a16:creationId xmlns:a16="http://schemas.microsoft.com/office/drawing/2014/main" id="{33062941-8D46-9C4E-84E7-429C2A3BF98E}"/>
              </a:ext>
            </a:extLst>
          </p:cNvPr>
          <p:cNvSpPr txBox="1"/>
          <p:nvPr/>
        </p:nvSpPr>
        <p:spPr>
          <a:xfrm>
            <a:off x="7874000" y="4635500"/>
            <a:ext cx="508000" cy="369332"/>
          </a:xfrm>
          <a:prstGeom prst="rect">
            <a:avLst/>
          </a:prstGeom>
          <a:noFill/>
        </p:spPr>
        <p:txBody>
          <a:bodyPr vertOverflow="overflow" vert="horz" wrap="square" rtlCol="0" anchor="t">
            <a:spAutoFit/>
          </a:bodyPr>
          <a:lstStyle/>
          <a:p>
            <a:pPr algn="l"/>
            <a:r>
              <a:rPr lang="en-US" sz="1800" b="1" i="1" dirty="0">
                <a:solidFill>
                  <a:srgbClr val="E07856"/>
                </a:solidFill>
                <a:latin typeface="Playfair Display"/>
              </a:rPr>
              <a:t>03</a:t>
            </a:r>
          </a:p>
        </p:txBody>
      </p:sp>
      <p:sp>
        <p:nvSpPr>
          <p:cNvPr id="19" name="TextBox 18">
            <a:extLst>
              <a:ext uri="{FF2B5EF4-FFF2-40B4-BE49-F238E27FC236}">
                <a16:creationId xmlns:a16="http://schemas.microsoft.com/office/drawing/2014/main" id="{8E9AE7EC-FA73-7246-AF88-103DB134303B}"/>
              </a:ext>
            </a:extLst>
          </p:cNvPr>
          <p:cNvSpPr txBox="1"/>
          <p:nvPr/>
        </p:nvSpPr>
        <p:spPr>
          <a:xfrm>
            <a:off x="8382000" y="4635500"/>
            <a:ext cx="3429000" cy="659796"/>
          </a:xfrm>
          <a:prstGeom prst="rect">
            <a:avLst/>
          </a:prstGeom>
          <a:noFill/>
        </p:spPr>
        <p:txBody>
          <a:bodyPr vertOverflow="overflow" vert="horz" wrap="square" rtlCol="0" anchor="t">
            <a:spAutoFit/>
          </a:bodyPr>
          <a:lstStyle/>
          <a:p>
            <a:pPr>
              <a:lnSpc>
                <a:spcPts val="1500"/>
              </a:lnSpc>
            </a:pPr>
            <a:r>
              <a:rPr lang="en-US" sz="1100" dirty="0">
                <a:solidFill>
                  <a:srgbClr val="0E4D4D"/>
                </a:solidFill>
                <a:latin typeface="Big Caslon Medium"/>
                <a:cs typeface="Big Caslon Medium"/>
              </a:rPr>
              <a:t>Reviews rebounded from 18,772 in 2020 to over 102,000 by 2024, more than five times the 2020 low, signaling a strong post-pandemic demand recovery.</a:t>
            </a:r>
          </a:p>
        </p:txBody>
      </p:sp>
      <p:sp>
        <p:nvSpPr>
          <p:cNvPr id="20" name="TextBox 19">
            <a:extLst>
              <a:ext uri="{FF2B5EF4-FFF2-40B4-BE49-F238E27FC236}">
                <a16:creationId xmlns:a16="http://schemas.microsoft.com/office/drawing/2014/main" id="{EC349A77-1E7F-4C41-93C5-59B948EA3DE2}"/>
              </a:ext>
            </a:extLst>
          </p:cNvPr>
          <p:cNvSpPr txBox="1"/>
          <p:nvPr/>
        </p:nvSpPr>
        <p:spPr>
          <a:xfrm>
            <a:off x="7874000" y="5524500"/>
            <a:ext cx="508000" cy="369332"/>
          </a:xfrm>
          <a:prstGeom prst="rect">
            <a:avLst/>
          </a:prstGeom>
          <a:noFill/>
        </p:spPr>
        <p:txBody>
          <a:bodyPr vertOverflow="overflow" vert="horz" wrap="square" rtlCol="0" anchor="t">
            <a:spAutoFit/>
          </a:bodyPr>
          <a:lstStyle/>
          <a:p>
            <a:pPr algn="l"/>
            <a:r>
              <a:rPr lang="en-US" sz="1800" b="1" i="1" dirty="0">
                <a:solidFill>
                  <a:srgbClr val="E07856"/>
                </a:solidFill>
                <a:latin typeface="Playfair Display"/>
              </a:rPr>
              <a:t>04</a:t>
            </a:r>
          </a:p>
        </p:txBody>
      </p:sp>
      <p:sp>
        <p:nvSpPr>
          <p:cNvPr id="24" name="Rectangle 23">
            <a:extLst>
              <a:ext uri="{FF2B5EF4-FFF2-40B4-BE49-F238E27FC236}">
                <a16:creationId xmlns:a16="http://schemas.microsoft.com/office/drawing/2014/main" id="{04A50EB1-7C76-9D46-9B1A-A2B5563610E4}"/>
              </a:ext>
            </a:extLst>
          </p:cNvPr>
          <p:cNvSpPr/>
          <p:nvPr/>
        </p:nvSpPr>
        <p:spPr>
          <a:xfrm>
            <a:off x="279400" y="2540000"/>
            <a:ext cx="7569200" cy="508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1" name="TextBox 20">
            <a:extLst>
              <a:ext uri="{FF2B5EF4-FFF2-40B4-BE49-F238E27FC236}">
                <a16:creationId xmlns:a16="http://schemas.microsoft.com/office/drawing/2014/main" id="{190311E0-B908-FE43-8421-9C1BB21B7315}"/>
              </a:ext>
            </a:extLst>
          </p:cNvPr>
          <p:cNvSpPr txBox="1"/>
          <p:nvPr/>
        </p:nvSpPr>
        <p:spPr>
          <a:xfrm>
            <a:off x="8382000" y="5524500"/>
            <a:ext cx="3429000" cy="657809"/>
          </a:xfrm>
          <a:prstGeom prst="rect">
            <a:avLst/>
          </a:prstGeom>
          <a:noFill/>
        </p:spPr>
        <p:txBody>
          <a:bodyPr vertOverflow="overflow" vert="horz" wrap="square" rtlCol="0" anchor="t">
            <a:spAutoFit/>
          </a:bodyPr>
          <a:lstStyle/>
          <a:p>
            <a:pPr>
              <a:lnSpc>
                <a:spcPts val="1500"/>
              </a:lnSpc>
            </a:pPr>
            <a:r>
              <a:rPr lang="en-US" sz="1100" dirty="0">
                <a:solidFill>
                  <a:srgbClr val="0E4D4D"/>
                </a:solidFill>
                <a:latin typeface="Big Caslon Medium"/>
                <a:cs typeface="Big Caslon Medium"/>
              </a:rPr>
              <a:t>Recent reviews from 2021 onward carry the strongest signal for current pricing and guest sentiment, justifying the decision to filter the analysis to 2023 through 2025.</a:t>
            </a:r>
          </a:p>
        </p:txBody>
      </p:sp>
      <p:pic>
        <p:nvPicPr>
          <p:cNvPr id="22" name="Picture 21">
            <a:extLst>
              <a:ext uri="{FF2B5EF4-FFF2-40B4-BE49-F238E27FC236}">
                <a16:creationId xmlns:a16="http://schemas.microsoft.com/office/drawing/2014/main" id="{05FACBEC-574E-7413-BC9D-DFEED2B918C2}"/>
              </a:ext>
            </a:extLst>
          </p:cNvPr>
          <p:cNvPicPr>
            <a:picLocks noChangeAspect="1"/>
          </p:cNvPicPr>
          <p:nvPr/>
        </p:nvPicPr>
        <p:blipFill>
          <a:blip r:embed="rId3"/>
          <a:stretch>
            <a:fillRect/>
          </a:stretch>
        </p:blipFill>
        <p:spPr>
          <a:xfrm>
            <a:off x="381000" y="2667000"/>
            <a:ext cx="7366000" cy="3393325"/>
          </a:xfrm>
          <a:prstGeom prst="rect">
            <a:avLst/>
          </a:prstGeom>
        </p:spPr>
      </p:pic>
      <p:sp>
        <p:nvSpPr>
          <p:cNvPr id="25" name="TextBox 24">
            <a:extLst>
              <a:ext uri="{FF2B5EF4-FFF2-40B4-BE49-F238E27FC236}">
                <a16:creationId xmlns:a16="http://schemas.microsoft.com/office/drawing/2014/main" id="{A52A6EB9-5CDC-7843-8628-5FD2746D01E9}"/>
              </a:ext>
            </a:extLst>
          </p:cNvPr>
          <p:cNvSpPr txBox="1"/>
          <p:nvPr/>
        </p:nvSpPr>
        <p:spPr>
          <a:xfrm>
            <a:off x="381000" y="6070600"/>
            <a:ext cx="7366000" cy="246221"/>
          </a:xfrm>
          <a:prstGeom prst="rect">
            <a:avLst/>
          </a:prstGeom>
          <a:noFill/>
        </p:spPr>
        <p:txBody>
          <a:bodyPr vertOverflow="overflow" vert="horz" wrap="square" rtlCol="0" anchor="t">
            <a:spAutoFit/>
          </a:bodyPr>
          <a:lstStyle/>
          <a:p>
            <a:pPr algn="ctr"/>
            <a:r>
              <a:rPr lang="en-US" sz="1000" i="1" dirty="0">
                <a:solidFill>
                  <a:srgbClr val="0E4D4D"/>
                </a:solidFill>
                <a:latin typeface="Big Caslon Medium"/>
                <a:cs typeface="Big Caslon Medium"/>
              </a:rPr>
              <a:t>Fig. 1  - Total Airbnb reviews per year, Chicago (2009–2025)</a:t>
            </a:r>
          </a:p>
        </p:txBody>
      </p:sp>
      <p:pic>
        <p:nvPicPr>
          <p:cNvPr id="26" name="Picture 25">
            <a:extLst>
              <a:ext uri="{FF2B5EF4-FFF2-40B4-BE49-F238E27FC236}">
                <a16:creationId xmlns:a16="http://schemas.microsoft.com/office/drawing/2014/main" id="{838D78E3-5C89-8F6C-0140-51965B1D3436}"/>
              </a:ext>
            </a:extLst>
          </p:cNvPr>
          <p:cNvPicPr>
            <a:picLocks noChangeAspect="1"/>
          </p:cNvPicPr>
          <p:nvPr/>
        </p:nvPicPr>
        <p:blipFill>
          <a:blip r:embed="rId4"/>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7936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38" name="Rounded Rectangle 37">
            <a:extLst>
              <a:ext uri="{FF2B5EF4-FFF2-40B4-BE49-F238E27FC236}">
                <a16:creationId xmlns:a16="http://schemas.microsoft.com/office/drawing/2014/main" id="{3CFD56DE-2A1E-0845-8276-2A757938A654}"/>
              </a:ext>
            </a:extLst>
          </p:cNvPr>
          <p:cNvSpPr/>
          <p:nvPr/>
        </p:nvSpPr>
        <p:spPr>
          <a:xfrm>
            <a:off x="9093200" y="2540000"/>
            <a:ext cx="2540000" cy="3175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0" name="Rounded Rectangle 29">
            <a:extLst>
              <a:ext uri="{FF2B5EF4-FFF2-40B4-BE49-F238E27FC236}">
                <a16:creationId xmlns:a16="http://schemas.microsoft.com/office/drawing/2014/main" id="{493482CA-A29A-6546-BE03-F13BE265C523}"/>
              </a:ext>
            </a:extLst>
          </p:cNvPr>
          <p:cNvSpPr/>
          <p:nvPr/>
        </p:nvSpPr>
        <p:spPr>
          <a:xfrm>
            <a:off x="6248400" y="2540000"/>
            <a:ext cx="2540000" cy="3175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2" name="Rounded Rectangle 21">
            <a:extLst>
              <a:ext uri="{FF2B5EF4-FFF2-40B4-BE49-F238E27FC236}">
                <a16:creationId xmlns:a16="http://schemas.microsoft.com/office/drawing/2014/main" id="{A15B2C30-856B-3C47-B8BD-195A89E474D1}"/>
              </a:ext>
            </a:extLst>
          </p:cNvPr>
          <p:cNvSpPr/>
          <p:nvPr/>
        </p:nvSpPr>
        <p:spPr>
          <a:xfrm>
            <a:off x="3403600" y="2540000"/>
            <a:ext cx="2540000" cy="3175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4" name="Rounded Rectangle 13">
            <a:extLst>
              <a:ext uri="{FF2B5EF4-FFF2-40B4-BE49-F238E27FC236}">
                <a16:creationId xmlns:a16="http://schemas.microsoft.com/office/drawing/2014/main" id="{39962DCA-0A80-8E44-8723-0E901D9D71D3}"/>
              </a:ext>
            </a:extLst>
          </p:cNvPr>
          <p:cNvSpPr/>
          <p:nvPr/>
        </p:nvSpPr>
        <p:spPr>
          <a:xfrm>
            <a:off x="558800" y="2540000"/>
            <a:ext cx="2540000" cy="3175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 name="Rectangle 1">
            <a:extLst>
              <a:ext uri="{FF2B5EF4-FFF2-40B4-BE49-F238E27FC236}">
                <a16:creationId xmlns:a16="http://schemas.microsoft.com/office/drawing/2014/main" id="{2C8033C3-4460-054F-A475-1CAC0E0FD2E6}"/>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EF5CDC9F-FF70-314F-8929-FE4A0478B7D0}"/>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C54061C5-C737-E146-9EDD-D688C2F18F65}"/>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0CDB1412-FC35-044B-9C4B-B1F6AA43DF9A}"/>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Rectangle 5">
            <a:extLst>
              <a:ext uri="{FF2B5EF4-FFF2-40B4-BE49-F238E27FC236}">
                <a16:creationId xmlns:a16="http://schemas.microsoft.com/office/drawing/2014/main" id="{4DAC9C89-A1F6-A548-91CB-4BF9331E5B29}"/>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TextBox 6">
            <a:extLst>
              <a:ext uri="{FF2B5EF4-FFF2-40B4-BE49-F238E27FC236}">
                <a16:creationId xmlns:a16="http://schemas.microsoft.com/office/drawing/2014/main" id="{4248FDAC-857A-EA41-A20A-EB03C6ECED3F}"/>
              </a:ext>
            </a:extLst>
          </p:cNvPr>
          <p:cNvSpPr txBox="1"/>
          <p:nvPr/>
        </p:nvSpPr>
        <p:spPr>
          <a:xfrm>
            <a:off x="1651000" y="355600"/>
            <a:ext cx="7112000" cy="261610"/>
          </a:xfrm>
          <a:prstGeom prst="rect">
            <a:avLst/>
          </a:prstGeom>
          <a:noFill/>
        </p:spPr>
        <p:txBody>
          <a:bodyPr vertOverflow="overflow" vert="horz" wrap="square" rtlCol="0" anchor="t">
            <a:spAutoFit/>
          </a:bodyPr>
          <a:lstStyle/>
          <a:p>
            <a:pPr>
              <a:buNone/>
            </a:pPr>
            <a:r>
              <a:rPr lang="en-US" sz="1100" b="1" cap="all" spc="20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31A6038D-9491-714C-9F6B-E15BA74118EA}"/>
              </a:ext>
            </a:extLst>
          </p:cNvPr>
          <p:cNvSpPr txBox="1"/>
          <p:nvPr/>
        </p:nvSpPr>
        <p:spPr>
          <a:xfrm>
            <a:off x="10033000" y="381000"/>
            <a:ext cx="1778000" cy="276999"/>
          </a:xfrm>
          <a:prstGeom prst="rect">
            <a:avLst/>
          </a:prstGeom>
          <a:noFill/>
        </p:spPr>
        <p:txBody>
          <a:bodyPr vertOverflow="overflow" vert="horz" wrap="square" rtlCol="0" anchor="t">
            <a:spAutoFit/>
          </a:bodyPr>
          <a:lstStyle/>
          <a:p>
            <a:pPr algn="ctr">
              <a:buNone/>
            </a:pPr>
            <a:r>
              <a:rPr lang="en-US" sz="1200" b="1" dirty="0">
                <a:solidFill>
                  <a:srgbClr val="0E4D4D"/>
                </a:solidFill>
                <a:latin typeface="BIG CASLON MEDIUM"/>
                <a:cs typeface="BIG CASLON MEDIUM"/>
              </a:rPr>
              <a:t>GROUP  5</a:t>
            </a:r>
          </a:p>
        </p:txBody>
      </p:sp>
      <p:sp>
        <p:nvSpPr>
          <p:cNvPr id="10" name="TextBox 9">
            <a:extLst>
              <a:ext uri="{FF2B5EF4-FFF2-40B4-BE49-F238E27FC236}">
                <a16:creationId xmlns:a16="http://schemas.microsoft.com/office/drawing/2014/main" id="{5AF9A129-2982-2F46-B2E3-071592DA0418}"/>
              </a:ext>
            </a:extLst>
          </p:cNvPr>
          <p:cNvSpPr txBox="1"/>
          <p:nvPr/>
        </p:nvSpPr>
        <p:spPr>
          <a:xfrm>
            <a:off x="616857" y="1422113"/>
            <a:ext cx="10922000" cy="584775"/>
          </a:xfrm>
          <a:prstGeom prst="rect">
            <a:avLst/>
          </a:prstGeom>
          <a:noFill/>
        </p:spPr>
        <p:txBody>
          <a:bodyPr vertOverflow="overflow" vert="horz" wrap="square" rtlCol="0" anchor="t">
            <a:spAutoFit/>
          </a:bodyPr>
          <a:lstStyle/>
          <a:p>
            <a:pPr>
              <a:buNone/>
            </a:pPr>
            <a:r>
              <a:rPr lang="en-US" sz="3200" b="1" i="1" dirty="0">
                <a:solidFill>
                  <a:srgbClr val="0E4D4D"/>
                </a:solidFill>
                <a:latin typeface="Playfair Display"/>
              </a:rPr>
              <a:t>Reviews Text Preprocessing Pipeline</a:t>
            </a:r>
          </a:p>
        </p:txBody>
      </p:sp>
      <p:sp>
        <p:nvSpPr>
          <p:cNvPr id="11" name="TextBox 10">
            <a:extLst>
              <a:ext uri="{FF2B5EF4-FFF2-40B4-BE49-F238E27FC236}">
                <a16:creationId xmlns:a16="http://schemas.microsoft.com/office/drawing/2014/main" id="{F48D7057-BDF6-0146-AF5F-4361C85C807D}"/>
              </a:ext>
            </a:extLst>
          </p:cNvPr>
          <p:cNvSpPr txBox="1"/>
          <p:nvPr/>
        </p:nvSpPr>
        <p:spPr>
          <a:xfrm>
            <a:off x="406400" y="6553200"/>
            <a:ext cx="6350000" cy="254000"/>
          </a:xfrm>
          <a:prstGeom prst="rect">
            <a:avLst/>
          </a:prstGeom>
          <a:noFill/>
        </p:spPr>
        <p:txBody>
          <a:bodyPr vertOverflow="overflow" vert="horz" wrap="square" rtlCol="0" anchor="t">
            <a:spAutoFit/>
          </a:bodyPr>
          <a:lstStyle/>
          <a:p>
            <a:pPr>
              <a:buNone/>
            </a:pPr>
            <a:r>
              <a:rPr lang="en-US" sz="1000" b="1" cap="all" spc="15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72CA7C14-9AD8-3E4A-BFBC-CB7CCB367BCE}"/>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buNone/>
            </a:pPr>
            <a:r>
              <a:rPr lang="en-US" sz="1000" b="1" spc="150" dirty="0">
                <a:solidFill>
                  <a:srgbClr val="E07856"/>
                </a:solidFill>
                <a:latin typeface="Big Caslon Medium"/>
              </a:rPr>
              <a:t>05 / 14</a:t>
            </a:r>
          </a:p>
        </p:txBody>
      </p:sp>
      <p:sp>
        <p:nvSpPr>
          <p:cNvPr id="16" name="TextBox 15">
            <a:extLst>
              <a:ext uri="{FF2B5EF4-FFF2-40B4-BE49-F238E27FC236}">
                <a16:creationId xmlns:a16="http://schemas.microsoft.com/office/drawing/2014/main" id="{0B02FEEC-CD03-0A4B-ACFF-BF8DF3A2F80C}"/>
              </a:ext>
            </a:extLst>
          </p:cNvPr>
          <p:cNvSpPr txBox="1"/>
          <p:nvPr/>
        </p:nvSpPr>
        <p:spPr>
          <a:xfrm>
            <a:off x="711200" y="2717800"/>
            <a:ext cx="1016000" cy="711200"/>
          </a:xfrm>
          <a:prstGeom prst="rect">
            <a:avLst/>
          </a:prstGeom>
          <a:noFill/>
        </p:spPr>
        <p:txBody>
          <a:bodyPr vertOverflow="overflow" vert="horz" wrap="square" rtlCol="0" anchor="t">
            <a:spAutoFit/>
          </a:bodyPr>
          <a:lstStyle/>
          <a:p>
            <a:pPr>
              <a:buNone/>
            </a:pPr>
            <a:r>
              <a:rPr lang="en-US" sz="4000" b="1" i="1" dirty="0">
                <a:solidFill>
                  <a:srgbClr val="E07856"/>
                </a:solidFill>
                <a:latin typeface="Playfair Display"/>
              </a:rPr>
              <a:t>01</a:t>
            </a:r>
          </a:p>
        </p:txBody>
      </p:sp>
      <p:sp>
        <p:nvSpPr>
          <p:cNvPr id="17" name="TextBox 16">
            <a:extLst>
              <a:ext uri="{FF2B5EF4-FFF2-40B4-BE49-F238E27FC236}">
                <a16:creationId xmlns:a16="http://schemas.microsoft.com/office/drawing/2014/main" id="{80D322D6-2E5C-D34D-856A-7C41146D3E4E}"/>
              </a:ext>
            </a:extLst>
          </p:cNvPr>
          <p:cNvSpPr txBox="1"/>
          <p:nvPr/>
        </p:nvSpPr>
        <p:spPr>
          <a:xfrm>
            <a:off x="863600" y="3530600"/>
            <a:ext cx="2032000" cy="292388"/>
          </a:xfrm>
          <a:prstGeom prst="rect">
            <a:avLst/>
          </a:prstGeom>
          <a:noFill/>
        </p:spPr>
        <p:txBody>
          <a:bodyPr vertOverflow="overflow" vert="horz" wrap="square" rtlCol="0" anchor="t">
            <a:spAutoFit/>
          </a:bodyPr>
          <a:lstStyle/>
          <a:p>
            <a:pPr>
              <a:buNone/>
            </a:pPr>
            <a:r>
              <a:rPr lang="en-US" sz="1300" b="1" cap="all" spc="300" dirty="0">
                <a:solidFill>
                  <a:srgbClr val="0E4D4D"/>
                </a:solidFill>
                <a:latin typeface="Big Caslon Medium"/>
              </a:rPr>
              <a:t>AGGREGATE</a:t>
            </a:r>
          </a:p>
        </p:txBody>
      </p:sp>
      <p:sp>
        <p:nvSpPr>
          <p:cNvPr id="18" name="TextBox 17">
            <a:extLst>
              <a:ext uri="{FF2B5EF4-FFF2-40B4-BE49-F238E27FC236}">
                <a16:creationId xmlns:a16="http://schemas.microsoft.com/office/drawing/2014/main" id="{71AB79A3-FA86-CE4D-AFA0-1A5B2DD01E86}"/>
              </a:ext>
            </a:extLst>
          </p:cNvPr>
          <p:cNvSpPr txBox="1"/>
          <p:nvPr/>
        </p:nvSpPr>
        <p:spPr>
          <a:xfrm>
            <a:off x="863600" y="3835400"/>
            <a:ext cx="2032000" cy="261610"/>
          </a:xfrm>
          <a:prstGeom prst="rect">
            <a:avLst/>
          </a:prstGeom>
          <a:noFill/>
        </p:spPr>
        <p:txBody>
          <a:bodyPr vertOverflow="overflow" vert="horz" wrap="square" rtlCol="0" anchor="t">
            <a:spAutoFit/>
          </a:bodyPr>
          <a:lstStyle/>
          <a:p>
            <a:pPr>
              <a:buNone/>
            </a:pPr>
            <a:r>
              <a:rPr lang="en-US" sz="1100" i="1" dirty="0">
                <a:solidFill>
                  <a:srgbClr val="E07856"/>
                </a:solidFill>
                <a:latin typeface="Playfair Display"/>
              </a:rPr>
              <a:t>Listing Level Rollup</a:t>
            </a:r>
          </a:p>
        </p:txBody>
      </p:sp>
      <p:sp>
        <p:nvSpPr>
          <p:cNvPr id="19" name="Rectangle 18">
            <a:extLst>
              <a:ext uri="{FF2B5EF4-FFF2-40B4-BE49-F238E27FC236}">
                <a16:creationId xmlns:a16="http://schemas.microsoft.com/office/drawing/2014/main" id="{A4CCD4EE-19DE-D64A-AF2D-E11B5E8D9A40}"/>
              </a:ext>
            </a:extLst>
          </p:cNvPr>
          <p:cNvSpPr/>
          <p:nvPr/>
        </p:nvSpPr>
        <p:spPr>
          <a:xfrm>
            <a:off x="863600" y="4165600"/>
            <a:ext cx="2032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0" name="TextBox 19">
            <a:extLst>
              <a:ext uri="{FF2B5EF4-FFF2-40B4-BE49-F238E27FC236}">
                <a16:creationId xmlns:a16="http://schemas.microsoft.com/office/drawing/2014/main" id="{81263DF8-4DCD-B743-81A6-EEB7113871A3}"/>
              </a:ext>
            </a:extLst>
          </p:cNvPr>
          <p:cNvSpPr txBox="1"/>
          <p:nvPr/>
        </p:nvSpPr>
        <p:spPr>
          <a:xfrm>
            <a:off x="863600" y="4292600"/>
            <a:ext cx="2032000" cy="850169"/>
          </a:xfrm>
          <a:prstGeom prst="rect">
            <a:avLst/>
          </a:prstGeom>
          <a:noFill/>
        </p:spPr>
        <p:txBody>
          <a:bodyPr vertOverflow="overflow" vert="horz" wrap="square" rtlCol="0" anchor="t">
            <a:spAutoFit/>
          </a:bodyPr>
          <a:lstStyle/>
          <a:p>
            <a:pPr>
              <a:lnSpc>
                <a:spcPts val="1500"/>
              </a:lnSpc>
              <a:buNone/>
            </a:pPr>
            <a:r>
              <a:rPr lang="en-US" sz="1100" dirty="0">
                <a:solidFill>
                  <a:srgbClr val="0E4D4D"/>
                </a:solidFill>
                <a:latin typeface="Big Caslon Medium"/>
              </a:rPr>
              <a:t>Filter to the most recent reviews per listing, then concatenate the review text into a single document for each listing.</a:t>
            </a:r>
          </a:p>
        </p:txBody>
      </p:sp>
      <p:sp>
        <p:nvSpPr>
          <p:cNvPr id="24" name="TextBox 23">
            <a:extLst>
              <a:ext uri="{FF2B5EF4-FFF2-40B4-BE49-F238E27FC236}">
                <a16:creationId xmlns:a16="http://schemas.microsoft.com/office/drawing/2014/main" id="{3487F3D6-795F-0144-93D2-094E550BD804}"/>
              </a:ext>
            </a:extLst>
          </p:cNvPr>
          <p:cNvSpPr txBox="1"/>
          <p:nvPr/>
        </p:nvSpPr>
        <p:spPr>
          <a:xfrm>
            <a:off x="3556000" y="2717800"/>
            <a:ext cx="1016000" cy="711200"/>
          </a:xfrm>
          <a:prstGeom prst="rect">
            <a:avLst/>
          </a:prstGeom>
          <a:noFill/>
        </p:spPr>
        <p:txBody>
          <a:bodyPr vertOverflow="overflow" vert="horz" wrap="square" rtlCol="0" anchor="t">
            <a:spAutoFit/>
          </a:bodyPr>
          <a:lstStyle/>
          <a:p>
            <a:pPr>
              <a:buNone/>
            </a:pPr>
            <a:r>
              <a:rPr lang="en-US" sz="4000" b="1" i="1" dirty="0">
                <a:solidFill>
                  <a:srgbClr val="E07856"/>
                </a:solidFill>
                <a:latin typeface="Playfair Display"/>
              </a:rPr>
              <a:t>02</a:t>
            </a:r>
          </a:p>
        </p:txBody>
      </p:sp>
      <p:sp>
        <p:nvSpPr>
          <p:cNvPr id="25" name="TextBox 24">
            <a:extLst>
              <a:ext uri="{FF2B5EF4-FFF2-40B4-BE49-F238E27FC236}">
                <a16:creationId xmlns:a16="http://schemas.microsoft.com/office/drawing/2014/main" id="{F38E620B-407E-2F41-8B04-FC1B1A07D20C}"/>
              </a:ext>
            </a:extLst>
          </p:cNvPr>
          <p:cNvSpPr txBox="1"/>
          <p:nvPr/>
        </p:nvSpPr>
        <p:spPr>
          <a:xfrm>
            <a:off x="3708400" y="3530600"/>
            <a:ext cx="2032000" cy="292388"/>
          </a:xfrm>
          <a:prstGeom prst="rect">
            <a:avLst/>
          </a:prstGeom>
          <a:noFill/>
        </p:spPr>
        <p:txBody>
          <a:bodyPr vertOverflow="overflow" vert="horz" wrap="square" rtlCol="0" anchor="t">
            <a:spAutoFit/>
          </a:bodyPr>
          <a:lstStyle/>
          <a:p>
            <a:pPr>
              <a:buNone/>
            </a:pPr>
            <a:r>
              <a:rPr lang="en-US" sz="1300" b="1" cap="all" spc="300" dirty="0">
                <a:solidFill>
                  <a:srgbClr val="0E4D4D"/>
                </a:solidFill>
                <a:latin typeface="Big Caslon Medium"/>
              </a:rPr>
              <a:t>CLEAN TEXT</a:t>
            </a:r>
          </a:p>
        </p:txBody>
      </p:sp>
      <p:sp>
        <p:nvSpPr>
          <p:cNvPr id="26" name="TextBox 25">
            <a:extLst>
              <a:ext uri="{FF2B5EF4-FFF2-40B4-BE49-F238E27FC236}">
                <a16:creationId xmlns:a16="http://schemas.microsoft.com/office/drawing/2014/main" id="{3FA37C1B-7E33-164B-A6BF-2C980AA99917}"/>
              </a:ext>
            </a:extLst>
          </p:cNvPr>
          <p:cNvSpPr txBox="1"/>
          <p:nvPr/>
        </p:nvSpPr>
        <p:spPr>
          <a:xfrm>
            <a:off x="3708400" y="3835400"/>
            <a:ext cx="2032000" cy="261610"/>
          </a:xfrm>
          <a:prstGeom prst="rect">
            <a:avLst/>
          </a:prstGeom>
          <a:noFill/>
        </p:spPr>
        <p:txBody>
          <a:bodyPr vertOverflow="overflow" vert="horz" wrap="square" rtlCol="0" anchor="t">
            <a:spAutoFit/>
          </a:bodyPr>
          <a:lstStyle/>
          <a:p>
            <a:pPr>
              <a:buNone/>
            </a:pPr>
            <a:r>
              <a:rPr lang="en-US" sz="1100" i="1" dirty="0">
                <a:solidFill>
                  <a:srgbClr val="E07856"/>
                </a:solidFill>
                <a:latin typeface="Playfair Display"/>
              </a:rPr>
              <a:t>Normalize &amp; Reduce</a:t>
            </a:r>
          </a:p>
        </p:txBody>
      </p:sp>
      <p:sp>
        <p:nvSpPr>
          <p:cNvPr id="27" name="Rectangle 26">
            <a:extLst>
              <a:ext uri="{FF2B5EF4-FFF2-40B4-BE49-F238E27FC236}">
                <a16:creationId xmlns:a16="http://schemas.microsoft.com/office/drawing/2014/main" id="{B711CC53-EF17-B94A-89C9-72C85C148A3F}"/>
              </a:ext>
            </a:extLst>
          </p:cNvPr>
          <p:cNvSpPr/>
          <p:nvPr/>
        </p:nvSpPr>
        <p:spPr>
          <a:xfrm>
            <a:off x="3708400" y="4165600"/>
            <a:ext cx="2032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8" name="TextBox 27">
            <a:extLst>
              <a:ext uri="{FF2B5EF4-FFF2-40B4-BE49-F238E27FC236}">
                <a16:creationId xmlns:a16="http://schemas.microsoft.com/office/drawing/2014/main" id="{53318333-9345-2148-B62D-CFFFF482F76A}"/>
              </a:ext>
            </a:extLst>
          </p:cNvPr>
          <p:cNvSpPr txBox="1"/>
          <p:nvPr/>
        </p:nvSpPr>
        <p:spPr>
          <a:xfrm>
            <a:off x="3708400" y="4292600"/>
            <a:ext cx="2032000" cy="850169"/>
          </a:xfrm>
          <a:prstGeom prst="rect">
            <a:avLst/>
          </a:prstGeom>
          <a:noFill/>
        </p:spPr>
        <p:txBody>
          <a:bodyPr vertOverflow="overflow" vert="horz" wrap="square" rtlCol="0" anchor="t">
            <a:spAutoFit/>
          </a:bodyPr>
          <a:lstStyle/>
          <a:p>
            <a:pPr>
              <a:lnSpc>
                <a:spcPts val="1500"/>
              </a:lnSpc>
              <a:buNone/>
            </a:pPr>
            <a:r>
              <a:rPr lang="en-US" sz="1100" dirty="0">
                <a:solidFill>
                  <a:srgbClr val="0E4D4D"/>
                </a:solidFill>
                <a:latin typeface="Big Caslon Medium"/>
              </a:rPr>
              <a:t>Strip URLs and non-alphabetic characters via regex, lowercase all text, tokenize, remove stopwords, then lemmatize with WordNet.</a:t>
            </a:r>
          </a:p>
        </p:txBody>
      </p:sp>
      <p:sp>
        <p:nvSpPr>
          <p:cNvPr id="32" name="TextBox 31">
            <a:extLst>
              <a:ext uri="{FF2B5EF4-FFF2-40B4-BE49-F238E27FC236}">
                <a16:creationId xmlns:a16="http://schemas.microsoft.com/office/drawing/2014/main" id="{E386FAC5-6A00-A043-A354-921F70CB3BAB}"/>
              </a:ext>
            </a:extLst>
          </p:cNvPr>
          <p:cNvSpPr txBox="1"/>
          <p:nvPr/>
        </p:nvSpPr>
        <p:spPr>
          <a:xfrm>
            <a:off x="6400800" y="2717800"/>
            <a:ext cx="1016000" cy="711200"/>
          </a:xfrm>
          <a:prstGeom prst="rect">
            <a:avLst/>
          </a:prstGeom>
          <a:noFill/>
        </p:spPr>
        <p:txBody>
          <a:bodyPr vertOverflow="overflow" vert="horz" wrap="square" rtlCol="0" anchor="t">
            <a:spAutoFit/>
          </a:bodyPr>
          <a:lstStyle/>
          <a:p>
            <a:pPr>
              <a:buNone/>
            </a:pPr>
            <a:r>
              <a:rPr lang="en-US" sz="4000" b="1" i="1" dirty="0">
                <a:solidFill>
                  <a:srgbClr val="E07856"/>
                </a:solidFill>
                <a:latin typeface="Playfair Display"/>
              </a:rPr>
              <a:t>03</a:t>
            </a:r>
          </a:p>
        </p:txBody>
      </p:sp>
      <p:sp>
        <p:nvSpPr>
          <p:cNvPr id="33" name="TextBox 32">
            <a:extLst>
              <a:ext uri="{FF2B5EF4-FFF2-40B4-BE49-F238E27FC236}">
                <a16:creationId xmlns:a16="http://schemas.microsoft.com/office/drawing/2014/main" id="{B7F770CA-E4B6-0040-90B9-CF9F877F2865}"/>
              </a:ext>
            </a:extLst>
          </p:cNvPr>
          <p:cNvSpPr txBox="1"/>
          <p:nvPr/>
        </p:nvSpPr>
        <p:spPr>
          <a:xfrm>
            <a:off x="6553200" y="3530600"/>
            <a:ext cx="2032000" cy="292388"/>
          </a:xfrm>
          <a:prstGeom prst="rect">
            <a:avLst/>
          </a:prstGeom>
          <a:noFill/>
        </p:spPr>
        <p:txBody>
          <a:bodyPr vertOverflow="overflow" vert="horz" wrap="square" rtlCol="0" anchor="t">
            <a:spAutoFit/>
          </a:bodyPr>
          <a:lstStyle/>
          <a:p>
            <a:pPr>
              <a:buNone/>
            </a:pPr>
            <a:r>
              <a:rPr lang="en-US" sz="1300" b="1" cap="all" spc="300" dirty="0">
                <a:solidFill>
                  <a:srgbClr val="0E4D4D"/>
                </a:solidFill>
                <a:latin typeface="Big Caslon Medium"/>
              </a:rPr>
              <a:t>STRIP HTML</a:t>
            </a:r>
          </a:p>
        </p:txBody>
      </p:sp>
      <p:sp>
        <p:nvSpPr>
          <p:cNvPr id="34" name="TextBox 33">
            <a:extLst>
              <a:ext uri="{FF2B5EF4-FFF2-40B4-BE49-F238E27FC236}">
                <a16:creationId xmlns:a16="http://schemas.microsoft.com/office/drawing/2014/main" id="{B1108603-9CEB-3044-8256-3039DBC39C48}"/>
              </a:ext>
            </a:extLst>
          </p:cNvPr>
          <p:cNvSpPr txBox="1"/>
          <p:nvPr/>
        </p:nvSpPr>
        <p:spPr>
          <a:xfrm>
            <a:off x="6553200" y="3835400"/>
            <a:ext cx="2032000" cy="261610"/>
          </a:xfrm>
          <a:prstGeom prst="rect">
            <a:avLst/>
          </a:prstGeom>
          <a:noFill/>
        </p:spPr>
        <p:txBody>
          <a:bodyPr vertOverflow="overflow" vert="horz" wrap="square" rtlCol="0" anchor="t">
            <a:spAutoFit/>
          </a:bodyPr>
          <a:lstStyle/>
          <a:p>
            <a:pPr>
              <a:buNone/>
            </a:pPr>
            <a:r>
              <a:rPr lang="en-US" sz="1100" i="1" dirty="0">
                <a:solidFill>
                  <a:srgbClr val="E07856"/>
                </a:solidFill>
                <a:latin typeface="Playfair Display"/>
              </a:rPr>
              <a:t>Markup Removal</a:t>
            </a:r>
          </a:p>
        </p:txBody>
      </p:sp>
      <p:sp>
        <p:nvSpPr>
          <p:cNvPr id="35" name="Rectangle 34">
            <a:extLst>
              <a:ext uri="{FF2B5EF4-FFF2-40B4-BE49-F238E27FC236}">
                <a16:creationId xmlns:a16="http://schemas.microsoft.com/office/drawing/2014/main" id="{B111E8FF-9233-0B41-AC44-6CDEB6E826FA}"/>
              </a:ext>
            </a:extLst>
          </p:cNvPr>
          <p:cNvSpPr/>
          <p:nvPr/>
        </p:nvSpPr>
        <p:spPr>
          <a:xfrm>
            <a:off x="6553200" y="4165600"/>
            <a:ext cx="2032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6" name="TextBox 35">
            <a:extLst>
              <a:ext uri="{FF2B5EF4-FFF2-40B4-BE49-F238E27FC236}">
                <a16:creationId xmlns:a16="http://schemas.microsoft.com/office/drawing/2014/main" id="{32B45379-2CAA-EC4B-89E0-D62E5A9528EC}"/>
              </a:ext>
            </a:extLst>
          </p:cNvPr>
          <p:cNvSpPr txBox="1"/>
          <p:nvPr/>
        </p:nvSpPr>
        <p:spPr>
          <a:xfrm>
            <a:off x="6553200" y="4292600"/>
            <a:ext cx="2032000" cy="1042529"/>
          </a:xfrm>
          <a:prstGeom prst="rect">
            <a:avLst/>
          </a:prstGeom>
          <a:noFill/>
        </p:spPr>
        <p:txBody>
          <a:bodyPr vertOverflow="overflow" vert="horz" wrap="square" rtlCol="0" anchor="t">
            <a:spAutoFit/>
          </a:bodyPr>
          <a:lstStyle/>
          <a:p>
            <a:pPr>
              <a:lnSpc>
                <a:spcPts val="1500"/>
              </a:lnSpc>
              <a:buNone/>
            </a:pPr>
            <a:r>
              <a:rPr lang="en-US" sz="1100" dirty="0">
                <a:solidFill>
                  <a:srgbClr val="0E4D4D"/>
                </a:solidFill>
                <a:latin typeface="Big Caslon Medium"/>
              </a:rPr>
              <a:t>Decode HTML entities with html.unescape, then parse and remove residual tags using BeautifulSoup with the html.parser backend.</a:t>
            </a:r>
          </a:p>
        </p:txBody>
      </p:sp>
      <p:sp>
        <p:nvSpPr>
          <p:cNvPr id="40" name="TextBox 39">
            <a:extLst>
              <a:ext uri="{FF2B5EF4-FFF2-40B4-BE49-F238E27FC236}">
                <a16:creationId xmlns:a16="http://schemas.microsoft.com/office/drawing/2014/main" id="{25079291-A22B-934D-AD1D-891561010FD6}"/>
              </a:ext>
            </a:extLst>
          </p:cNvPr>
          <p:cNvSpPr txBox="1"/>
          <p:nvPr/>
        </p:nvSpPr>
        <p:spPr>
          <a:xfrm>
            <a:off x="9245600" y="2717800"/>
            <a:ext cx="1016000" cy="711200"/>
          </a:xfrm>
          <a:prstGeom prst="rect">
            <a:avLst/>
          </a:prstGeom>
          <a:noFill/>
        </p:spPr>
        <p:txBody>
          <a:bodyPr vertOverflow="overflow" vert="horz" wrap="square" rtlCol="0" anchor="t">
            <a:spAutoFit/>
          </a:bodyPr>
          <a:lstStyle/>
          <a:p>
            <a:pPr>
              <a:buNone/>
            </a:pPr>
            <a:r>
              <a:rPr lang="en-US" sz="4000" b="1" i="1" dirty="0">
                <a:solidFill>
                  <a:srgbClr val="E07856"/>
                </a:solidFill>
                <a:latin typeface="Playfair Display"/>
              </a:rPr>
              <a:t>04</a:t>
            </a:r>
          </a:p>
        </p:txBody>
      </p:sp>
      <p:sp>
        <p:nvSpPr>
          <p:cNvPr id="41" name="TextBox 40">
            <a:extLst>
              <a:ext uri="{FF2B5EF4-FFF2-40B4-BE49-F238E27FC236}">
                <a16:creationId xmlns:a16="http://schemas.microsoft.com/office/drawing/2014/main" id="{DD2AC08F-C5EA-6E4C-88CE-1B677DC79A83}"/>
              </a:ext>
            </a:extLst>
          </p:cNvPr>
          <p:cNvSpPr txBox="1"/>
          <p:nvPr/>
        </p:nvSpPr>
        <p:spPr>
          <a:xfrm>
            <a:off x="9398000" y="3530600"/>
            <a:ext cx="2032000" cy="292388"/>
          </a:xfrm>
          <a:prstGeom prst="rect">
            <a:avLst/>
          </a:prstGeom>
          <a:noFill/>
        </p:spPr>
        <p:txBody>
          <a:bodyPr vertOverflow="overflow" vert="horz" wrap="square" rtlCol="0" anchor="t">
            <a:spAutoFit/>
          </a:bodyPr>
          <a:lstStyle/>
          <a:p>
            <a:pPr>
              <a:buNone/>
            </a:pPr>
            <a:r>
              <a:rPr lang="en-US" sz="1300" b="1" cap="all" spc="300" dirty="0">
                <a:solidFill>
                  <a:srgbClr val="0E4D4D"/>
                </a:solidFill>
                <a:latin typeface="Big Caslon Medium"/>
              </a:rPr>
              <a:t>LANGUAGE</a:t>
            </a:r>
          </a:p>
        </p:txBody>
      </p:sp>
      <p:sp>
        <p:nvSpPr>
          <p:cNvPr id="42" name="TextBox 41">
            <a:extLst>
              <a:ext uri="{FF2B5EF4-FFF2-40B4-BE49-F238E27FC236}">
                <a16:creationId xmlns:a16="http://schemas.microsoft.com/office/drawing/2014/main" id="{3BBB1661-59C7-C547-8FF7-5CCC5C1F54C5}"/>
              </a:ext>
            </a:extLst>
          </p:cNvPr>
          <p:cNvSpPr txBox="1"/>
          <p:nvPr/>
        </p:nvSpPr>
        <p:spPr>
          <a:xfrm>
            <a:off x="9398000" y="3835400"/>
            <a:ext cx="2032000" cy="261610"/>
          </a:xfrm>
          <a:prstGeom prst="rect">
            <a:avLst/>
          </a:prstGeom>
          <a:noFill/>
        </p:spPr>
        <p:txBody>
          <a:bodyPr vertOverflow="overflow" vert="horz" wrap="square" rtlCol="0" anchor="t">
            <a:spAutoFit/>
          </a:bodyPr>
          <a:lstStyle/>
          <a:p>
            <a:pPr>
              <a:buNone/>
            </a:pPr>
            <a:r>
              <a:rPr lang="en-US" sz="1100" i="1" dirty="0">
                <a:solidFill>
                  <a:srgbClr val="E07856"/>
                </a:solidFill>
                <a:latin typeface="Playfair Display"/>
              </a:rPr>
              <a:t>English Only</a:t>
            </a:r>
          </a:p>
        </p:txBody>
      </p:sp>
      <p:sp>
        <p:nvSpPr>
          <p:cNvPr id="43" name="Rectangle 42">
            <a:extLst>
              <a:ext uri="{FF2B5EF4-FFF2-40B4-BE49-F238E27FC236}">
                <a16:creationId xmlns:a16="http://schemas.microsoft.com/office/drawing/2014/main" id="{C7E110DC-C3E5-5449-8204-7F1A645981E8}"/>
              </a:ext>
            </a:extLst>
          </p:cNvPr>
          <p:cNvSpPr/>
          <p:nvPr/>
        </p:nvSpPr>
        <p:spPr>
          <a:xfrm>
            <a:off x="9398000" y="4165600"/>
            <a:ext cx="2032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4" name="TextBox 43">
            <a:extLst>
              <a:ext uri="{FF2B5EF4-FFF2-40B4-BE49-F238E27FC236}">
                <a16:creationId xmlns:a16="http://schemas.microsoft.com/office/drawing/2014/main" id="{3E9F7D6D-F175-4E44-9029-13BC220CCA41}"/>
              </a:ext>
            </a:extLst>
          </p:cNvPr>
          <p:cNvSpPr txBox="1"/>
          <p:nvPr/>
        </p:nvSpPr>
        <p:spPr>
          <a:xfrm>
            <a:off x="9398000" y="4292600"/>
            <a:ext cx="2032000" cy="1042529"/>
          </a:xfrm>
          <a:prstGeom prst="rect">
            <a:avLst/>
          </a:prstGeom>
          <a:noFill/>
        </p:spPr>
        <p:txBody>
          <a:bodyPr vertOverflow="overflow" vert="horz" wrap="square" rtlCol="0" anchor="t">
            <a:spAutoFit/>
          </a:bodyPr>
          <a:lstStyle/>
          <a:p>
            <a:pPr>
              <a:lnSpc>
                <a:spcPts val="1500"/>
              </a:lnSpc>
              <a:buNone/>
            </a:pPr>
            <a:r>
              <a:rPr lang="en-US" sz="1100" dirty="0">
                <a:solidFill>
                  <a:srgbClr val="0E4D4D"/>
                </a:solidFill>
                <a:latin typeface="Big Caslon Medium"/>
              </a:rPr>
              <a:t>Detect language with the Hugging Face xlm‑roberta‑base model and retain only English reviews for downstream NLP tasks.</a:t>
            </a:r>
          </a:p>
        </p:txBody>
      </p:sp>
      <p:sp>
        <p:nvSpPr>
          <p:cNvPr id="45" name="Right Arrow 44">
            <a:extLst>
              <a:ext uri="{FF2B5EF4-FFF2-40B4-BE49-F238E27FC236}">
                <a16:creationId xmlns:a16="http://schemas.microsoft.com/office/drawing/2014/main" id="{4EBC5850-EDFE-4D4F-A7EA-0295BE3CC153}"/>
              </a:ext>
            </a:extLst>
          </p:cNvPr>
          <p:cNvSpPr/>
          <p:nvPr/>
        </p:nvSpPr>
        <p:spPr>
          <a:xfrm>
            <a:off x="3124200" y="3962400"/>
            <a:ext cx="203200" cy="177800"/>
          </a:xfrm>
          <a:prstGeom prst="rightArrow">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6" name="Right Arrow 45">
            <a:extLst>
              <a:ext uri="{FF2B5EF4-FFF2-40B4-BE49-F238E27FC236}">
                <a16:creationId xmlns:a16="http://schemas.microsoft.com/office/drawing/2014/main" id="{87DCF7C7-9563-9E4B-97AF-B867CB996AC2}"/>
              </a:ext>
            </a:extLst>
          </p:cNvPr>
          <p:cNvSpPr/>
          <p:nvPr/>
        </p:nvSpPr>
        <p:spPr>
          <a:xfrm>
            <a:off x="5969000" y="3962400"/>
            <a:ext cx="203200" cy="177800"/>
          </a:xfrm>
          <a:prstGeom prst="rightArrow">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7" name="Right Arrow 46">
            <a:extLst>
              <a:ext uri="{FF2B5EF4-FFF2-40B4-BE49-F238E27FC236}">
                <a16:creationId xmlns:a16="http://schemas.microsoft.com/office/drawing/2014/main" id="{F2743EA5-75F8-5C4D-A4D9-9C116B4F6F9B}"/>
              </a:ext>
            </a:extLst>
          </p:cNvPr>
          <p:cNvSpPr/>
          <p:nvPr/>
        </p:nvSpPr>
        <p:spPr>
          <a:xfrm>
            <a:off x="8813800" y="3962400"/>
            <a:ext cx="203200" cy="177800"/>
          </a:xfrm>
          <a:prstGeom prst="rightArrow">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8" name="Rectangle 47">
            <a:extLst>
              <a:ext uri="{FF2B5EF4-FFF2-40B4-BE49-F238E27FC236}">
                <a16:creationId xmlns:a16="http://schemas.microsoft.com/office/drawing/2014/main" id="{1F6603DE-8DEA-CF45-AFE6-B831CC0E33C0}"/>
              </a:ext>
            </a:extLst>
          </p:cNvPr>
          <p:cNvSpPr/>
          <p:nvPr/>
        </p:nvSpPr>
        <p:spPr>
          <a:xfrm>
            <a:off x="558800" y="5994400"/>
            <a:ext cx="11074400" cy="3556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9" name="TextBox 48">
            <a:extLst>
              <a:ext uri="{FF2B5EF4-FFF2-40B4-BE49-F238E27FC236}">
                <a16:creationId xmlns:a16="http://schemas.microsoft.com/office/drawing/2014/main" id="{45765A99-9650-3546-BBC1-78D889D3B7D1}"/>
              </a:ext>
            </a:extLst>
          </p:cNvPr>
          <p:cNvSpPr txBox="1"/>
          <p:nvPr/>
        </p:nvSpPr>
        <p:spPr>
          <a:xfrm>
            <a:off x="711200" y="6045200"/>
            <a:ext cx="10795000" cy="230832"/>
          </a:xfrm>
          <a:prstGeom prst="rect">
            <a:avLst/>
          </a:prstGeom>
          <a:noFill/>
        </p:spPr>
        <p:txBody>
          <a:bodyPr vertOverflow="overflow" vert="horz" wrap="square" rtlCol="0" anchor="t">
            <a:spAutoFit/>
          </a:bodyPr>
          <a:lstStyle/>
          <a:p>
            <a:pPr algn="ctr">
              <a:buNone/>
            </a:pPr>
            <a:r>
              <a:rPr lang="en-US" sz="900" b="1" cap="all" spc="150" dirty="0">
                <a:solidFill>
                  <a:srgbClr val="F7F1E8"/>
                </a:solidFill>
                <a:latin typeface="Big Caslon Medium"/>
              </a:rPr>
              <a:t>CLEAN, ENGLISH ONLY LISTING DOCUMENTS, READY FOR SENTIMENT, ZERO SHOT, AND TOPIC MODELING</a:t>
            </a:r>
          </a:p>
        </p:txBody>
      </p:sp>
      <p:sp>
        <p:nvSpPr>
          <p:cNvPr id="50" name="Rectangle 49">
            <a:extLst>
              <a:ext uri="{FF2B5EF4-FFF2-40B4-BE49-F238E27FC236}">
                <a16:creationId xmlns:a16="http://schemas.microsoft.com/office/drawing/2014/main" id="{93873898-0A51-B645-ADEE-A0418C9296BF}"/>
              </a:ext>
            </a:extLst>
          </p:cNvPr>
          <p:cNvSpPr/>
          <p:nvPr/>
        </p:nvSpPr>
        <p:spPr>
          <a:xfrm>
            <a:off x="736600" y="2768600"/>
            <a:ext cx="38100" cy="27178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1" name="Rectangle 50">
            <a:extLst>
              <a:ext uri="{FF2B5EF4-FFF2-40B4-BE49-F238E27FC236}">
                <a16:creationId xmlns:a16="http://schemas.microsoft.com/office/drawing/2014/main" id="{35BB7464-654F-2E4D-9045-C5D9AA812ACF}"/>
              </a:ext>
            </a:extLst>
          </p:cNvPr>
          <p:cNvSpPr/>
          <p:nvPr/>
        </p:nvSpPr>
        <p:spPr>
          <a:xfrm>
            <a:off x="3581400" y="2768600"/>
            <a:ext cx="38100" cy="27178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2" name="Rectangle 51">
            <a:extLst>
              <a:ext uri="{FF2B5EF4-FFF2-40B4-BE49-F238E27FC236}">
                <a16:creationId xmlns:a16="http://schemas.microsoft.com/office/drawing/2014/main" id="{D5F33335-C386-8E4F-A5C5-35CF3CFFBB0C}"/>
              </a:ext>
            </a:extLst>
          </p:cNvPr>
          <p:cNvSpPr/>
          <p:nvPr/>
        </p:nvSpPr>
        <p:spPr>
          <a:xfrm>
            <a:off x="6426200" y="2768600"/>
            <a:ext cx="38100" cy="27178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3" name="Rectangle 52">
            <a:extLst>
              <a:ext uri="{FF2B5EF4-FFF2-40B4-BE49-F238E27FC236}">
                <a16:creationId xmlns:a16="http://schemas.microsoft.com/office/drawing/2014/main" id="{1207C85C-90BF-CC4E-ABCE-99A76B1366C3}"/>
              </a:ext>
            </a:extLst>
          </p:cNvPr>
          <p:cNvSpPr/>
          <p:nvPr/>
        </p:nvSpPr>
        <p:spPr>
          <a:xfrm>
            <a:off x="9271000" y="2768600"/>
            <a:ext cx="38100" cy="27178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pic>
        <p:nvPicPr>
          <p:cNvPr id="54" name="Picture 53">
            <a:extLst>
              <a:ext uri="{FF2B5EF4-FFF2-40B4-BE49-F238E27FC236}">
                <a16:creationId xmlns:a16="http://schemas.microsoft.com/office/drawing/2014/main" id="{79350C28-6CB4-50BF-3305-1DF29D0CF11B}"/>
              </a:ext>
            </a:extLst>
          </p:cNvPr>
          <p:cNvPicPr>
            <a:picLocks noChangeAspect="1"/>
          </p:cNvPicPr>
          <p:nvPr/>
        </p:nvPicPr>
        <p:blipFill>
          <a:blip r:embed="rId2"/>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1726313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6860C63A-E702-4341-9E35-A62939D662FC}"/>
              </a:ext>
            </a:extLst>
          </p:cNvPr>
          <p:cNvSpPr/>
          <p:nvPr/>
        </p:nvSpPr>
        <p:spPr>
          <a:xfrm>
            <a:off x="6248400" y="4432300"/>
            <a:ext cx="533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7" name="Rounded Rectangle 26">
            <a:extLst>
              <a:ext uri="{FF2B5EF4-FFF2-40B4-BE49-F238E27FC236}">
                <a16:creationId xmlns:a16="http://schemas.microsoft.com/office/drawing/2014/main" id="{604F5644-A44B-734C-8668-A50CCBBE27AF}"/>
              </a:ext>
            </a:extLst>
          </p:cNvPr>
          <p:cNvSpPr/>
          <p:nvPr/>
        </p:nvSpPr>
        <p:spPr>
          <a:xfrm>
            <a:off x="609600" y="4432300"/>
            <a:ext cx="533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0" name="Rounded Rectangle 19">
            <a:extLst>
              <a:ext uri="{FF2B5EF4-FFF2-40B4-BE49-F238E27FC236}">
                <a16:creationId xmlns:a16="http://schemas.microsoft.com/office/drawing/2014/main" id="{6030DC0C-4A52-ED4C-9A41-1FE47E26D177}"/>
              </a:ext>
            </a:extLst>
          </p:cNvPr>
          <p:cNvSpPr/>
          <p:nvPr/>
        </p:nvSpPr>
        <p:spPr>
          <a:xfrm>
            <a:off x="6248400" y="2413000"/>
            <a:ext cx="533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3" name="Rounded Rectangle 12">
            <a:extLst>
              <a:ext uri="{FF2B5EF4-FFF2-40B4-BE49-F238E27FC236}">
                <a16:creationId xmlns:a16="http://schemas.microsoft.com/office/drawing/2014/main" id="{2C5CC9FF-1D70-0740-B1CC-56C747435DA8}"/>
              </a:ext>
            </a:extLst>
          </p:cNvPr>
          <p:cNvSpPr/>
          <p:nvPr/>
        </p:nvSpPr>
        <p:spPr>
          <a:xfrm>
            <a:off x="609600" y="2413000"/>
            <a:ext cx="533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 name="Rectangle 1">
            <a:extLst>
              <a:ext uri="{FF2B5EF4-FFF2-40B4-BE49-F238E27FC236}">
                <a16:creationId xmlns:a16="http://schemas.microsoft.com/office/drawing/2014/main" id="{A051A0F6-B8BC-904B-A665-46422637E7FA}"/>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DA34021F-AD26-CF4C-82F1-AC5B01063C16}"/>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029767A1-A326-7B47-9AAB-72B8D4333669}"/>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F395E130-67E5-0846-8BF6-56200FC9C07E}"/>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Rectangle 5">
            <a:extLst>
              <a:ext uri="{FF2B5EF4-FFF2-40B4-BE49-F238E27FC236}">
                <a16:creationId xmlns:a16="http://schemas.microsoft.com/office/drawing/2014/main" id="{6D2ACF02-1168-C94C-A557-CC291C55FBAC}"/>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TextBox 6">
            <a:extLst>
              <a:ext uri="{FF2B5EF4-FFF2-40B4-BE49-F238E27FC236}">
                <a16:creationId xmlns:a16="http://schemas.microsoft.com/office/drawing/2014/main" id="{D22E96E7-FE32-4441-80D6-0D5CC660E840}"/>
              </a:ext>
            </a:extLst>
          </p:cNvPr>
          <p:cNvSpPr txBox="1"/>
          <p:nvPr/>
        </p:nvSpPr>
        <p:spPr>
          <a:xfrm>
            <a:off x="1651000" y="355600"/>
            <a:ext cx="7112000" cy="276999"/>
          </a:xfrm>
          <a:prstGeom prst="rect">
            <a:avLst/>
          </a:prstGeom>
          <a:noFill/>
        </p:spPr>
        <p:txBody>
          <a:bodyPr vertOverflow="overflow" vert="horz" wrap="square" rtlCol="0" anchor="t">
            <a:spAutoFit/>
          </a:bodyPr>
          <a:lstStyle/>
          <a:p>
            <a:pPr algn="l">
              <a:buNone/>
            </a:pPr>
            <a:r>
              <a:rPr lang="en-US" sz="1200" b="1" spc="15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D4B79FD6-3F31-DF49-9E7F-1946D3FBF6CD}"/>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81F43E9D-C976-EA4F-A3A1-FB9D6F677DB7}"/>
              </a:ext>
            </a:extLst>
          </p:cNvPr>
          <p:cNvSpPr txBox="1"/>
          <p:nvPr/>
        </p:nvSpPr>
        <p:spPr>
          <a:xfrm>
            <a:off x="711200" y="1270000"/>
            <a:ext cx="7620000" cy="261610"/>
          </a:xfrm>
          <a:prstGeom prst="rect">
            <a:avLst/>
          </a:prstGeom>
          <a:noFill/>
        </p:spPr>
        <p:txBody>
          <a:bodyPr vertOverflow="overflow" vert="horz" wrap="square" rtlCol="0" anchor="t">
            <a:spAutoFit/>
          </a:bodyPr>
          <a:lstStyle/>
          <a:p>
            <a:pPr algn="l">
              <a:buNone/>
            </a:pPr>
            <a:r>
              <a:rPr lang="en-US" sz="1100" b="1" spc="200" dirty="0">
                <a:solidFill>
                  <a:srgbClr val="E07856"/>
                </a:solidFill>
                <a:latin typeface="Big Caslon Medium"/>
              </a:rPr>
              <a:t>NLP   ·   SENTIMENT ANALYSIS</a:t>
            </a:r>
          </a:p>
        </p:txBody>
      </p:sp>
      <p:sp>
        <p:nvSpPr>
          <p:cNvPr id="10" name="TextBox 9">
            <a:extLst>
              <a:ext uri="{FF2B5EF4-FFF2-40B4-BE49-F238E27FC236}">
                <a16:creationId xmlns:a16="http://schemas.microsoft.com/office/drawing/2014/main" id="{CAC122CB-5F82-EB4A-ADB6-A4C5FF8DE6F6}"/>
              </a:ext>
            </a:extLst>
          </p:cNvPr>
          <p:cNvSpPr txBox="1"/>
          <p:nvPr/>
        </p:nvSpPr>
        <p:spPr>
          <a:xfrm>
            <a:off x="635000" y="1498600"/>
            <a:ext cx="10922000" cy="584775"/>
          </a:xfrm>
          <a:prstGeom prst="rect">
            <a:avLst/>
          </a:prstGeom>
          <a:noFill/>
        </p:spPr>
        <p:txBody>
          <a:bodyPr vertOverflow="overflow" vert="horz" wrap="square" rtlCol="0" anchor="t">
            <a:spAutoFit/>
          </a:bodyPr>
          <a:lstStyle/>
          <a:p>
            <a:pPr algn="l">
              <a:buNone/>
            </a:pPr>
            <a:r>
              <a:rPr lang="en-US" sz="3200" b="1" i="1" dirty="0">
                <a:solidFill>
                  <a:srgbClr val="0E4D4D"/>
                </a:solidFill>
                <a:latin typeface="Playfair Display"/>
              </a:rPr>
              <a:t>Sentiment Analysis: VADER &amp; Hugging Face</a:t>
            </a:r>
          </a:p>
        </p:txBody>
      </p:sp>
      <p:sp>
        <p:nvSpPr>
          <p:cNvPr id="11" name="TextBox 10">
            <a:extLst>
              <a:ext uri="{FF2B5EF4-FFF2-40B4-BE49-F238E27FC236}">
                <a16:creationId xmlns:a16="http://schemas.microsoft.com/office/drawing/2014/main" id="{A28FF6BC-E278-F744-B925-AFB2835A2557}"/>
              </a:ext>
            </a:extLst>
          </p:cNvPr>
          <p:cNvSpPr txBox="1"/>
          <p:nvPr/>
        </p:nvSpPr>
        <p:spPr>
          <a:xfrm>
            <a:off x="406400" y="6553200"/>
            <a:ext cx="6350000" cy="254000"/>
          </a:xfrm>
          <a:prstGeom prst="rect">
            <a:avLst/>
          </a:prstGeom>
          <a:noFill/>
        </p:spPr>
        <p:txBody>
          <a:bodyPr vertOverflow="overflow" vert="horz" wrap="square" rtlCol="0" anchor="t">
            <a:spAutoFit/>
          </a:bodyPr>
          <a:lstStyle/>
          <a:p>
            <a:pPr algn="l">
              <a:buNone/>
            </a:pPr>
            <a:r>
              <a:rPr lang="en-US" sz="1000" b="1" spc="15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D95983C6-FCD5-2443-9EA5-973C2A2C3AC0}"/>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buNone/>
            </a:pPr>
            <a:r>
              <a:rPr lang="en-US" sz="1000" b="1" spc="150" dirty="0">
                <a:solidFill>
                  <a:srgbClr val="E07856"/>
                </a:solidFill>
                <a:latin typeface="Big Caslon Medium"/>
              </a:rPr>
              <a:t>06 / 14</a:t>
            </a:r>
          </a:p>
        </p:txBody>
      </p:sp>
      <p:sp>
        <p:nvSpPr>
          <p:cNvPr id="14" name="Rectangle 13">
            <a:extLst>
              <a:ext uri="{FF2B5EF4-FFF2-40B4-BE49-F238E27FC236}">
                <a16:creationId xmlns:a16="http://schemas.microsoft.com/office/drawing/2014/main" id="{54345F4C-7B95-C743-B0E1-6919D899BF48}"/>
              </a:ext>
            </a:extLst>
          </p:cNvPr>
          <p:cNvSpPr/>
          <p:nvPr/>
        </p:nvSpPr>
        <p:spPr>
          <a:xfrm>
            <a:off x="787400" y="2641600"/>
            <a:ext cx="38100" cy="13843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5" name="TextBox 14">
            <a:extLst>
              <a:ext uri="{FF2B5EF4-FFF2-40B4-BE49-F238E27FC236}">
                <a16:creationId xmlns:a16="http://schemas.microsoft.com/office/drawing/2014/main" id="{45D95FC7-9E1B-A248-8360-9B8252C15AF1}"/>
              </a:ext>
            </a:extLst>
          </p:cNvPr>
          <p:cNvSpPr txBox="1"/>
          <p:nvPr/>
        </p:nvSpPr>
        <p:spPr>
          <a:xfrm>
            <a:off x="965200" y="2616200"/>
            <a:ext cx="762000" cy="584775"/>
          </a:xfrm>
          <a:prstGeom prst="rect">
            <a:avLst/>
          </a:prstGeom>
          <a:noFill/>
        </p:spPr>
        <p:txBody>
          <a:bodyPr vertOverflow="overflow" vert="horz" wrap="square" rtlCol="0" anchor="t">
            <a:spAutoFit/>
          </a:bodyPr>
          <a:lstStyle/>
          <a:p>
            <a:pPr algn="l">
              <a:buNone/>
            </a:pPr>
            <a:r>
              <a:rPr lang="en-US" sz="3200" b="1" i="1" dirty="0">
                <a:solidFill>
                  <a:srgbClr val="E07856"/>
                </a:solidFill>
                <a:latin typeface="Playfair Display"/>
              </a:rPr>
              <a:t>01</a:t>
            </a:r>
          </a:p>
        </p:txBody>
      </p:sp>
      <p:sp>
        <p:nvSpPr>
          <p:cNvPr id="16" name="TextBox 15">
            <a:extLst>
              <a:ext uri="{FF2B5EF4-FFF2-40B4-BE49-F238E27FC236}">
                <a16:creationId xmlns:a16="http://schemas.microsoft.com/office/drawing/2014/main" id="{72DCDF79-118F-6A41-B424-6B2A5A3578E9}"/>
              </a:ext>
            </a:extLst>
          </p:cNvPr>
          <p:cNvSpPr txBox="1"/>
          <p:nvPr/>
        </p:nvSpPr>
        <p:spPr>
          <a:xfrm>
            <a:off x="1778000" y="2692400"/>
            <a:ext cx="3937000" cy="228600"/>
          </a:xfrm>
          <a:prstGeom prst="rect">
            <a:avLst/>
          </a:prstGeom>
          <a:noFill/>
        </p:spPr>
        <p:txBody>
          <a:bodyPr vertOverflow="overflow" vert="horz" wrap="square" rtlCol="0" anchor="t">
            <a:spAutoFit/>
          </a:bodyPr>
          <a:lstStyle/>
          <a:p>
            <a:pPr algn="l">
              <a:buNone/>
            </a:pPr>
            <a:r>
              <a:rPr lang="en-US" sz="900" b="1" spc="200" dirty="0">
                <a:solidFill>
                  <a:srgbClr val="E07856"/>
                </a:solidFill>
                <a:latin typeface="Big Caslon Medium"/>
              </a:rPr>
              <a:t>VADER   ·   LEXICON BASED</a:t>
            </a:r>
          </a:p>
        </p:txBody>
      </p:sp>
      <p:sp>
        <p:nvSpPr>
          <p:cNvPr id="17" name="TextBox 16">
            <a:extLst>
              <a:ext uri="{FF2B5EF4-FFF2-40B4-BE49-F238E27FC236}">
                <a16:creationId xmlns:a16="http://schemas.microsoft.com/office/drawing/2014/main" id="{F218D59E-D4B9-D744-94E8-2D42B2D24FF4}"/>
              </a:ext>
            </a:extLst>
          </p:cNvPr>
          <p:cNvSpPr txBox="1"/>
          <p:nvPr/>
        </p:nvSpPr>
        <p:spPr>
          <a:xfrm>
            <a:off x="1778000" y="2971800"/>
            <a:ext cx="3937000" cy="330200"/>
          </a:xfrm>
          <a:prstGeom prst="rect">
            <a:avLst/>
          </a:prstGeom>
          <a:noFill/>
        </p:spPr>
        <p:txBody>
          <a:bodyPr vertOverflow="overflow" vert="horz" wrap="square" rtlCol="0" anchor="t">
            <a:spAutoFit/>
          </a:bodyPr>
          <a:lstStyle/>
          <a:p>
            <a:pPr algn="l">
              <a:buNone/>
            </a:pPr>
            <a:r>
              <a:rPr lang="en-US" sz="1500" b="1" i="1" dirty="0">
                <a:solidFill>
                  <a:srgbClr val="0E4D4D"/>
                </a:solidFill>
                <a:latin typeface="Playfair Display"/>
              </a:rPr>
              <a:t>Method &amp; Variables</a:t>
            </a:r>
          </a:p>
        </p:txBody>
      </p:sp>
      <p:sp>
        <p:nvSpPr>
          <p:cNvPr id="18" name="Rectangle 17">
            <a:extLst>
              <a:ext uri="{FF2B5EF4-FFF2-40B4-BE49-F238E27FC236}">
                <a16:creationId xmlns:a16="http://schemas.microsoft.com/office/drawing/2014/main" id="{F5C31087-E45F-B547-BDD1-482B47952FBF}"/>
              </a:ext>
            </a:extLst>
          </p:cNvPr>
          <p:cNvSpPr/>
          <p:nvPr/>
        </p:nvSpPr>
        <p:spPr>
          <a:xfrm>
            <a:off x="1778000" y="3378200"/>
            <a:ext cx="3937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9" name="TextBox 18">
            <a:extLst>
              <a:ext uri="{FF2B5EF4-FFF2-40B4-BE49-F238E27FC236}">
                <a16:creationId xmlns:a16="http://schemas.microsoft.com/office/drawing/2014/main" id="{B410BFEB-CA57-E441-A798-254F947403C1}"/>
              </a:ext>
            </a:extLst>
          </p:cNvPr>
          <p:cNvSpPr txBox="1"/>
          <p:nvPr/>
        </p:nvSpPr>
        <p:spPr>
          <a:xfrm>
            <a:off x="1778000" y="3479800"/>
            <a:ext cx="3937000" cy="798808"/>
          </a:xfrm>
          <a:prstGeom prst="rect">
            <a:avLst/>
          </a:prstGeom>
          <a:noFill/>
        </p:spPr>
        <p:txBody>
          <a:bodyPr vertOverflow="overflow" vert="horz" wrap="square" rtlCol="0" anchor="t">
            <a:spAutoFit/>
          </a:bodyPr>
          <a:lstStyle/>
          <a:p>
            <a:pPr algn="l">
              <a:lnSpc>
                <a:spcPts val="1400"/>
              </a:lnSpc>
              <a:buNone/>
            </a:pPr>
            <a:r>
              <a:rPr lang="en-US" sz="1000" dirty="0">
                <a:solidFill>
                  <a:srgbClr val="0E4D4D"/>
                </a:solidFill>
                <a:latin typeface="Big Caslon Medium"/>
              </a:rPr>
              <a:t>SentimentIntensityAnalyzer applied to each listing's aggregated review text. Returns four scores per listing: compound, positive, neutral, negative. Compound ≥ 0.5 → POSITIVE, ≤ −0.5 → NEGATIVE, else NEUTRAL.</a:t>
            </a:r>
          </a:p>
        </p:txBody>
      </p:sp>
      <p:sp>
        <p:nvSpPr>
          <p:cNvPr id="21" name="Rectangle 20">
            <a:extLst>
              <a:ext uri="{FF2B5EF4-FFF2-40B4-BE49-F238E27FC236}">
                <a16:creationId xmlns:a16="http://schemas.microsoft.com/office/drawing/2014/main" id="{9E0BD7AA-D7EF-7D44-9A32-0E451C9794CE}"/>
              </a:ext>
            </a:extLst>
          </p:cNvPr>
          <p:cNvSpPr/>
          <p:nvPr/>
        </p:nvSpPr>
        <p:spPr>
          <a:xfrm>
            <a:off x="6426200" y="2641600"/>
            <a:ext cx="38100" cy="13843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2" name="TextBox 21">
            <a:extLst>
              <a:ext uri="{FF2B5EF4-FFF2-40B4-BE49-F238E27FC236}">
                <a16:creationId xmlns:a16="http://schemas.microsoft.com/office/drawing/2014/main" id="{593798AB-1487-514F-98AE-5551243BB5B0}"/>
              </a:ext>
            </a:extLst>
          </p:cNvPr>
          <p:cNvSpPr txBox="1"/>
          <p:nvPr/>
        </p:nvSpPr>
        <p:spPr>
          <a:xfrm>
            <a:off x="6604000" y="2616200"/>
            <a:ext cx="762000" cy="584775"/>
          </a:xfrm>
          <a:prstGeom prst="rect">
            <a:avLst/>
          </a:prstGeom>
          <a:noFill/>
        </p:spPr>
        <p:txBody>
          <a:bodyPr vertOverflow="overflow" vert="horz" wrap="square" rtlCol="0" anchor="t">
            <a:spAutoFit/>
          </a:bodyPr>
          <a:lstStyle/>
          <a:p>
            <a:pPr algn="l">
              <a:buNone/>
            </a:pPr>
            <a:r>
              <a:rPr lang="en-US" sz="3200" b="1" i="1" dirty="0">
                <a:solidFill>
                  <a:srgbClr val="E07856"/>
                </a:solidFill>
                <a:latin typeface="Playfair Display"/>
              </a:rPr>
              <a:t>02</a:t>
            </a:r>
          </a:p>
        </p:txBody>
      </p:sp>
      <p:sp>
        <p:nvSpPr>
          <p:cNvPr id="23" name="TextBox 22">
            <a:extLst>
              <a:ext uri="{FF2B5EF4-FFF2-40B4-BE49-F238E27FC236}">
                <a16:creationId xmlns:a16="http://schemas.microsoft.com/office/drawing/2014/main" id="{C9AEC143-44D9-E246-831E-4DC53C3B1EF8}"/>
              </a:ext>
            </a:extLst>
          </p:cNvPr>
          <p:cNvSpPr txBox="1"/>
          <p:nvPr/>
        </p:nvSpPr>
        <p:spPr>
          <a:xfrm>
            <a:off x="7416800" y="2692400"/>
            <a:ext cx="3937000" cy="228600"/>
          </a:xfrm>
          <a:prstGeom prst="rect">
            <a:avLst/>
          </a:prstGeom>
          <a:noFill/>
        </p:spPr>
        <p:txBody>
          <a:bodyPr vertOverflow="overflow" vert="horz" wrap="square" rtlCol="0" anchor="t">
            <a:spAutoFit/>
          </a:bodyPr>
          <a:lstStyle/>
          <a:p>
            <a:pPr algn="l">
              <a:buNone/>
            </a:pPr>
            <a:r>
              <a:rPr lang="en-US" sz="900" b="1" spc="200" dirty="0">
                <a:solidFill>
                  <a:srgbClr val="E07856"/>
                </a:solidFill>
                <a:latin typeface="Big Caslon Medium"/>
              </a:rPr>
              <a:t>VADER   ·   DISTRIBUTION</a:t>
            </a:r>
          </a:p>
        </p:txBody>
      </p:sp>
      <p:sp>
        <p:nvSpPr>
          <p:cNvPr id="24" name="TextBox 23">
            <a:extLst>
              <a:ext uri="{FF2B5EF4-FFF2-40B4-BE49-F238E27FC236}">
                <a16:creationId xmlns:a16="http://schemas.microsoft.com/office/drawing/2014/main" id="{90489E8F-7EDE-CB45-872F-1613D2D11F9D}"/>
              </a:ext>
            </a:extLst>
          </p:cNvPr>
          <p:cNvSpPr txBox="1"/>
          <p:nvPr/>
        </p:nvSpPr>
        <p:spPr>
          <a:xfrm>
            <a:off x="7416800" y="2971800"/>
            <a:ext cx="3937000" cy="330200"/>
          </a:xfrm>
          <a:prstGeom prst="rect">
            <a:avLst/>
          </a:prstGeom>
          <a:noFill/>
        </p:spPr>
        <p:txBody>
          <a:bodyPr vertOverflow="overflow" vert="horz" wrap="square" rtlCol="0" anchor="t">
            <a:spAutoFit/>
          </a:bodyPr>
          <a:lstStyle/>
          <a:p>
            <a:pPr algn="l">
              <a:buNone/>
            </a:pPr>
            <a:r>
              <a:rPr lang="en-US" sz="1500" b="1" i="1" dirty="0">
                <a:solidFill>
                  <a:srgbClr val="0E4D4D"/>
                </a:solidFill>
                <a:latin typeface="Playfair Display"/>
              </a:rPr>
              <a:t>Three Class Output</a:t>
            </a:r>
          </a:p>
        </p:txBody>
      </p:sp>
      <p:sp>
        <p:nvSpPr>
          <p:cNvPr id="25" name="Rectangle 24">
            <a:extLst>
              <a:ext uri="{FF2B5EF4-FFF2-40B4-BE49-F238E27FC236}">
                <a16:creationId xmlns:a16="http://schemas.microsoft.com/office/drawing/2014/main" id="{1CD2F054-9CAC-1F4F-8031-30690B39B862}"/>
              </a:ext>
            </a:extLst>
          </p:cNvPr>
          <p:cNvSpPr/>
          <p:nvPr/>
        </p:nvSpPr>
        <p:spPr>
          <a:xfrm>
            <a:off x="7416800" y="3378200"/>
            <a:ext cx="3937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6" name="TextBox 25">
            <a:extLst>
              <a:ext uri="{FF2B5EF4-FFF2-40B4-BE49-F238E27FC236}">
                <a16:creationId xmlns:a16="http://schemas.microsoft.com/office/drawing/2014/main" id="{EC9530B0-E384-B44A-A374-7B4EC0FBC11E}"/>
              </a:ext>
            </a:extLst>
          </p:cNvPr>
          <p:cNvSpPr txBox="1"/>
          <p:nvPr/>
        </p:nvSpPr>
        <p:spPr>
          <a:xfrm>
            <a:off x="7416800" y="3479800"/>
            <a:ext cx="3937000" cy="619272"/>
          </a:xfrm>
          <a:prstGeom prst="rect">
            <a:avLst/>
          </a:prstGeom>
          <a:noFill/>
        </p:spPr>
        <p:txBody>
          <a:bodyPr vertOverflow="overflow" vert="horz" wrap="square" rtlCol="0" anchor="t">
            <a:spAutoFit/>
          </a:bodyPr>
          <a:lstStyle/>
          <a:p>
            <a:pPr algn="l">
              <a:lnSpc>
                <a:spcPts val="1400"/>
              </a:lnSpc>
              <a:buNone/>
            </a:pPr>
            <a:r>
              <a:rPr lang="en-US" sz="1000" dirty="0">
                <a:solidFill>
                  <a:srgbClr val="0E4D4D"/>
                </a:solidFill>
                <a:latin typeface="Big Caslon Medium"/>
              </a:rPr>
              <a:t>Across 5,982 Chicago listings: POSITIVE 93.96 percent, NEGATIVE 1.15 percent, NEUTRAL 4.88 percent. Strong positive skew reflects guest tendency to leave favorable reviews after completing a stay.</a:t>
            </a:r>
          </a:p>
        </p:txBody>
      </p:sp>
      <p:sp>
        <p:nvSpPr>
          <p:cNvPr id="28" name="Rectangle 27">
            <a:extLst>
              <a:ext uri="{FF2B5EF4-FFF2-40B4-BE49-F238E27FC236}">
                <a16:creationId xmlns:a16="http://schemas.microsoft.com/office/drawing/2014/main" id="{00DB346A-0B62-BA4A-BC58-F50C1B80A525}"/>
              </a:ext>
            </a:extLst>
          </p:cNvPr>
          <p:cNvSpPr/>
          <p:nvPr/>
        </p:nvSpPr>
        <p:spPr>
          <a:xfrm>
            <a:off x="787400" y="4660900"/>
            <a:ext cx="38100" cy="13843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9" name="TextBox 28">
            <a:extLst>
              <a:ext uri="{FF2B5EF4-FFF2-40B4-BE49-F238E27FC236}">
                <a16:creationId xmlns:a16="http://schemas.microsoft.com/office/drawing/2014/main" id="{B94103FF-09C2-AA44-82E2-7B019775FBAB}"/>
              </a:ext>
            </a:extLst>
          </p:cNvPr>
          <p:cNvSpPr txBox="1"/>
          <p:nvPr/>
        </p:nvSpPr>
        <p:spPr>
          <a:xfrm>
            <a:off x="965200" y="4635500"/>
            <a:ext cx="762000" cy="584775"/>
          </a:xfrm>
          <a:prstGeom prst="rect">
            <a:avLst/>
          </a:prstGeom>
          <a:noFill/>
        </p:spPr>
        <p:txBody>
          <a:bodyPr vertOverflow="overflow" vert="horz" wrap="square" rtlCol="0" anchor="t">
            <a:spAutoFit/>
          </a:bodyPr>
          <a:lstStyle/>
          <a:p>
            <a:pPr algn="l">
              <a:buNone/>
            </a:pPr>
            <a:r>
              <a:rPr lang="en-US" sz="3200" b="1" i="1" dirty="0">
                <a:solidFill>
                  <a:srgbClr val="E07856"/>
                </a:solidFill>
                <a:latin typeface="Playfair Display"/>
              </a:rPr>
              <a:t>03</a:t>
            </a:r>
          </a:p>
        </p:txBody>
      </p:sp>
      <p:sp>
        <p:nvSpPr>
          <p:cNvPr id="30" name="TextBox 29">
            <a:extLst>
              <a:ext uri="{FF2B5EF4-FFF2-40B4-BE49-F238E27FC236}">
                <a16:creationId xmlns:a16="http://schemas.microsoft.com/office/drawing/2014/main" id="{6B995E9A-20C2-EE4F-8BD5-F39A486B6D24}"/>
              </a:ext>
            </a:extLst>
          </p:cNvPr>
          <p:cNvSpPr txBox="1"/>
          <p:nvPr/>
        </p:nvSpPr>
        <p:spPr>
          <a:xfrm>
            <a:off x="1778000" y="4711700"/>
            <a:ext cx="3937000" cy="228600"/>
          </a:xfrm>
          <a:prstGeom prst="rect">
            <a:avLst/>
          </a:prstGeom>
          <a:noFill/>
        </p:spPr>
        <p:txBody>
          <a:bodyPr vertOverflow="overflow" vert="horz" wrap="square" rtlCol="0" anchor="t">
            <a:spAutoFit/>
          </a:bodyPr>
          <a:lstStyle/>
          <a:p>
            <a:pPr algn="l">
              <a:buNone/>
            </a:pPr>
            <a:r>
              <a:rPr lang="en-US" sz="900" b="1" spc="200" dirty="0">
                <a:solidFill>
                  <a:srgbClr val="E07856"/>
                </a:solidFill>
                <a:latin typeface="Big Caslon Medium"/>
              </a:rPr>
              <a:t>HUGGING FACE   ·   TRANSFORMER</a:t>
            </a:r>
          </a:p>
        </p:txBody>
      </p:sp>
      <p:sp>
        <p:nvSpPr>
          <p:cNvPr id="31" name="TextBox 30">
            <a:extLst>
              <a:ext uri="{FF2B5EF4-FFF2-40B4-BE49-F238E27FC236}">
                <a16:creationId xmlns:a16="http://schemas.microsoft.com/office/drawing/2014/main" id="{C634FE20-D924-3841-9CA9-32A399D0AAC1}"/>
              </a:ext>
            </a:extLst>
          </p:cNvPr>
          <p:cNvSpPr txBox="1"/>
          <p:nvPr/>
        </p:nvSpPr>
        <p:spPr>
          <a:xfrm>
            <a:off x="1778000" y="4991100"/>
            <a:ext cx="3937000" cy="330200"/>
          </a:xfrm>
          <a:prstGeom prst="rect">
            <a:avLst/>
          </a:prstGeom>
          <a:noFill/>
        </p:spPr>
        <p:txBody>
          <a:bodyPr vertOverflow="overflow" vert="horz" wrap="square" rtlCol="0" anchor="t">
            <a:spAutoFit/>
          </a:bodyPr>
          <a:lstStyle/>
          <a:p>
            <a:pPr algn="l">
              <a:buNone/>
            </a:pPr>
            <a:r>
              <a:rPr lang="en-US" sz="1500" b="1" i="1" dirty="0">
                <a:solidFill>
                  <a:srgbClr val="0E4D4D"/>
                </a:solidFill>
                <a:latin typeface="Playfair Display"/>
              </a:rPr>
              <a:t>Method &amp; Variables</a:t>
            </a:r>
          </a:p>
        </p:txBody>
      </p:sp>
      <p:sp>
        <p:nvSpPr>
          <p:cNvPr id="32" name="Rectangle 31">
            <a:extLst>
              <a:ext uri="{FF2B5EF4-FFF2-40B4-BE49-F238E27FC236}">
                <a16:creationId xmlns:a16="http://schemas.microsoft.com/office/drawing/2014/main" id="{B80FDAA3-3AEE-5B47-BC0D-6571F00238EA}"/>
              </a:ext>
            </a:extLst>
          </p:cNvPr>
          <p:cNvSpPr/>
          <p:nvPr/>
        </p:nvSpPr>
        <p:spPr>
          <a:xfrm>
            <a:off x="1778000" y="5397500"/>
            <a:ext cx="3937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3" name="TextBox 32">
            <a:extLst>
              <a:ext uri="{FF2B5EF4-FFF2-40B4-BE49-F238E27FC236}">
                <a16:creationId xmlns:a16="http://schemas.microsoft.com/office/drawing/2014/main" id="{245CB03E-D170-6D4D-AFC5-E2F6682E1459}"/>
              </a:ext>
            </a:extLst>
          </p:cNvPr>
          <p:cNvSpPr txBox="1"/>
          <p:nvPr/>
        </p:nvSpPr>
        <p:spPr>
          <a:xfrm>
            <a:off x="1778000" y="5499100"/>
            <a:ext cx="3937000" cy="619272"/>
          </a:xfrm>
          <a:prstGeom prst="rect">
            <a:avLst/>
          </a:prstGeom>
          <a:noFill/>
        </p:spPr>
        <p:txBody>
          <a:bodyPr vertOverflow="overflow" vert="horz" wrap="square" rtlCol="0" anchor="t">
            <a:spAutoFit/>
          </a:bodyPr>
          <a:lstStyle/>
          <a:p>
            <a:pPr algn="l">
              <a:lnSpc>
                <a:spcPts val="1400"/>
              </a:lnSpc>
              <a:buNone/>
            </a:pPr>
            <a:r>
              <a:rPr lang="en-US" sz="1000" dirty="0">
                <a:solidFill>
                  <a:srgbClr val="0E4D4D"/>
                </a:solidFill>
                <a:latin typeface="Big Caslon Medium"/>
              </a:rPr>
              <a:t>distilbert-base-uncased-finetuned-sst-2-english pipeline applied to each listing's review text, truncated to 512 tokens. Returns a binary sentiment label and a confidence score per listing.</a:t>
            </a:r>
          </a:p>
        </p:txBody>
      </p:sp>
      <p:sp>
        <p:nvSpPr>
          <p:cNvPr id="35" name="Rectangle 34">
            <a:extLst>
              <a:ext uri="{FF2B5EF4-FFF2-40B4-BE49-F238E27FC236}">
                <a16:creationId xmlns:a16="http://schemas.microsoft.com/office/drawing/2014/main" id="{66D59B0A-6301-1A4E-B49F-3A4FC85B8CD2}"/>
              </a:ext>
            </a:extLst>
          </p:cNvPr>
          <p:cNvSpPr/>
          <p:nvPr/>
        </p:nvSpPr>
        <p:spPr>
          <a:xfrm>
            <a:off x="6426200" y="4660900"/>
            <a:ext cx="38100" cy="13843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6" name="TextBox 35">
            <a:extLst>
              <a:ext uri="{FF2B5EF4-FFF2-40B4-BE49-F238E27FC236}">
                <a16:creationId xmlns:a16="http://schemas.microsoft.com/office/drawing/2014/main" id="{7D4C4442-B12B-844C-AC8B-6AA972DC7E21}"/>
              </a:ext>
            </a:extLst>
          </p:cNvPr>
          <p:cNvSpPr txBox="1"/>
          <p:nvPr/>
        </p:nvSpPr>
        <p:spPr>
          <a:xfrm>
            <a:off x="6604000" y="4635500"/>
            <a:ext cx="762000" cy="584775"/>
          </a:xfrm>
          <a:prstGeom prst="rect">
            <a:avLst/>
          </a:prstGeom>
          <a:noFill/>
        </p:spPr>
        <p:txBody>
          <a:bodyPr vertOverflow="overflow" vert="horz" wrap="square" rtlCol="0" anchor="t">
            <a:spAutoFit/>
          </a:bodyPr>
          <a:lstStyle/>
          <a:p>
            <a:pPr algn="l">
              <a:buNone/>
            </a:pPr>
            <a:r>
              <a:rPr lang="en-US" sz="3200" b="1" i="1" dirty="0">
                <a:solidFill>
                  <a:srgbClr val="E07856"/>
                </a:solidFill>
                <a:latin typeface="Playfair Display"/>
              </a:rPr>
              <a:t>04</a:t>
            </a:r>
          </a:p>
        </p:txBody>
      </p:sp>
      <p:sp>
        <p:nvSpPr>
          <p:cNvPr id="37" name="TextBox 36">
            <a:extLst>
              <a:ext uri="{FF2B5EF4-FFF2-40B4-BE49-F238E27FC236}">
                <a16:creationId xmlns:a16="http://schemas.microsoft.com/office/drawing/2014/main" id="{9F9195B2-524B-9B4A-92BD-94A29272AEEB}"/>
              </a:ext>
            </a:extLst>
          </p:cNvPr>
          <p:cNvSpPr txBox="1"/>
          <p:nvPr/>
        </p:nvSpPr>
        <p:spPr>
          <a:xfrm>
            <a:off x="7416800" y="4711700"/>
            <a:ext cx="3937000" cy="228600"/>
          </a:xfrm>
          <a:prstGeom prst="rect">
            <a:avLst/>
          </a:prstGeom>
          <a:noFill/>
        </p:spPr>
        <p:txBody>
          <a:bodyPr vertOverflow="overflow" vert="horz" wrap="square" rtlCol="0" anchor="t">
            <a:spAutoFit/>
          </a:bodyPr>
          <a:lstStyle/>
          <a:p>
            <a:pPr algn="l">
              <a:buNone/>
            </a:pPr>
            <a:r>
              <a:rPr lang="en-US" sz="900" b="1" spc="200" dirty="0">
                <a:solidFill>
                  <a:srgbClr val="E07856"/>
                </a:solidFill>
                <a:latin typeface="Big Caslon Medium"/>
              </a:rPr>
              <a:t>HUGGING FACE   ·   PRICE MODEL</a:t>
            </a:r>
          </a:p>
        </p:txBody>
      </p:sp>
      <p:sp>
        <p:nvSpPr>
          <p:cNvPr id="38" name="TextBox 37">
            <a:extLst>
              <a:ext uri="{FF2B5EF4-FFF2-40B4-BE49-F238E27FC236}">
                <a16:creationId xmlns:a16="http://schemas.microsoft.com/office/drawing/2014/main" id="{FA9ED45E-3A8C-1B41-95E6-4C32239A0813}"/>
              </a:ext>
            </a:extLst>
          </p:cNvPr>
          <p:cNvSpPr txBox="1"/>
          <p:nvPr/>
        </p:nvSpPr>
        <p:spPr>
          <a:xfrm>
            <a:off x="7416800" y="4991100"/>
            <a:ext cx="3937000" cy="330200"/>
          </a:xfrm>
          <a:prstGeom prst="rect">
            <a:avLst/>
          </a:prstGeom>
          <a:noFill/>
        </p:spPr>
        <p:txBody>
          <a:bodyPr vertOverflow="overflow" vert="horz" wrap="square" rtlCol="0" anchor="t">
            <a:spAutoFit/>
          </a:bodyPr>
          <a:lstStyle/>
          <a:p>
            <a:pPr algn="l">
              <a:buNone/>
            </a:pPr>
            <a:r>
              <a:rPr lang="en-US" sz="1500" b="1" i="1" dirty="0">
                <a:solidFill>
                  <a:srgbClr val="0E4D4D"/>
                </a:solidFill>
                <a:latin typeface="Playfair Display"/>
              </a:rPr>
              <a:t>Proportion and Use in Pricing</a:t>
            </a:r>
          </a:p>
        </p:txBody>
      </p:sp>
      <p:sp>
        <p:nvSpPr>
          <p:cNvPr id="39" name="Rectangle 38">
            <a:extLst>
              <a:ext uri="{FF2B5EF4-FFF2-40B4-BE49-F238E27FC236}">
                <a16:creationId xmlns:a16="http://schemas.microsoft.com/office/drawing/2014/main" id="{9E58AA3A-4267-C342-A61B-AC12A58B448D}"/>
              </a:ext>
            </a:extLst>
          </p:cNvPr>
          <p:cNvSpPr/>
          <p:nvPr/>
        </p:nvSpPr>
        <p:spPr>
          <a:xfrm>
            <a:off x="7416800" y="5397500"/>
            <a:ext cx="3937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0" name="TextBox 39">
            <a:extLst>
              <a:ext uri="{FF2B5EF4-FFF2-40B4-BE49-F238E27FC236}">
                <a16:creationId xmlns:a16="http://schemas.microsoft.com/office/drawing/2014/main" id="{F247E65E-BAF5-A545-8134-140F16119807}"/>
              </a:ext>
            </a:extLst>
          </p:cNvPr>
          <p:cNvSpPr txBox="1"/>
          <p:nvPr/>
        </p:nvSpPr>
        <p:spPr>
          <a:xfrm>
            <a:off x="7416800" y="5499100"/>
            <a:ext cx="3937000" cy="619272"/>
          </a:xfrm>
          <a:prstGeom prst="rect">
            <a:avLst/>
          </a:prstGeom>
          <a:noFill/>
        </p:spPr>
        <p:txBody>
          <a:bodyPr vertOverflow="overflow" vert="horz" wrap="square" rtlCol="0" anchor="t">
            <a:spAutoFit/>
          </a:bodyPr>
          <a:lstStyle/>
          <a:p>
            <a:pPr>
              <a:lnSpc>
                <a:spcPts val="1400"/>
              </a:lnSpc>
            </a:pPr>
            <a:r>
              <a:rPr lang="en-US" sz="1000" dirty="0">
                <a:solidFill>
                  <a:srgbClr val="0E4D4D"/>
                </a:solidFill>
                <a:latin typeface="Big Caslon Medium"/>
              </a:rPr>
              <a:t>The model classified 67.95% of listings as POSITIVE and 32.05% as NEGATIVE, with the confidence score retained as a listing-level feature for price prediction alongside structural property and host attributes.</a:t>
            </a:r>
          </a:p>
        </p:txBody>
      </p:sp>
      <p:pic>
        <p:nvPicPr>
          <p:cNvPr id="41" name="Picture 40">
            <a:extLst>
              <a:ext uri="{FF2B5EF4-FFF2-40B4-BE49-F238E27FC236}">
                <a16:creationId xmlns:a16="http://schemas.microsoft.com/office/drawing/2014/main" id="{C8CFC39B-ACDD-05B7-188D-D4951FEE31CD}"/>
              </a:ext>
            </a:extLst>
          </p:cNvPr>
          <p:cNvPicPr>
            <a:picLocks noChangeAspect="1"/>
          </p:cNvPicPr>
          <p:nvPr/>
        </p:nvPicPr>
        <p:blipFill>
          <a:blip r:embed="rId2"/>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2881376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44" name="Rounded Rectangle 43">
            <a:extLst>
              <a:ext uri="{FF2B5EF4-FFF2-40B4-BE49-F238E27FC236}">
                <a16:creationId xmlns:a16="http://schemas.microsoft.com/office/drawing/2014/main" id="{2FE5794B-7BBD-BF46-9F99-79A3D8047ADC}"/>
              </a:ext>
            </a:extLst>
          </p:cNvPr>
          <p:cNvSpPr/>
          <p:nvPr/>
        </p:nvSpPr>
        <p:spPr>
          <a:xfrm>
            <a:off x="558800" y="6070600"/>
            <a:ext cx="11074400" cy="279400"/>
          </a:xfrm>
          <a:prstGeom prst="roundRect">
            <a:avLst/>
          </a:prstGeom>
          <a:solidFill>
            <a:srgbClr val="FFFFFF"/>
          </a:solidFill>
          <a:ln w="6350"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9" name="Rounded Rectangle 38">
            <a:extLst>
              <a:ext uri="{FF2B5EF4-FFF2-40B4-BE49-F238E27FC236}">
                <a16:creationId xmlns:a16="http://schemas.microsoft.com/office/drawing/2014/main" id="{42BDAB20-987B-8941-9415-B53067312D39}"/>
              </a:ext>
            </a:extLst>
          </p:cNvPr>
          <p:cNvSpPr/>
          <p:nvPr/>
        </p:nvSpPr>
        <p:spPr>
          <a:xfrm>
            <a:off x="4445000" y="5283200"/>
            <a:ext cx="7188200" cy="685800"/>
          </a:xfrm>
          <a:prstGeom prst="roundRect">
            <a:avLst/>
          </a:prstGeom>
          <a:solidFill>
            <a:srgbClr val="FFFFFF"/>
          </a:solidFill>
          <a:ln w="6350"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4" name="Rounded Rectangle 33">
            <a:extLst>
              <a:ext uri="{FF2B5EF4-FFF2-40B4-BE49-F238E27FC236}">
                <a16:creationId xmlns:a16="http://schemas.microsoft.com/office/drawing/2014/main" id="{50DE9467-E827-1848-8D23-79C2F0FB7CDA}"/>
              </a:ext>
            </a:extLst>
          </p:cNvPr>
          <p:cNvSpPr/>
          <p:nvPr/>
        </p:nvSpPr>
        <p:spPr>
          <a:xfrm>
            <a:off x="4445000" y="4533900"/>
            <a:ext cx="7188200" cy="685800"/>
          </a:xfrm>
          <a:prstGeom prst="roundRect">
            <a:avLst/>
          </a:prstGeom>
          <a:solidFill>
            <a:srgbClr val="FFFFFF"/>
          </a:solidFill>
          <a:ln w="6350"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9" name="Rounded Rectangle 28">
            <a:extLst>
              <a:ext uri="{FF2B5EF4-FFF2-40B4-BE49-F238E27FC236}">
                <a16:creationId xmlns:a16="http://schemas.microsoft.com/office/drawing/2014/main" id="{6A19AD34-46EC-5247-8435-1491FE5366A6}"/>
              </a:ext>
            </a:extLst>
          </p:cNvPr>
          <p:cNvSpPr/>
          <p:nvPr/>
        </p:nvSpPr>
        <p:spPr>
          <a:xfrm>
            <a:off x="4445000" y="3784600"/>
            <a:ext cx="7188200" cy="685800"/>
          </a:xfrm>
          <a:prstGeom prst="roundRect">
            <a:avLst/>
          </a:prstGeom>
          <a:solidFill>
            <a:srgbClr val="FFFFFF"/>
          </a:solidFill>
          <a:ln w="6350"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4" name="Rounded Rectangle 23">
            <a:extLst>
              <a:ext uri="{FF2B5EF4-FFF2-40B4-BE49-F238E27FC236}">
                <a16:creationId xmlns:a16="http://schemas.microsoft.com/office/drawing/2014/main" id="{5CFE92AA-6707-C145-A42E-DD5DCBC2932A}"/>
              </a:ext>
            </a:extLst>
          </p:cNvPr>
          <p:cNvSpPr/>
          <p:nvPr/>
        </p:nvSpPr>
        <p:spPr>
          <a:xfrm>
            <a:off x="4445000" y="3035300"/>
            <a:ext cx="7188200" cy="685800"/>
          </a:xfrm>
          <a:prstGeom prst="roundRect">
            <a:avLst/>
          </a:prstGeom>
          <a:solidFill>
            <a:srgbClr val="FFFFFF"/>
          </a:solidFill>
          <a:ln w="6350"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9" name="Rounded Rectangle 18">
            <a:extLst>
              <a:ext uri="{FF2B5EF4-FFF2-40B4-BE49-F238E27FC236}">
                <a16:creationId xmlns:a16="http://schemas.microsoft.com/office/drawing/2014/main" id="{BCB2B70D-6358-7A4B-BEC5-1B0BC7F4C684}"/>
              </a:ext>
            </a:extLst>
          </p:cNvPr>
          <p:cNvSpPr/>
          <p:nvPr/>
        </p:nvSpPr>
        <p:spPr>
          <a:xfrm>
            <a:off x="4445000" y="2286000"/>
            <a:ext cx="7188200" cy="685800"/>
          </a:xfrm>
          <a:prstGeom prst="roundRect">
            <a:avLst/>
          </a:prstGeom>
          <a:solidFill>
            <a:srgbClr val="FFFFFF"/>
          </a:solidFill>
          <a:ln w="6350"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3" name="Rounded Rectangle 12">
            <a:extLst>
              <a:ext uri="{FF2B5EF4-FFF2-40B4-BE49-F238E27FC236}">
                <a16:creationId xmlns:a16="http://schemas.microsoft.com/office/drawing/2014/main" id="{2CEAD033-B98A-094D-A7E2-16423128728F}"/>
              </a:ext>
            </a:extLst>
          </p:cNvPr>
          <p:cNvSpPr/>
          <p:nvPr/>
        </p:nvSpPr>
        <p:spPr>
          <a:xfrm>
            <a:off x="558800" y="2286000"/>
            <a:ext cx="3683000" cy="3683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 name="Rectangle 1">
            <a:extLst>
              <a:ext uri="{FF2B5EF4-FFF2-40B4-BE49-F238E27FC236}">
                <a16:creationId xmlns:a16="http://schemas.microsoft.com/office/drawing/2014/main" id="{BD2C0AA9-41BB-804C-BCBF-1822A3EBCBC4}"/>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BC47A5F3-B846-724A-82BD-11086F101F1E}"/>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97B2D010-57C4-DC48-BA3D-8241A8B2D6FC}"/>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DBB4101F-3E30-FB41-A43D-D725295BE06E}"/>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Rectangle 5">
            <a:extLst>
              <a:ext uri="{FF2B5EF4-FFF2-40B4-BE49-F238E27FC236}">
                <a16:creationId xmlns:a16="http://schemas.microsoft.com/office/drawing/2014/main" id="{0DD76139-D0B1-5D4F-A45E-A010BFEFF5BB}"/>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TextBox 6">
            <a:extLst>
              <a:ext uri="{FF2B5EF4-FFF2-40B4-BE49-F238E27FC236}">
                <a16:creationId xmlns:a16="http://schemas.microsoft.com/office/drawing/2014/main" id="{340B7EBA-70E9-974B-BAB3-A377800F86C4}"/>
              </a:ext>
            </a:extLst>
          </p:cNvPr>
          <p:cNvSpPr txBox="1"/>
          <p:nvPr/>
        </p:nvSpPr>
        <p:spPr>
          <a:xfrm>
            <a:off x="1651000" y="355600"/>
            <a:ext cx="7112000" cy="276999"/>
          </a:xfrm>
          <a:prstGeom prst="rect">
            <a:avLst/>
          </a:prstGeom>
          <a:noFill/>
        </p:spPr>
        <p:txBody>
          <a:bodyPr vertOverflow="overflow" vert="horz" wrap="square" rtlCol="0" anchor="t">
            <a:spAutoFit/>
          </a:bodyPr>
          <a:lstStyle/>
          <a:p>
            <a:pPr algn="l">
              <a:buNone/>
            </a:pPr>
            <a:r>
              <a:rPr lang="en-US" sz="1200" b="1" spc="15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ECC15350-FCCE-1A41-888B-9D92707EE555}"/>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buNone/>
            </a:pP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E326E9E4-BF70-D14C-9858-9EA3D00B4CA6}"/>
              </a:ext>
            </a:extLst>
          </p:cNvPr>
          <p:cNvSpPr txBox="1"/>
          <p:nvPr/>
        </p:nvSpPr>
        <p:spPr>
          <a:xfrm>
            <a:off x="711200" y="1270000"/>
            <a:ext cx="7620000" cy="261610"/>
          </a:xfrm>
          <a:prstGeom prst="rect">
            <a:avLst/>
          </a:prstGeom>
          <a:noFill/>
        </p:spPr>
        <p:txBody>
          <a:bodyPr vertOverflow="overflow" vert="horz" wrap="square" rtlCol="0" anchor="t">
            <a:spAutoFit/>
          </a:bodyPr>
          <a:lstStyle/>
          <a:p>
            <a:pPr algn="l">
              <a:buNone/>
            </a:pPr>
            <a:r>
              <a:rPr lang="en-US" sz="1100" b="1" spc="200" dirty="0">
                <a:solidFill>
                  <a:srgbClr val="E07856"/>
                </a:solidFill>
                <a:latin typeface="Big Caslon Medium"/>
              </a:rPr>
              <a:t>NLP   ·   ZERO SHOT CLASSIFICATION</a:t>
            </a:r>
          </a:p>
        </p:txBody>
      </p:sp>
      <p:sp>
        <p:nvSpPr>
          <p:cNvPr id="10" name="TextBox 9">
            <a:extLst>
              <a:ext uri="{FF2B5EF4-FFF2-40B4-BE49-F238E27FC236}">
                <a16:creationId xmlns:a16="http://schemas.microsoft.com/office/drawing/2014/main" id="{133DCCF0-6706-764A-A0A9-C5640D3614D7}"/>
              </a:ext>
            </a:extLst>
          </p:cNvPr>
          <p:cNvSpPr txBox="1"/>
          <p:nvPr/>
        </p:nvSpPr>
        <p:spPr>
          <a:xfrm>
            <a:off x="635000" y="1498600"/>
            <a:ext cx="10922000" cy="584775"/>
          </a:xfrm>
          <a:prstGeom prst="rect">
            <a:avLst/>
          </a:prstGeom>
          <a:noFill/>
        </p:spPr>
        <p:txBody>
          <a:bodyPr vertOverflow="overflow" vert="horz" wrap="square" rtlCol="0" anchor="t">
            <a:spAutoFit/>
          </a:bodyPr>
          <a:lstStyle/>
          <a:p>
            <a:pPr algn="l">
              <a:buNone/>
            </a:pPr>
            <a:r>
              <a:rPr lang="en-US" sz="3200" b="1" i="1" dirty="0">
                <a:solidFill>
                  <a:srgbClr val="0E4D4D"/>
                </a:solidFill>
                <a:latin typeface="Playfair Display"/>
              </a:rPr>
              <a:t>Five Guest Experience Themes</a:t>
            </a:r>
          </a:p>
        </p:txBody>
      </p:sp>
      <p:sp>
        <p:nvSpPr>
          <p:cNvPr id="11" name="TextBox 10">
            <a:extLst>
              <a:ext uri="{FF2B5EF4-FFF2-40B4-BE49-F238E27FC236}">
                <a16:creationId xmlns:a16="http://schemas.microsoft.com/office/drawing/2014/main" id="{7A6407A0-444E-C644-8562-683F612BE743}"/>
              </a:ext>
            </a:extLst>
          </p:cNvPr>
          <p:cNvSpPr txBox="1"/>
          <p:nvPr/>
        </p:nvSpPr>
        <p:spPr>
          <a:xfrm>
            <a:off x="406400" y="6553200"/>
            <a:ext cx="6350000" cy="254000"/>
          </a:xfrm>
          <a:prstGeom prst="rect">
            <a:avLst/>
          </a:prstGeom>
          <a:noFill/>
        </p:spPr>
        <p:txBody>
          <a:bodyPr vertOverflow="overflow" vert="horz" wrap="square" rtlCol="0" anchor="t">
            <a:spAutoFit/>
          </a:bodyPr>
          <a:lstStyle/>
          <a:p>
            <a:pPr algn="l">
              <a:buNone/>
            </a:pPr>
            <a:r>
              <a:rPr lang="en-US" sz="1000" b="1" spc="15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12609233-8C74-B44E-A1C7-AD212504DE76}"/>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buNone/>
            </a:pPr>
            <a:r>
              <a:rPr lang="en-US" sz="1000" b="1" spc="150" dirty="0">
                <a:solidFill>
                  <a:srgbClr val="E07856"/>
                </a:solidFill>
                <a:latin typeface="Big Caslon Medium"/>
              </a:rPr>
              <a:t>07 / 14</a:t>
            </a:r>
          </a:p>
        </p:txBody>
      </p:sp>
      <p:sp>
        <p:nvSpPr>
          <p:cNvPr id="14" name="Rectangle 13">
            <a:extLst>
              <a:ext uri="{FF2B5EF4-FFF2-40B4-BE49-F238E27FC236}">
                <a16:creationId xmlns:a16="http://schemas.microsoft.com/office/drawing/2014/main" id="{AFA3AD3A-D99D-BB44-BAE7-C2B745D946D7}"/>
              </a:ext>
            </a:extLst>
          </p:cNvPr>
          <p:cNvSpPr/>
          <p:nvPr/>
        </p:nvSpPr>
        <p:spPr>
          <a:xfrm>
            <a:off x="736600" y="2489200"/>
            <a:ext cx="38100" cy="32766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5" name="TextBox 14">
            <a:extLst>
              <a:ext uri="{FF2B5EF4-FFF2-40B4-BE49-F238E27FC236}">
                <a16:creationId xmlns:a16="http://schemas.microsoft.com/office/drawing/2014/main" id="{2C17D675-5365-B34D-B5BF-B2A58AC42D13}"/>
              </a:ext>
            </a:extLst>
          </p:cNvPr>
          <p:cNvSpPr txBox="1"/>
          <p:nvPr/>
        </p:nvSpPr>
        <p:spPr>
          <a:xfrm>
            <a:off x="965200" y="2540000"/>
            <a:ext cx="3175000" cy="230832"/>
          </a:xfrm>
          <a:prstGeom prst="rect">
            <a:avLst/>
          </a:prstGeom>
          <a:noFill/>
        </p:spPr>
        <p:txBody>
          <a:bodyPr vertOverflow="overflow" vert="horz" wrap="square" rtlCol="0" anchor="t">
            <a:spAutoFit/>
          </a:bodyPr>
          <a:lstStyle/>
          <a:p>
            <a:pPr algn="l">
              <a:buNone/>
            </a:pPr>
            <a:r>
              <a:rPr lang="en-US" sz="900" b="1" spc="200" dirty="0">
                <a:solidFill>
                  <a:srgbClr val="E07856"/>
                </a:solidFill>
                <a:latin typeface="Big Caslon Medium"/>
              </a:rPr>
              <a:t>METHOD   ·   NLI BASED</a:t>
            </a:r>
          </a:p>
        </p:txBody>
      </p:sp>
      <p:sp>
        <p:nvSpPr>
          <p:cNvPr id="16" name="TextBox 15">
            <a:extLst>
              <a:ext uri="{FF2B5EF4-FFF2-40B4-BE49-F238E27FC236}">
                <a16:creationId xmlns:a16="http://schemas.microsoft.com/office/drawing/2014/main" id="{636A2E02-EACC-4C4B-AEFB-3E2F8CD33CCA}"/>
              </a:ext>
            </a:extLst>
          </p:cNvPr>
          <p:cNvSpPr txBox="1"/>
          <p:nvPr/>
        </p:nvSpPr>
        <p:spPr>
          <a:xfrm>
            <a:off x="965200" y="2819400"/>
            <a:ext cx="3175000" cy="353943"/>
          </a:xfrm>
          <a:prstGeom prst="rect">
            <a:avLst/>
          </a:prstGeom>
          <a:noFill/>
        </p:spPr>
        <p:txBody>
          <a:bodyPr vertOverflow="overflow" vert="horz" wrap="square" rtlCol="0" anchor="t">
            <a:spAutoFit/>
          </a:bodyPr>
          <a:lstStyle/>
          <a:p>
            <a:pPr algn="l">
              <a:buNone/>
            </a:pPr>
            <a:r>
              <a:rPr lang="en-US" sz="1700" b="1" i="1" dirty="0">
                <a:solidFill>
                  <a:srgbClr val="0E4D4D"/>
                </a:solidFill>
                <a:latin typeface="Playfair Display"/>
              </a:rPr>
              <a:t>Zero-Shot Classification</a:t>
            </a:r>
          </a:p>
        </p:txBody>
      </p:sp>
      <p:sp>
        <p:nvSpPr>
          <p:cNvPr id="17" name="Rectangle 16">
            <a:extLst>
              <a:ext uri="{FF2B5EF4-FFF2-40B4-BE49-F238E27FC236}">
                <a16:creationId xmlns:a16="http://schemas.microsoft.com/office/drawing/2014/main" id="{BFC5FFD7-2F0F-014E-8E11-0C4A1EBC838B}"/>
              </a:ext>
            </a:extLst>
          </p:cNvPr>
          <p:cNvSpPr/>
          <p:nvPr/>
        </p:nvSpPr>
        <p:spPr>
          <a:xfrm>
            <a:off x="965200" y="3276600"/>
            <a:ext cx="3175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8" name="TextBox 17">
            <a:extLst>
              <a:ext uri="{FF2B5EF4-FFF2-40B4-BE49-F238E27FC236}">
                <a16:creationId xmlns:a16="http://schemas.microsoft.com/office/drawing/2014/main" id="{C2E5BF0A-DFAB-9C49-8082-93DF301EB314}"/>
              </a:ext>
            </a:extLst>
          </p:cNvPr>
          <p:cNvSpPr txBox="1"/>
          <p:nvPr/>
        </p:nvSpPr>
        <p:spPr>
          <a:xfrm>
            <a:off x="965200" y="3378200"/>
            <a:ext cx="3175000" cy="1295739"/>
          </a:xfrm>
          <a:prstGeom prst="rect">
            <a:avLst/>
          </a:prstGeom>
          <a:noFill/>
        </p:spPr>
        <p:txBody>
          <a:bodyPr vertOverflow="overflow" vert="horz" wrap="square" rtlCol="0" anchor="t">
            <a:spAutoFit/>
          </a:bodyPr>
          <a:lstStyle/>
          <a:p>
            <a:pPr algn="l">
              <a:lnSpc>
                <a:spcPts val="1500"/>
              </a:lnSpc>
              <a:spcAft>
                <a:spcPts val="500"/>
              </a:spcAft>
              <a:buNone/>
            </a:pPr>
            <a:r>
              <a:rPr lang="en-US" sz="1000" dirty="0">
                <a:solidFill>
                  <a:srgbClr val="0E4D4D"/>
                </a:solidFill>
                <a:latin typeface="Big Caslon Medium"/>
              </a:rPr>
              <a:t>typeform/distilbert-base-uncased-mnli, applied via the Hugging Face transformers pipeline with PyTorch GPU acceleration. No labeled training data required.</a:t>
            </a:r>
          </a:p>
          <a:p>
            <a:pPr algn="l">
              <a:lnSpc>
                <a:spcPts val="1500"/>
              </a:lnSpc>
              <a:buNone/>
            </a:pPr>
            <a:r>
              <a:rPr lang="en-US" sz="1000" dirty="0">
                <a:solidFill>
                  <a:srgbClr val="0E4D4D"/>
                </a:solidFill>
                <a:latin typeface="Big Caslon Medium"/>
              </a:rPr>
              <a:t>Multi label scoring: each listing receives a relevance score across all five categories. Output is zero_shot_df with review_id plus five numeric score columns.</a:t>
            </a:r>
          </a:p>
        </p:txBody>
      </p:sp>
      <p:sp>
        <p:nvSpPr>
          <p:cNvPr id="20" name="Oval 19">
            <a:extLst>
              <a:ext uri="{FF2B5EF4-FFF2-40B4-BE49-F238E27FC236}">
                <a16:creationId xmlns:a16="http://schemas.microsoft.com/office/drawing/2014/main" id="{029CFEA8-E8BF-0342-A370-B8F2702A1A22}"/>
              </a:ext>
            </a:extLst>
          </p:cNvPr>
          <p:cNvSpPr/>
          <p:nvPr/>
        </p:nvSpPr>
        <p:spPr>
          <a:xfrm>
            <a:off x="4597400" y="2425700"/>
            <a:ext cx="406400" cy="406400"/>
          </a:xfrm>
          <a:prstGeom prst="ellipse">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1" name="TextBox 20">
            <a:extLst>
              <a:ext uri="{FF2B5EF4-FFF2-40B4-BE49-F238E27FC236}">
                <a16:creationId xmlns:a16="http://schemas.microsoft.com/office/drawing/2014/main" id="{E7377E8B-B118-2B48-AD75-B6064BDA60D8}"/>
              </a:ext>
            </a:extLst>
          </p:cNvPr>
          <p:cNvSpPr txBox="1"/>
          <p:nvPr/>
        </p:nvSpPr>
        <p:spPr>
          <a:xfrm>
            <a:off x="4723656" y="2536567"/>
            <a:ext cx="153888" cy="184666"/>
          </a:xfrm>
          <a:prstGeom prst="rect">
            <a:avLst/>
          </a:prstGeom>
          <a:noFill/>
        </p:spPr>
        <p:txBody>
          <a:bodyPr vertOverflow="overflow" vert="horz" wrap="none" lIns="0" tIns="0" rIns="0" bIns="0" rtlCol="0" anchor="ctr">
            <a:spAutoFit/>
          </a:bodyPr>
          <a:lstStyle/>
          <a:p>
            <a:pPr algn="ctr">
              <a:buNone/>
            </a:pPr>
            <a:r>
              <a:rPr lang="en-US" sz="1200" b="1" i="1" dirty="0">
                <a:solidFill>
                  <a:srgbClr val="F7F1E8"/>
                </a:solidFill>
                <a:latin typeface="Playfair Display"/>
              </a:rPr>
              <a:t>01</a:t>
            </a:r>
          </a:p>
        </p:txBody>
      </p:sp>
      <p:sp>
        <p:nvSpPr>
          <p:cNvPr id="22" name="TextBox 21">
            <a:extLst>
              <a:ext uri="{FF2B5EF4-FFF2-40B4-BE49-F238E27FC236}">
                <a16:creationId xmlns:a16="http://schemas.microsoft.com/office/drawing/2014/main" id="{026BB95F-F562-0F4D-9D52-870707DCD6C7}"/>
              </a:ext>
            </a:extLst>
          </p:cNvPr>
          <p:cNvSpPr txBox="1"/>
          <p:nvPr/>
        </p:nvSpPr>
        <p:spPr>
          <a:xfrm>
            <a:off x="5156200" y="2387600"/>
            <a:ext cx="2794000" cy="292388"/>
          </a:xfrm>
          <a:prstGeom prst="rect">
            <a:avLst/>
          </a:prstGeom>
          <a:noFill/>
        </p:spPr>
        <p:txBody>
          <a:bodyPr vertOverflow="overflow" vert="horz" wrap="square" rtlCol="0" anchor="t">
            <a:spAutoFit/>
          </a:bodyPr>
          <a:lstStyle/>
          <a:p>
            <a:pPr algn="l">
              <a:buNone/>
            </a:pPr>
            <a:r>
              <a:rPr lang="en-US" sz="1300" b="1" spc="200" dirty="0">
                <a:solidFill>
                  <a:srgbClr val="0E4D4D"/>
                </a:solidFill>
                <a:latin typeface="Big Caslon Medium"/>
              </a:rPr>
              <a:t>CLEANLINESS</a:t>
            </a:r>
          </a:p>
        </p:txBody>
      </p:sp>
      <p:sp>
        <p:nvSpPr>
          <p:cNvPr id="23" name="TextBox 22">
            <a:extLst>
              <a:ext uri="{FF2B5EF4-FFF2-40B4-BE49-F238E27FC236}">
                <a16:creationId xmlns:a16="http://schemas.microsoft.com/office/drawing/2014/main" id="{8E9C34EF-EE9F-4943-86E3-1B136BC80D99}"/>
              </a:ext>
            </a:extLst>
          </p:cNvPr>
          <p:cNvSpPr txBox="1"/>
          <p:nvPr/>
        </p:nvSpPr>
        <p:spPr>
          <a:xfrm>
            <a:off x="5156200" y="2641600"/>
            <a:ext cx="6299200" cy="250581"/>
          </a:xfrm>
          <a:prstGeom prst="rect">
            <a:avLst/>
          </a:prstGeom>
          <a:noFill/>
        </p:spPr>
        <p:txBody>
          <a:bodyPr vertOverflow="overflow" vert="horz" wrap="square" rtlCol="0" anchor="t">
            <a:spAutoFit/>
          </a:bodyPr>
          <a:lstStyle/>
          <a:p>
            <a:pPr algn="l">
              <a:lnSpc>
                <a:spcPts val="1300"/>
              </a:lnSpc>
              <a:buNone/>
            </a:pPr>
            <a:r>
              <a:rPr lang="en-US" sz="1000" dirty="0">
                <a:solidFill>
                  <a:srgbClr val="0E4D4D"/>
                </a:solidFill>
                <a:latin typeface="Big Caslon Medium"/>
              </a:rPr>
              <a:t>Tidiness, hygiene, condition of the unit on arrival and throughout the stay.</a:t>
            </a:r>
          </a:p>
        </p:txBody>
      </p:sp>
      <p:sp>
        <p:nvSpPr>
          <p:cNvPr id="25" name="Oval 24">
            <a:extLst>
              <a:ext uri="{FF2B5EF4-FFF2-40B4-BE49-F238E27FC236}">
                <a16:creationId xmlns:a16="http://schemas.microsoft.com/office/drawing/2014/main" id="{BA2A44B1-D334-514A-B84C-7B4D6741290E}"/>
              </a:ext>
            </a:extLst>
          </p:cNvPr>
          <p:cNvSpPr/>
          <p:nvPr/>
        </p:nvSpPr>
        <p:spPr>
          <a:xfrm>
            <a:off x="4597400" y="3175000"/>
            <a:ext cx="406400" cy="406400"/>
          </a:xfrm>
          <a:prstGeom prst="ellipse">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6" name="TextBox 25">
            <a:extLst>
              <a:ext uri="{FF2B5EF4-FFF2-40B4-BE49-F238E27FC236}">
                <a16:creationId xmlns:a16="http://schemas.microsoft.com/office/drawing/2014/main" id="{3D663197-CEBA-B244-9B20-3493B208B9DE}"/>
              </a:ext>
            </a:extLst>
          </p:cNvPr>
          <p:cNvSpPr txBox="1"/>
          <p:nvPr/>
        </p:nvSpPr>
        <p:spPr>
          <a:xfrm>
            <a:off x="4711633" y="3285867"/>
            <a:ext cx="177934" cy="184666"/>
          </a:xfrm>
          <a:prstGeom prst="rect">
            <a:avLst/>
          </a:prstGeom>
          <a:noFill/>
        </p:spPr>
        <p:txBody>
          <a:bodyPr vertOverflow="overflow" vert="horz" wrap="none" lIns="0" tIns="0" rIns="0" bIns="0" rtlCol="0" anchor="ctr">
            <a:spAutoFit/>
          </a:bodyPr>
          <a:lstStyle/>
          <a:p>
            <a:pPr algn="ctr">
              <a:buNone/>
            </a:pPr>
            <a:r>
              <a:rPr lang="en-US" sz="1200" b="1" i="1" dirty="0">
                <a:solidFill>
                  <a:srgbClr val="F7F1E8"/>
                </a:solidFill>
                <a:latin typeface="Playfair Display"/>
              </a:rPr>
              <a:t>02</a:t>
            </a:r>
          </a:p>
        </p:txBody>
      </p:sp>
      <p:sp>
        <p:nvSpPr>
          <p:cNvPr id="27" name="TextBox 26">
            <a:extLst>
              <a:ext uri="{FF2B5EF4-FFF2-40B4-BE49-F238E27FC236}">
                <a16:creationId xmlns:a16="http://schemas.microsoft.com/office/drawing/2014/main" id="{E7EFC280-9D27-904A-A0C7-11E219F02D3B}"/>
              </a:ext>
            </a:extLst>
          </p:cNvPr>
          <p:cNvSpPr txBox="1"/>
          <p:nvPr/>
        </p:nvSpPr>
        <p:spPr>
          <a:xfrm>
            <a:off x="5156200" y="3136900"/>
            <a:ext cx="2794000" cy="292388"/>
          </a:xfrm>
          <a:prstGeom prst="rect">
            <a:avLst/>
          </a:prstGeom>
          <a:noFill/>
        </p:spPr>
        <p:txBody>
          <a:bodyPr vertOverflow="overflow" vert="horz" wrap="square" rtlCol="0" anchor="t">
            <a:spAutoFit/>
          </a:bodyPr>
          <a:lstStyle/>
          <a:p>
            <a:pPr algn="l">
              <a:buNone/>
            </a:pPr>
            <a:r>
              <a:rPr lang="en-US" sz="1300" b="1" spc="200" dirty="0">
                <a:solidFill>
                  <a:srgbClr val="0E4D4D"/>
                </a:solidFill>
                <a:latin typeface="Big Caslon Medium"/>
              </a:rPr>
              <a:t>SAFETY</a:t>
            </a:r>
          </a:p>
        </p:txBody>
      </p:sp>
      <p:sp>
        <p:nvSpPr>
          <p:cNvPr id="28" name="TextBox 27">
            <a:extLst>
              <a:ext uri="{FF2B5EF4-FFF2-40B4-BE49-F238E27FC236}">
                <a16:creationId xmlns:a16="http://schemas.microsoft.com/office/drawing/2014/main" id="{2C07F328-707B-1A4E-91CE-A01CAEA9DF93}"/>
              </a:ext>
            </a:extLst>
          </p:cNvPr>
          <p:cNvSpPr txBox="1"/>
          <p:nvPr/>
        </p:nvSpPr>
        <p:spPr>
          <a:xfrm>
            <a:off x="5156200" y="3390900"/>
            <a:ext cx="6299200" cy="250581"/>
          </a:xfrm>
          <a:prstGeom prst="rect">
            <a:avLst/>
          </a:prstGeom>
          <a:noFill/>
        </p:spPr>
        <p:txBody>
          <a:bodyPr vertOverflow="overflow" vert="horz" wrap="square" rtlCol="0" anchor="t">
            <a:spAutoFit/>
          </a:bodyPr>
          <a:lstStyle/>
          <a:p>
            <a:pPr algn="l">
              <a:lnSpc>
                <a:spcPts val="1300"/>
              </a:lnSpc>
              <a:buNone/>
            </a:pPr>
            <a:r>
              <a:rPr lang="en-US" sz="1000" dirty="0">
                <a:solidFill>
                  <a:srgbClr val="0E4D4D"/>
                </a:solidFill>
                <a:latin typeface="Big Caslon Medium"/>
              </a:rPr>
              <a:t>Neighborhood security, alarms, locks, lighting, overall peace of mind during the stay.</a:t>
            </a:r>
          </a:p>
        </p:txBody>
      </p:sp>
      <p:sp>
        <p:nvSpPr>
          <p:cNvPr id="30" name="Oval 29">
            <a:extLst>
              <a:ext uri="{FF2B5EF4-FFF2-40B4-BE49-F238E27FC236}">
                <a16:creationId xmlns:a16="http://schemas.microsoft.com/office/drawing/2014/main" id="{2B48B88C-930A-9045-BB1C-AD4F94900F85}"/>
              </a:ext>
            </a:extLst>
          </p:cNvPr>
          <p:cNvSpPr/>
          <p:nvPr/>
        </p:nvSpPr>
        <p:spPr>
          <a:xfrm>
            <a:off x="4597400" y="3924300"/>
            <a:ext cx="406400" cy="406400"/>
          </a:xfrm>
          <a:prstGeom prst="ellipse">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1" name="TextBox 30">
            <a:extLst>
              <a:ext uri="{FF2B5EF4-FFF2-40B4-BE49-F238E27FC236}">
                <a16:creationId xmlns:a16="http://schemas.microsoft.com/office/drawing/2014/main" id="{63639D38-E873-DE4E-843F-06A13BEFDC3B}"/>
              </a:ext>
            </a:extLst>
          </p:cNvPr>
          <p:cNvSpPr txBox="1"/>
          <p:nvPr/>
        </p:nvSpPr>
        <p:spPr>
          <a:xfrm>
            <a:off x="4712435" y="4035167"/>
            <a:ext cx="176330" cy="184666"/>
          </a:xfrm>
          <a:prstGeom prst="rect">
            <a:avLst/>
          </a:prstGeom>
          <a:noFill/>
        </p:spPr>
        <p:txBody>
          <a:bodyPr vertOverflow="overflow" vert="horz" wrap="none" lIns="0" tIns="0" rIns="0" bIns="0" rtlCol="0" anchor="ctr">
            <a:spAutoFit/>
          </a:bodyPr>
          <a:lstStyle/>
          <a:p>
            <a:pPr algn="ctr">
              <a:buNone/>
            </a:pPr>
            <a:r>
              <a:rPr lang="en-US" sz="1200" b="1" i="1" dirty="0">
                <a:solidFill>
                  <a:srgbClr val="F7F1E8"/>
                </a:solidFill>
                <a:latin typeface="Playfair Display"/>
              </a:rPr>
              <a:t>03</a:t>
            </a:r>
          </a:p>
        </p:txBody>
      </p:sp>
      <p:sp>
        <p:nvSpPr>
          <p:cNvPr id="32" name="TextBox 31">
            <a:extLst>
              <a:ext uri="{FF2B5EF4-FFF2-40B4-BE49-F238E27FC236}">
                <a16:creationId xmlns:a16="http://schemas.microsoft.com/office/drawing/2014/main" id="{163B46C8-791C-8141-B473-F8B2F4900BB7}"/>
              </a:ext>
            </a:extLst>
          </p:cNvPr>
          <p:cNvSpPr txBox="1"/>
          <p:nvPr/>
        </p:nvSpPr>
        <p:spPr>
          <a:xfrm>
            <a:off x="5156200" y="3886200"/>
            <a:ext cx="2794000" cy="292388"/>
          </a:xfrm>
          <a:prstGeom prst="rect">
            <a:avLst/>
          </a:prstGeom>
          <a:noFill/>
        </p:spPr>
        <p:txBody>
          <a:bodyPr vertOverflow="overflow" vert="horz" wrap="square" rtlCol="0" anchor="t">
            <a:spAutoFit/>
          </a:bodyPr>
          <a:lstStyle/>
          <a:p>
            <a:pPr algn="l">
              <a:buNone/>
            </a:pPr>
            <a:r>
              <a:rPr lang="en-US" sz="1300" b="1" spc="200" dirty="0">
                <a:solidFill>
                  <a:srgbClr val="0E4D4D"/>
                </a:solidFill>
                <a:latin typeface="Big Caslon Medium"/>
              </a:rPr>
              <a:t>AMENITIES</a:t>
            </a:r>
          </a:p>
        </p:txBody>
      </p:sp>
      <p:sp>
        <p:nvSpPr>
          <p:cNvPr id="33" name="TextBox 32">
            <a:extLst>
              <a:ext uri="{FF2B5EF4-FFF2-40B4-BE49-F238E27FC236}">
                <a16:creationId xmlns:a16="http://schemas.microsoft.com/office/drawing/2014/main" id="{3EB8FB19-696D-054B-BB41-BD5B161230E9}"/>
              </a:ext>
            </a:extLst>
          </p:cNvPr>
          <p:cNvSpPr txBox="1"/>
          <p:nvPr/>
        </p:nvSpPr>
        <p:spPr>
          <a:xfrm>
            <a:off x="5156200" y="4140200"/>
            <a:ext cx="6299200" cy="250581"/>
          </a:xfrm>
          <a:prstGeom prst="rect">
            <a:avLst/>
          </a:prstGeom>
          <a:noFill/>
        </p:spPr>
        <p:txBody>
          <a:bodyPr vertOverflow="overflow" vert="horz" wrap="square" rtlCol="0" anchor="t">
            <a:spAutoFit/>
          </a:bodyPr>
          <a:lstStyle/>
          <a:p>
            <a:pPr algn="l">
              <a:lnSpc>
                <a:spcPts val="1300"/>
              </a:lnSpc>
              <a:buNone/>
            </a:pPr>
            <a:r>
              <a:rPr lang="en-US" sz="1000" dirty="0">
                <a:solidFill>
                  <a:srgbClr val="0E4D4D"/>
                </a:solidFill>
                <a:latin typeface="Big Caslon Medium"/>
              </a:rPr>
              <a:t>In unit features such as Wi-Fi, kitchen, laundry, heating and cooling, workspace, parking.</a:t>
            </a:r>
          </a:p>
        </p:txBody>
      </p:sp>
      <p:sp>
        <p:nvSpPr>
          <p:cNvPr id="35" name="Oval 34">
            <a:extLst>
              <a:ext uri="{FF2B5EF4-FFF2-40B4-BE49-F238E27FC236}">
                <a16:creationId xmlns:a16="http://schemas.microsoft.com/office/drawing/2014/main" id="{2DAF3E67-C3E5-4744-B0F6-7E16C73EA7FC}"/>
              </a:ext>
            </a:extLst>
          </p:cNvPr>
          <p:cNvSpPr/>
          <p:nvPr/>
        </p:nvSpPr>
        <p:spPr>
          <a:xfrm>
            <a:off x="4597400" y="4673600"/>
            <a:ext cx="406400" cy="406400"/>
          </a:xfrm>
          <a:prstGeom prst="ellipse">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6" name="TextBox 35">
            <a:extLst>
              <a:ext uri="{FF2B5EF4-FFF2-40B4-BE49-F238E27FC236}">
                <a16:creationId xmlns:a16="http://schemas.microsoft.com/office/drawing/2014/main" id="{4DF65485-96FA-F449-AF99-B7C4538D4ED4}"/>
              </a:ext>
            </a:extLst>
          </p:cNvPr>
          <p:cNvSpPr txBox="1"/>
          <p:nvPr/>
        </p:nvSpPr>
        <p:spPr>
          <a:xfrm>
            <a:off x="4711633" y="4784467"/>
            <a:ext cx="177934" cy="184666"/>
          </a:xfrm>
          <a:prstGeom prst="rect">
            <a:avLst/>
          </a:prstGeom>
          <a:noFill/>
        </p:spPr>
        <p:txBody>
          <a:bodyPr vertOverflow="overflow" vert="horz" wrap="none" lIns="0" tIns="0" rIns="0" bIns="0" rtlCol="0" anchor="ctr">
            <a:spAutoFit/>
          </a:bodyPr>
          <a:lstStyle/>
          <a:p>
            <a:pPr algn="ctr">
              <a:buNone/>
            </a:pPr>
            <a:r>
              <a:rPr lang="en-US" sz="1200" b="1" i="1" dirty="0">
                <a:solidFill>
                  <a:srgbClr val="F7F1E8"/>
                </a:solidFill>
                <a:latin typeface="Playfair Display"/>
              </a:rPr>
              <a:t>04</a:t>
            </a:r>
          </a:p>
        </p:txBody>
      </p:sp>
      <p:sp>
        <p:nvSpPr>
          <p:cNvPr id="37" name="TextBox 36">
            <a:extLst>
              <a:ext uri="{FF2B5EF4-FFF2-40B4-BE49-F238E27FC236}">
                <a16:creationId xmlns:a16="http://schemas.microsoft.com/office/drawing/2014/main" id="{961E1B59-8AA5-9246-875A-ABB00A6A2CB1}"/>
              </a:ext>
            </a:extLst>
          </p:cNvPr>
          <p:cNvSpPr txBox="1"/>
          <p:nvPr/>
        </p:nvSpPr>
        <p:spPr>
          <a:xfrm>
            <a:off x="5156200" y="4635500"/>
            <a:ext cx="2794000" cy="292388"/>
          </a:xfrm>
          <a:prstGeom prst="rect">
            <a:avLst/>
          </a:prstGeom>
          <a:noFill/>
        </p:spPr>
        <p:txBody>
          <a:bodyPr vertOverflow="overflow" vert="horz" wrap="square" rtlCol="0" anchor="t">
            <a:spAutoFit/>
          </a:bodyPr>
          <a:lstStyle/>
          <a:p>
            <a:pPr algn="l">
              <a:buNone/>
            </a:pPr>
            <a:r>
              <a:rPr lang="en-US" sz="1300" b="1" spc="200" dirty="0">
                <a:solidFill>
                  <a:srgbClr val="0E4D4D"/>
                </a:solidFill>
                <a:latin typeface="Big Caslon Medium"/>
              </a:rPr>
              <a:t>LOCATION</a:t>
            </a:r>
          </a:p>
        </p:txBody>
      </p:sp>
      <p:sp>
        <p:nvSpPr>
          <p:cNvPr id="38" name="TextBox 37">
            <a:extLst>
              <a:ext uri="{FF2B5EF4-FFF2-40B4-BE49-F238E27FC236}">
                <a16:creationId xmlns:a16="http://schemas.microsoft.com/office/drawing/2014/main" id="{40CCDF88-4F4E-BD4A-8529-CB48C8B9A840}"/>
              </a:ext>
            </a:extLst>
          </p:cNvPr>
          <p:cNvSpPr txBox="1"/>
          <p:nvPr/>
        </p:nvSpPr>
        <p:spPr>
          <a:xfrm>
            <a:off x="5156200" y="4889500"/>
            <a:ext cx="6299200" cy="250581"/>
          </a:xfrm>
          <a:prstGeom prst="rect">
            <a:avLst/>
          </a:prstGeom>
          <a:noFill/>
        </p:spPr>
        <p:txBody>
          <a:bodyPr vertOverflow="overflow" vert="horz" wrap="square" rtlCol="0" anchor="t">
            <a:spAutoFit/>
          </a:bodyPr>
          <a:lstStyle/>
          <a:p>
            <a:pPr algn="l">
              <a:lnSpc>
                <a:spcPts val="1300"/>
              </a:lnSpc>
              <a:buNone/>
            </a:pPr>
            <a:r>
              <a:rPr lang="en-US" sz="1000" dirty="0">
                <a:solidFill>
                  <a:srgbClr val="0E4D4D"/>
                </a:solidFill>
                <a:latin typeface="Big Caslon Medium"/>
              </a:rPr>
              <a:t>Proximity to attractions, transit access, walkability, surrounding neighborhood character.</a:t>
            </a:r>
          </a:p>
        </p:txBody>
      </p:sp>
      <p:sp>
        <p:nvSpPr>
          <p:cNvPr id="40" name="Oval 39">
            <a:extLst>
              <a:ext uri="{FF2B5EF4-FFF2-40B4-BE49-F238E27FC236}">
                <a16:creationId xmlns:a16="http://schemas.microsoft.com/office/drawing/2014/main" id="{3E759985-69CB-9C42-92B6-1F9B9A635DD4}"/>
              </a:ext>
            </a:extLst>
          </p:cNvPr>
          <p:cNvSpPr/>
          <p:nvPr/>
        </p:nvSpPr>
        <p:spPr>
          <a:xfrm>
            <a:off x="4597400" y="5422900"/>
            <a:ext cx="406400" cy="406400"/>
          </a:xfrm>
          <a:prstGeom prst="ellipse">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1" name="TextBox 40">
            <a:extLst>
              <a:ext uri="{FF2B5EF4-FFF2-40B4-BE49-F238E27FC236}">
                <a16:creationId xmlns:a16="http://schemas.microsoft.com/office/drawing/2014/main" id="{11993DB4-7081-8D44-8992-2F449C331538}"/>
              </a:ext>
            </a:extLst>
          </p:cNvPr>
          <p:cNvSpPr txBox="1"/>
          <p:nvPr/>
        </p:nvSpPr>
        <p:spPr>
          <a:xfrm>
            <a:off x="4716442" y="5533767"/>
            <a:ext cx="168315" cy="184666"/>
          </a:xfrm>
          <a:prstGeom prst="rect">
            <a:avLst/>
          </a:prstGeom>
          <a:noFill/>
        </p:spPr>
        <p:txBody>
          <a:bodyPr vertOverflow="overflow" vert="horz" wrap="none" lIns="0" tIns="0" rIns="0" bIns="0" rtlCol="0" anchor="ctr">
            <a:spAutoFit/>
          </a:bodyPr>
          <a:lstStyle/>
          <a:p>
            <a:pPr algn="ctr">
              <a:buNone/>
            </a:pPr>
            <a:r>
              <a:rPr lang="en-US" sz="1200" b="1" i="1" dirty="0">
                <a:solidFill>
                  <a:srgbClr val="F7F1E8"/>
                </a:solidFill>
                <a:latin typeface="Playfair Display"/>
              </a:rPr>
              <a:t>05</a:t>
            </a:r>
          </a:p>
        </p:txBody>
      </p:sp>
      <p:sp>
        <p:nvSpPr>
          <p:cNvPr id="42" name="TextBox 41">
            <a:extLst>
              <a:ext uri="{FF2B5EF4-FFF2-40B4-BE49-F238E27FC236}">
                <a16:creationId xmlns:a16="http://schemas.microsoft.com/office/drawing/2014/main" id="{6AF0E509-1BAE-194A-9FBA-832532F72371}"/>
              </a:ext>
            </a:extLst>
          </p:cNvPr>
          <p:cNvSpPr txBox="1"/>
          <p:nvPr/>
        </p:nvSpPr>
        <p:spPr>
          <a:xfrm>
            <a:off x="5156200" y="5384800"/>
            <a:ext cx="2794000" cy="292388"/>
          </a:xfrm>
          <a:prstGeom prst="rect">
            <a:avLst/>
          </a:prstGeom>
          <a:noFill/>
        </p:spPr>
        <p:txBody>
          <a:bodyPr vertOverflow="overflow" vert="horz" wrap="square" rtlCol="0" anchor="t">
            <a:spAutoFit/>
          </a:bodyPr>
          <a:lstStyle/>
          <a:p>
            <a:pPr algn="l">
              <a:buNone/>
            </a:pPr>
            <a:r>
              <a:rPr lang="en-US" sz="1300" b="1" spc="200" dirty="0">
                <a:solidFill>
                  <a:srgbClr val="0E4D4D"/>
                </a:solidFill>
                <a:latin typeface="Big Caslon Medium"/>
              </a:rPr>
              <a:t>SERVICE</a:t>
            </a:r>
          </a:p>
        </p:txBody>
      </p:sp>
      <p:sp>
        <p:nvSpPr>
          <p:cNvPr id="43" name="TextBox 42">
            <a:extLst>
              <a:ext uri="{FF2B5EF4-FFF2-40B4-BE49-F238E27FC236}">
                <a16:creationId xmlns:a16="http://schemas.microsoft.com/office/drawing/2014/main" id="{3B204EBE-7EF8-8D46-B7D3-6238ADA40480}"/>
              </a:ext>
            </a:extLst>
          </p:cNvPr>
          <p:cNvSpPr txBox="1"/>
          <p:nvPr/>
        </p:nvSpPr>
        <p:spPr>
          <a:xfrm>
            <a:off x="5156200" y="5638800"/>
            <a:ext cx="6299200" cy="250581"/>
          </a:xfrm>
          <a:prstGeom prst="rect">
            <a:avLst/>
          </a:prstGeom>
          <a:noFill/>
        </p:spPr>
        <p:txBody>
          <a:bodyPr vertOverflow="overflow" vert="horz" wrap="square" rtlCol="0" anchor="t">
            <a:spAutoFit/>
          </a:bodyPr>
          <a:lstStyle/>
          <a:p>
            <a:pPr algn="l">
              <a:lnSpc>
                <a:spcPts val="1300"/>
              </a:lnSpc>
              <a:buNone/>
            </a:pPr>
            <a:r>
              <a:rPr lang="en-US" sz="1000" dirty="0">
                <a:solidFill>
                  <a:srgbClr val="0E4D4D"/>
                </a:solidFill>
                <a:latin typeface="Big Caslon Medium"/>
              </a:rPr>
              <a:t>Host responsiveness, communication quality, check in experience, problem resolution.</a:t>
            </a:r>
          </a:p>
        </p:txBody>
      </p:sp>
      <p:sp>
        <p:nvSpPr>
          <p:cNvPr id="45" name="Rectangle 44">
            <a:extLst>
              <a:ext uri="{FF2B5EF4-FFF2-40B4-BE49-F238E27FC236}">
                <a16:creationId xmlns:a16="http://schemas.microsoft.com/office/drawing/2014/main" id="{7C808804-98AF-EB45-B6C0-321862BA1E07}"/>
              </a:ext>
            </a:extLst>
          </p:cNvPr>
          <p:cNvSpPr/>
          <p:nvPr/>
        </p:nvSpPr>
        <p:spPr>
          <a:xfrm>
            <a:off x="558800" y="6070600"/>
            <a:ext cx="50800" cy="2794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6" name="TextBox 45">
            <a:extLst>
              <a:ext uri="{FF2B5EF4-FFF2-40B4-BE49-F238E27FC236}">
                <a16:creationId xmlns:a16="http://schemas.microsoft.com/office/drawing/2014/main" id="{06CE7DFA-624B-0045-94EF-CA208277C331}"/>
              </a:ext>
            </a:extLst>
          </p:cNvPr>
          <p:cNvSpPr txBox="1"/>
          <p:nvPr/>
        </p:nvSpPr>
        <p:spPr>
          <a:xfrm>
            <a:off x="736600" y="6146056"/>
            <a:ext cx="9427261" cy="153888"/>
          </a:xfrm>
          <a:prstGeom prst="rect">
            <a:avLst/>
          </a:prstGeom>
          <a:noFill/>
        </p:spPr>
        <p:txBody>
          <a:bodyPr vertOverflow="overflow" vert="horz" wrap="none" lIns="0" tIns="0" rIns="0" bIns="0" rtlCol="0" anchor="ctr">
            <a:spAutoFit/>
          </a:bodyPr>
          <a:lstStyle/>
          <a:p>
            <a:pPr algn="l">
              <a:buNone/>
            </a:pPr>
            <a:r>
              <a:rPr lang="en-US" sz="1000" b="1" spc="150" dirty="0">
                <a:solidFill>
                  <a:srgbClr val="0E4D4D"/>
                </a:solidFill>
                <a:latin typeface="Big Caslon Medium"/>
              </a:rPr>
              <a:t>USE IN PRICE MODEL   ·   </a:t>
            </a:r>
            <a:r>
              <a:rPr lang="en-US" sz="1000" dirty="0">
                <a:solidFill>
                  <a:srgbClr val="0E4D4D"/>
                </a:solidFill>
                <a:latin typeface="Big Caslon Medium"/>
              </a:rPr>
              <a:t>Five category scores merged with the Listings dataset on review_id and added as listing level features alongside property and host attributes.</a:t>
            </a:r>
          </a:p>
        </p:txBody>
      </p:sp>
      <p:pic>
        <p:nvPicPr>
          <p:cNvPr id="47" name="Picture 46">
            <a:extLst>
              <a:ext uri="{FF2B5EF4-FFF2-40B4-BE49-F238E27FC236}">
                <a16:creationId xmlns:a16="http://schemas.microsoft.com/office/drawing/2014/main" id="{248448CC-F819-780B-E41E-356EBD2DA897}"/>
              </a:ext>
            </a:extLst>
          </p:cNvPr>
          <p:cNvPicPr>
            <a:picLocks noChangeAspect="1"/>
          </p:cNvPicPr>
          <p:nvPr/>
        </p:nvPicPr>
        <p:blipFill>
          <a:blip r:embed="rId2"/>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667718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30" name="Rounded Rectangle 29">
            <a:extLst>
              <a:ext uri="{FF2B5EF4-FFF2-40B4-BE49-F238E27FC236}">
                <a16:creationId xmlns:a16="http://schemas.microsoft.com/office/drawing/2014/main" id="{CA5BF145-FB46-AD49-A92A-ED7F72FE57BB}"/>
              </a:ext>
            </a:extLst>
          </p:cNvPr>
          <p:cNvSpPr/>
          <p:nvPr/>
        </p:nvSpPr>
        <p:spPr>
          <a:xfrm>
            <a:off x="558800" y="5080000"/>
            <a:ext cx="8382000" cy="13208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3" name="Rounded Rectangle 22">
            <a:extLst>
              <a:ext uri="{FF2B5EF4-FFF2-40B4-BE49-F238E27FC236}">
                <a16:creationId xmlns:a16="http://schemas.microsoft.com/office/drawing/2014/main" id="{9C525D79-9DAD-EE43-9325-C01FA2D86DA0}"/>
              </a:ext>
            </a:extLst>
          </p:cNvPr>
          <p:cNvSpPr/>
          <p:nvPr/>
        </p:nvSpPr>
        <p:spPr>
          <a:xfrm>
            <a:off x="558800" y="3683000"/>
            <a:ext cx="8382000" cy="13208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6" name="Rounded Rectangle 15">
            <a:extLst>
              <a:ext uri="{FF2B5EF4-FFF2-40B4-BE49-F238E27FC236}">
                <a16:creationId xmlns:a16="http://schemas.microsoft.com/office/drawing/2014/main" id="{E2CDE191-8F5B-A740-98F6-CC01BE0C8DF0}"/>
              </a:ext>
            </a:extLst>
          </p:cNvPr>
          <p:cNvSpPr/>
          <p:nvPr/>
        </p:nvSpPr>
        <p:spPr>
          <a:xfrm>
            <a:off x="558800" y="2286000"/>
            <a:ext cx="8382000" cy="13208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 name="Rectangle 1">
            <a:extLst>
              <a:ext uri="{FF2B5EF4-FFF2-40B4-BE49-F238E27FC236}">
                <a16:creationId xmlns:a16="http://schemas.microsoft.com/office/drawing/2014/main" id="{241BBA60-36E3-A944-8307-9E940CC7A851}"/>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 name="Rectangle 2">
            <a:extLst>
              <a:ext uri="{FF2B5EF4-FFF2-40B4-BE49-F238E27FC236}">
                <a16:creationId xmlns:a16="http://schemas.microsoft.com/office/drawing/2014/main" id="{F5978CD4-AF7B-9F4F-A51E-B454543BE015}"/>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4" name="Rectangle 3">
            <a:extLst>
              <a:ext uri="{FF2B5EF4-FFF2-40B4-BE49-F238E27FC236}">
                <a16:creationId xmlns:a16="http://schemas.microsoft.com/office/drawing/2014/main" id="{EF8ABFD5-A56E-8F4E-8656-A80A1D0A3631}"/>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5" name="Rectangle 4">
            <a:extLst>
              <a:ext uri="{FF2B5EF4-FFF2-40B4-BE49-F238E27FC236}">
                <a16:creationId xmlns:a16="http://schemas.microsoft.com/office/drawing/2014/main" id="{4BF0D50C-CF1C-A74A-A321-183AB1D02DE0}"/>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6" name="Rectangle 5">
            <a:extLst>
              <a:ext uri="{FF2B5EF4-FFF2-40B4-BE49-F238E27FC236}">
                <a16:creationId xmlns:a16="http://schemas.microsoft.com/office/drawing/2014/main" id="{263B024D-74F1-BA40-9C04-65C655EB7429}"/>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7" name="TextBox 6">
            <a:extLst>
              <a:ext uri="{FF2B5EF4-FFF2-40B4-BE49-F238E27FC236}">
                <a16:creationId xmlns:a16="http://schemas.microsoft.com/office/drawing/2014/main" id="{437FE46D-3864-E848-8AB1-EEA14AF0E9F8}"/>
              </a:ext>
            </a:extLst>
          </p:cNvPr>
          <p:cNvSpPr txBox="1"/>
          <p:nvPr/>
        </p:nvSpPr>
        <p:spPr>
          <a:xfrm>
            <a:off x="1651000" y="369500"/>
            <a:ext cx="7112000" cy="276999"/>
          </a:xfrm>
          <a:prstGeom prst="rect">
            <a:avLst/>
          </a:prstGeom>
          <a:noFill/>
        </p:spPr>
        <p:txBody>
          <a:bodyPr vertOverflow="overflow" vert="horz" wrap="square" rtlCol="0" anchor="ctr">
            <a:spAutoFit/>
          </a:bodyPr>
          <a:lstStyle/>
          <a:p>
            <a:pPr algn="l">
              <a:buNone/>
            </a:pPr>
            <a:r>
              <a:rPr lang="en-US" sz="1200" b="1" spc="20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74DD6872-D7B9-E24A-964A-35DA89722ABE}"/>
              </a:ext>
            </a:extLst>
          </p:cNvPr>
          <p:cNvSpPr txBox="1"/>
          <p:nvPr/>
        </p:nvSpPr>
        <p:spPr>
          <a:xfrm>
            <a:off x="10033000" y="381000"/>
            <a:ext cx="1778000" cy="279400"/>
          </a:xfrm>
          <a:prstGeom prst="rect">
            <a:avLst/>
          </a:prstGeom>
          <a:noFill/>
        </p:spPr>
        <p:txBody>
          <a:bodyPr vertOverflow="overflow" vert="horz" wrap="square" rtlCol="0" anchor="ctr">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7798723E-AAC1-ED48-B5DA-00BECB7F6C07}"/>
              </a:ext>
            </a:extLst>
          </p:cNvPr>
          <p:cNvSpPr txBox="1"/>
          <p:nvPr/>
        </p:nvSpPr>
        <p:spPr>
          <a:xfrm>
            <a:off x="711200" y="1270000"/>
            <a:ext cx="7620000" cy="261610"/>
          </a:xfrm>
          <a:prstGeom prst="rect">
            <a:avLst/>
          </a:prstGeom>
          <a:noFill/>
        </p:spPr>
        <p:txBody>
          <a:bodyPr vertOverflow="overflow" vert="horz" wrap="square" rtlCol="0" anchor="t">
            <a:spAutoFit/>
          </a:bodyPr>
          <a:lstStyle/>
          <a:p>
            <a:pPr algn="l">
              <a:buNone/>
            </a:pPr>
            <a:r>
              <a:rPr lang="en-US" sz="1100" b="1" spc="200" dirty="0">
                <a:solidFill>
                  <a:srgbClr val="E07856"/>
                </a:solidFill>
                <a:latin typeface="Big Caslon Medium"/>
              </a:rPr>
              <a:t>NLP   ·   TOPIC MODELING</a:t>
            </a:r>
          </a:p>
        </p:txBody>
      </p:sp>
      <p:sp>
        <p:nvSpPr>
          <p:cNvPr id="10" name="TextBox 9">
            <a:extLst>
              <a:ext uri="{FF2B5EF4-FFF2-40B4-BE49-F238E27FC236}">
                <a16:creationId xmlns:a16="http://schemas.microsoft.com/office/drawing/2014/main" id="{AF16FCB5-C51D-FD47-9BDD-6C9F4CAFA13A}"/>
              </a:ext>
            </a:extLst>
          </p:cNvPr>
          <p:cNvSpPr txBox="1"/>
          <p:nvPr/>
        </p:nvSpPr>
        <p:spPr>
          <a:xfrm>
            <a:off x="635000" y="1498600"/>
            <a:ext cx="10922000" cy="584775"/>
          </a:xfrm>
          <a:prstGeom prst="rect">
            <a:avLst/>
          </a:prstGeom>
          <a:noFill/>
        </p:spPr>
        <p:txBody>
          <a:bodyPr vertOverflow="overflow" vert="horz" wrap="square" rtlCol="0" anchor="t">
            <a:spAutoFit/>
          </a:bodyPr>
          <a:lstStyle/>
          <a:p>
            <a:pPr algn="l">
              <a:buNone/>
            </a:pPr>
            <a:r>
              <a:rPr lang="en-US" sz="3200" b="1" i="1" dirty="0">
                <a:solidFill>
                  <a:srgbClr val="0E4D4D"/>
                </a:solidFill>
                <a:latin typeface="Playfair Display"/>
              </a:rPr>
              <a:t>Topic Modeling: LDA, NMF, LSA</a:t>
            </a:r>
          </a:p>
        </p:txBody>
      </p:sp>
      <p:sp>
        <p:nvSpPr>
          <p:cNvPr id="11" name="TextBox 10">
            <a:extLst>
              <a:ext uri="{FF2B5EF4-FFF2-40B4-BE49-F238E27FC236}">
                <a16:creationId xmlns:a16="http://schemas.microsoft.com/office/drawing/2014/main" id="{EC5A843E-FC59-E441-854B-F7F1413DE374}"/>
              </a:ext>
            </a:extLst>
          </p:cNvPr>
          <p:cNvSpPr txBox="1"/>
          <p:nvPr/>
        </p:nvSpPr>
        <p:spPr>
          <a:xfrm>
            <a:off x="406400" y="6553200"/>
            <a:ext cx="6350000" cy="254000"/>
          </a:xfrm>
          <a:prstGeom prst="rect">
            <a:avLst/>
          </a:prstGeom>
          <a:noFill/>
        </p:spPr>
        <p:txBody>
          <a:bodyPr vertOverflow="overflow" vert="horz" wrap="square" rtlCol="0" anchor="ctr">
            <a:spAutoFit/>
          </a:bodyPr>
          <a:lstStyle/>
          <a:p>
            <a:pPr algn="l">
              <a:buNone/>
            </a:pPr>
            <a:r>
              <a:rPr lang="en-US" sz="1000" b="1" spc="15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2BE5AF2C-3328-A04D-A13F-E8765E44564C}"/>
              </a:ext>
            </a:extLst>
          </p:cNvPr>
          <p:cNvSpPr txBox="1"/>
          <p:nvPr/>
        </p:nvSpPr>
        <p:spPr>
          <a:xfrm>
            <a:off x="11049000" y="6553200"/>
            <a:ext cx="762000" cy="254000"/>
          </a:xfrm>
          <a:prstGeom prst="rect">
            <a:avLst/>
          </a:prstGeom>
          <a:noFill/>
        </p:spPr>
        <p:txBody>
          <a:bodyPr vertOverflow="overflow" vert="horz" wrap="square" rtlCol="0" anchor="ctr">
            <a:spAutoFit/>
          </a:bodyPr>
          <a:lstStyle/>
          <a:p>
            <a:pPr algn="r">
              <a:buNone/>
            </a:pPr>
            <a:r>
              <a:rPr lang="en-US" sz="1000" b="1" spc="150" dirty="0">
                <a:solidFill>
                  <a:srgbClr val="E07856"/>
                </a:solidFill>
                <a:latin typeface="Big Caslon Medium"/>
              </a:rPr>
              <a:t>08 / 14</a:t>
            </a:r>
          </a:p>
        </p:txBody>
      </p:sp>
      <p:pic>
        <p:nvPicPr>
          <p:cNvPr id="13" name="Picture 12">
            <a:extLst>
              <a:ext uri="{FF2B5EF4-FFF2-40B4-BE49-F238E27FC236}">
                <a16:creationId xmlns:a16="http://schemas.microsoft.com/office/drawing/2014/main" id="{75D578FB-1E22-1714-BF99-2D3E851804D0}"/>
              </a:ext>
            </a:extLst>
          </p:cNvPr>
          <p:cNvPicPr>
            <a:picLocks noChangeAspect="1"/>
          </p:cNvPicPr>
          <p:nvPr/>
        </p:nvPicPr>
        <p:blipFill>
          <a:blip r:embed="rId2"/>
          <a:stretch>
            <a:fillRect/>
          </a:stretch>
        </p:blipFill>
        <p:spPr>
          <a:xfrm>
            <a:off x="9144000" y="2336800"/>
            <a:ext cx="2794000" cy="1270000"/>
          </a:xfrm>
          <a:prstGeom prst="rect">
            <a:avLst/>
          </a:prstGeom>
        </p:spPr>
      </p:pic>
      <p:pic>
        <p:nvPicPr>
          <p:cNvPr id="14" name="Picture 13">
            <a:extLst>
              <a:ext uri="{FF2B5EF4-FFF2-40B4-BE49-F238E27FC236}">
                <a16:creationId xmlns:a16="http://schemas.microsoft.com/office/drawing/2014/main" id="{23237941-BD43-D8D4-6AFF-EF7BC14E782A}"/>
              </a:ext>
            </a:extLst>
          </p:cNvPr>
          <p:cNvPicPr>
            <a:picLocks noChangeAspect="1"/>
          </p:cNvPicPr>
          <p:nvPr/>
        </p:nvPicPr>
        <p:blipFill>
          <a:blip r:embed="rId3"/>
          <a:stretch>
            <a:fillRect/>
          </a:stretch>
        </p:blipFill>
        <p:spPr>
          <a:xfrm>
            <a:off x="9144000" y="3733800"/>
            <a:ext cx="2794000" cy="1270000"/>
          </a:xfrm>
          <a:prstGeom prst="rect">
            <a:avLst/>
          </a:prstGeom>
        </p:spPr>
      </p:pic>
      <p:pic>
        <p:nvPicPr>
          <p:cNvPr id="15" name="Picture 14">
            <a:extLst>
              <a:ext uri="{FF2B5EF4-FFF2-40B4-BE49-F238E27FC236}">
                <a16:creationId xmlns:a16="http://schemas.microsoft.com/office/drawing/2014/main" id="{CF991B30-E99D-B7AD-E2BA-4E8FED0D8E21}"/>
              </a:ext>
            </a:extLst>
          </p:cNvPr>
          <p:cNvPicPr>
            <a:picLocks noChangeAspect="1"/>
          </p:cNvPicPr>
          <p:nvPr/>
        </p:nvPicPr>
        <p:blipFill>
          <a:blip r:embed="rId4"/>
          <a:stretch>
            <a:fillRect/>
          </a:stretch>
        </p:blipFill>
        <p:spPr>
          <a:xfrm>
            <a:off x="9144000" y="5130800"/>
            <a:ext cx="2794000" cy="1270000"/>
          </a:xfrm>
          <a:prstGeom prst="rect">
            <a:avLst/>
          </a:prstGeom>
        </p:spPr>
      </p:pic>
      <p:sp>
        <p:nvSpPr>
          <p:cNvPr id="17" name="Rectangle 16">
            <a:extLst>
              <a:ext uri="{FF2B5EF4-FFF2-40B4-BE49-F238E27FC236}">
                <a16:creationId xmlns:a16="http://schemas.microsoft.com/office/drawing/2014/main" id="{C876CE74-466A-384F-83B9-9BD8CB7EDF87}"/>
              </a:ext>
            </a:extLst>
          </p:cNvPr>
          <p:cNvSpPr/>
          <p:nvPr/>
        </p:nvSpPr>
        <p:spPr>
          <a:xfrm>
            <a:off x="736600" y="24384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8" name="TextBox 17">
            <a:extLst>
              <a:ext uri="{FF2B5EF4-FFF2-40B4-BE49-F238E27FC236}">
                <a16:creationId xmlns:a16="http://schemas.microsoft.com/office/drawing/2014/main" id="{767BCAD6-19FD-474C-B523-C934D61459A6}"/>
              </a:ext>
            </a:extLst>
          </p:cNvPr>
          <p:cNvSpPr txBox="1"/>
          <p:nvPr/>
        </p:nvSpPr>
        <p:spPr>
          <a:xfrm>
            <a:off x="914400" y="2413000"/>
            <a:ext cx="1143000" cy="4318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LDA</a:t>
            </a:r>
          </a:p>
        </p:txBody>
      </p:sp>
      <p:sp>
        <p:nvSpPr>
          <p:cNvPr id="19" name="TextBox 18">
            <a:extLst>
              <a:ext uri="{FF2B5EF4-FFF2-40B4-BE49-F238E27FC236}">
                <a16:creationId xmlns:a16="http://schemas.microsoft.com/office/drawing/2014/main" id="{0E94BACD-DB2F-9745-B629-1755992C80EB}"/>
              </a:ext>
            </a:extLst>
          </p:cNvPr>
          <p:cNvSpPr txBox="1"/>
          <p:nvPr/>
        </p:nvSpPr>
        <p:spPr>
          <a:xfrm>
            <a:off x="2184400" y="2489200"/>
            <a:ext cx="6096000" cy="228600"/>
          </a:xfrm>
          <a:prstGeom prst="rect">
            <a:avLst/>
          </a:prstGeom>
          <a:noFill/>
        </p:spPr>
        <p:txBody>
          <a:bodyPr vertOverflow="overflow" vert="horz" wrap="square" rtlCol="0" anchor="t">
            <a:spAutoFit/>
          </a:bodyPr>
          <a:lstStyle/>
          <a:p>
            <a:pPr algn="l"/>
            <a:r>
              <a:rPr lang="en-US" sz="1300" b="1" dirty="0">
                <a:solidFill>
                  <a:srgbClr val="0E4D4D"/>
                </a:solidFill>
                <a:latin typeface="Big Caslon Medium"/>
                <a:cs typeface="Big Caslon Medium"/>
              </a:rPr>
              <a:t>Latent Dirichlet Allocation</a:t>
            </a:r>
          </a:p>
        </p:txBody>
      </p:sp>
      <p:sp>
        <p:nvSpPr>
          <p:cNvPr id="20" name="TextBox 19">
            <a:extLst>
              <a:ext uri="{FF2B5EF4-FFF2-40B4-BE49-F238E27FC236}">
                <a16:creationId xmlns:a16="http://schemas.microsoft.com/office/drawing/2014/main" id="{A08983F1-08F3-084F-B9AF-C57EBF284E3D}"/>
              </a:ext>
            </a:extLst>
          </p:cNvPr>
          <p:cNvSpPr txBox="1"/>
          <p:nvPr/>
        </p:nvSpPr>
        <p:spPr>
          <a:xfrm>
            <a:off x="2184400" y="2743200"/>
            <a:ext cx="6096000" cy="246221"/>
          </a:xfrm>
          <a:prstGeom prst="rect">
            <a:avLst/>
          </a:prstGeom>
          <a:noFill/>
        </p:spPr>
        <p:txBody>
          <a:bodyPr vertOverflow="overflow" vert="horz" wrap="square" rtlCol="0" anchor="t">
            <a:spAutoFit/>
          </a:bodyPr>
          <a:lstStyle/>
          <a:p>
            <a:r>
              <a:rPr lang="en-US" sz="1000" i="1" dirty="0">
                <a:solidFill>
                  <a:srgbClr val="0E4D4D"/>
                </a:solidFill>
                <a:latin typeface="Big Caslon Medium"/>
                <a:cs typeface="Big Caslon Medium"/>
              </a:rPr>
              <a:t>BoW matrix, topic scores were integrated with structured listing attributes for price prediction model</a:t>
            </a:r>
          </a:p>
        </p:txBody>
      </p:sp>
      <p:sp>
        <p:nvSpPr>
          <p:cNvPr id="21" name="Rectangle 20">
            <a:extLst>
              <a:ext uri="{FF2B5EF4-FFF2-40B4-BE49-F238E27FC236}">
                <a16:creationId xmlns:a16="http://schemas.microsoft.com/office/drawing/2014/main" id="{0FA54693-EE3C-8F4B-B08E-6494312165FE}"/>
              </a:ext>
            </a:extLst>
          </p:cNvPr>
          <p:cNvSpPr/>
          <p:nvPr/>
        </p:nvSpPr>
        <p:spPr>
          <a:xfrm>
            <a:off x="914400" y="3022600"/>
            <a:ext cx="7620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2" name="TextBox 21">
            <a:extLst>
              <a:ext uri="{FF2B5EF4-FFF2-40B4-BE49-F238E27FC236}">
                <a16:creationId xmlns:a16="http://schemas.microsoft.com/office/drawing/2014/main" id="{C6A1FB12-E3D3-114D-ACD9-0D9B6E94A0AB}"/>
              </a:ext>
            </a:extLst>
          </p:cNvPr>
          <p:cNvSpPr txBox="1"/>
          <p:nvPr/>
        </p:nvSpPr>
        <p:spPr>
          <a:xfrm>
            <a:off x="914400" y="3098800"/>
            <a:ext cx="7874000" cy="482600"/>
          </a:xfrm>
          <a:prstGeom prst="rect">
            <a:avLst/>
          </a:prstGeom>
          <a:noFill/>
        </p:spPr>
        <p:txBody>
          <a:bodyPr vertOverflow="overflow" vert="horz" wrap="square" rtlCol="0" anchor="t">
            <a:spAutoFit/>
          </a:bodyPr>
          <a:lstStyle/>
          <a:p>
            <a:pPr algn="l"/>
            <a:r>
              <a:rPr lang="en-US" sz="1000" dirty="0">
                <a:solidFill>
                  <a:srgbClr val="0E4D4D"/>
                </a:solidFill>
                <a:latin typeface="Big Caslon Medium"/>
                <a:cs typeface="Big Caslon Medium"/>
              </a:rPr>
              <a:t>Accessibility &amp; host responsiveness  ·  Group &amp; family stays  ·  Property issues &amp; overnight experience  ·  Neighborhood &amp; dining proximity  ·  Local exploration &amp; activities</a:t>
            </a:r>
          </a:p>
        </p:txBody>
      </p:sp>
      <p:sp>
        <p:nvSpPr>
          <p:cNvPr id="24" name="Rectangle 23">
            <a:extLst>
              <a:ext uri="{FF2B5EF4-FFF2-40B4-BE49-F238E27FC236}">
                <a16:creationId xmlns:a16="http://schemas.microsoft.com/office/drawing/2014/main" id="{66F30761-9692-A94D-80A6-3B76D761A6DE}"/>
              </a:ext>
            </a:extLst>
          </p:cNvPr>
          <p:cNvSpPr/>
          <p:nvPr/>
        </p:nvSpPr>
        <p:spPr>
          <a:xfrm>
            <a:off x="736600" y="38354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5" name="TextBox 24">
            <a:extLst>
              <a:ext uri="{FF2B5EF4-FFF2-40B4-BE49-F238E27FC236}">
                <a16:creationId xmlns:a16="http://schemas.microsoft.com/office/drawing/2014/main" id="{33A544C0-D362-DC40-AC20-F42CF3C93C4B}"/>
              </a:ext>
            </a:extLst>
          </p:cNvPr>
          <p:cNvSpPr txBox="1"/>
          <p:nvPr/>
        </p:nvSpPr>
        <p:spPr>
          <a:xfrm>
            <a:off x="914400" y="3810000"/>
            <a:ext cx="1143000" cy="4318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NMF</a:t>
            </a:r>
          </a:p>
        </p:txBody>
      </p:sp>
      <p:sp>
        <p:nvSpPr>
          <p:cNvPr id="26" name="TextBox 25">
            <a:extLst>
              <a:ext uri="{FF2B5EF4-FFF2-40B4-BE49-F238E27FC236}">
                <a16:creationId xmlns:a16="http://schemas.microsoft.com/office/drawing/2014/main" id="{B817DA34-D8F3-CB44-BCCC-16DF03216254}"/>
              </a:ext>
            </a:extLst>
          </p:cNvPr>
          <p:cNvSpPr txBox="1"/>
          <p:nvPr/>
        </p:nvSpPr>
        <p:spPr>
          <a:xfrm>
            <a:off x="2184400" y="3886200"/>
            <a:ext cx="6096000" cy="292388"/>
          </a:xfrm>
          <a:prstGeom prst="rect">
            <a:avLst/>
          </a:prstGeom>
          <a:noFill/>
        </p:spPr>
        <p:txBody>
          <a:bodyPr vertOverflow="overflow" vert="horz" wrap="square" rtlCol="0" anchor="t">
            <a:spAutoFit/>
          </a:bodyPr>
          <a:lstStyle/>
          <a:p>
            <a:pPr algn="l"/>
            <a:r>
              <a:rPr lang="en-US" sz="1300" b="1" dirty="0">
                <a:solidFill>
                  <a:srgbClr val="0E4D4D"/>
                </a:solidFill>
                <a:latin typeface="Big Caslon Medium"/>
                <a:cs typeface="Big Caslon Medium"/>
              </a:rPr>
              <a:t>Non-Negative Matrix Factorization</a:t>
            </a:r>
          </a:p>
        </p:txBody>
      </p:sp>
      <p:sp>
        <p:nvSpPr>
          <p:cNvPr id="27" name="TextBox 26">
            <a:extLst>
              <a:ext uri="{FF2B5EF4-FFF2-40B4-BE49-F238E27FC236}">
                <a16:creationId xmlns:a16="http://schemas.microsoft.com/office/drawing/2014/main" id="{4E813129-0693-3E42-8BA8-93A58BBBD1DC}"/>
              </a:ext>
            </a:extLst>
          </p:cNvPr>
          <p:cNvSpPr txBox="1"/>
          <p:nvPr/>
        </p:nvSpPr>
        <p:spPr>
          <a:xfrm>
            <a:off x="2184400" y="4140200"/>
            <a:ext cx="6096000" cy="246221"/>
          </a:xfrm>
          <a:prstGeom prst="rect">
            <a:avLst/>
          </a:prstGeom>
          <a:noFill/>
        </p:spPr>
        <p:txBody>
          <a:bodyPr vertOverflow="overflow" vert="horz" wrap="square" rtlCol="0" anchor="t">
            <a:spAutoFit/>
          </a:bodyPr>
          <a:lstStyle/>
          <a:p>
            <a:pPr algn="l"/>
            <a:r>
              <a:rPr lang="en-US" sz="1000" i="1" dirty="0">
                <a:solidFill>
                  <a:srgbClr val="0E4D4D"/>
                </a:solidFill>
                <a:latin typeface="Big Caslon Medium"/>
                <a:cs typeface="Big Caslon Medium"/>
              </a:rPr>
              <a:t>TF‑IDF matrix</a:t>
            </a:r>
          </a:p>
        </p:txBody>
      </p:sp>
      <p:sp>
        <p:nvSpPr>
          <p:cNvPr id="28" name="Rectangle 27">
            <a:extLst>
              <a:ext uri="{FF2B5EF4-FFF2-40B4-BE49-F238E27FC236}">
                <a16:creationId xmlns:a16="http://schemas.microsoft.com/office/drawing/2014/main" id="{C6E6ABAC-D00A-7545-AF05-18D4B97C2F6C}"/>
              </a:ext>
            </a:extLst>
          </p:cNvPr>
          <p:cNvSpPr/>
          <p:nvPr/>
        </p:nvSpPr>
        <p:spPr>
          <a:xfrm>
            <a:off x="914400" y="4419600"/>
            <a:ext cx="7620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29" name="TextBox 28">
            <a:extLst>
              <a:ext uri="{FF2B5EF4-FFF2-40B4-BE49-F238E27FC236}">
                <a16:creationId xmlns:a16="http://schemas.microsoft.com/office/drawing/2014/main" id="{5272A685-4466-0E4A-BEE6-96B320CD61B2}"/>
              </a:ext>
            </a:extLst>
          </p:cNvPr>
          <p:cNvSpPr txBox="1"/>
          <p:nvPr/>
        </p:nvSpPr>
        <p:spPr>
          <a:xfrm>
            <a:off x="914400" y="4495800"/>
            <a:ext cx="7874000" cy="482600"/>
          </a:xfrm>
          <a:prstGeom prst="rect">
            <a:avLst/>
          </a:prstGeom>
          <a:noFill/>
        </p:spPr>
        <p:txBody>
          <a:bodyPr vertOverflow="overflow" vert="horz" wrap="square" rtlCol="0" anchor="t">
            <a:spAutoFit/>
          </a:bodyPr>
          <a:lstStyle/>
          <a:p>
            <a:pPr algn="l"/>
            <a:r>
              <a:rPr lang="en-US" sz="1000" dirty="0">
                <a:solidFill>
                  <a:srgbClr val="0E4D4D"/>
                </a:solidFill>
                <a:latin typeface="Big Caslon Medium"/>
                <a:cs typeface="Big Caslon Medium"/>
              </a:rPr>
              <a:t>Walkability &amp; local conveniences  ·  Upscale property features &amp; views  ·  Property issues &amp; negative experiences  ·  Group &amp; family accommodations  ·  Overall guest sentiment &amp; host quality</a:t>
            </a:r>
          </a:p>
        </p:txBody>
      </p:sp>
      <p:sp>
        <p:nvSpPr>
          <p:cNvPr id="31" name="Rectangle 30">
            <a:extLst>
              <a:ext uri="{FF2B5EF4-FFF2-40B4-BE49-F238E27FC236}">
                <a16:creationId xmlns:a16="http://schemas.microsoft.com/office/drawing/2014/main" id="{F9C2BCD9-F4B9-594D-A9D7-BEF03A83701C}"/>
              </a:ext>
            </a:extLst>
          </p:cNvPr>
          <p:cNvSpPr/>
          <p:nvPr/>
        </p:nvSpPr>
        <p:spPr>
          <a:xfrm>
            <a:off x="736600" y="52324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2" name="TextBox 31">
            <a:extLst>
              <a:ext uri="{FF2B5EF4-FFF2-40B4-BE49-F238E27FC236}">
                <a16:creationId xmlns:a16="http://schemas.microsoft.com/office/drawing/2014/main" id="{7484C8D0-A85F-9C41-8B54-096365A8195C}"/>
              </a:ext>
            </a:extLst>
          </p:cNvPr>
          <p:cNvSpPr txBox="1"/>
          <p:nvPr/>
        </p:nvSpPr>
        <p:spPr>
          <a:xfrm>
            <a:off x="914400" y="5207000"/>
            <a:ext cx="1143000" cy="431800"/>
          </a:xfrm>
          <a:prstGeom prst="rect">
            <a:avLst/>
          </a:prstGeom>
          <a:noFill/>
        </p:spPr>
        <p:txBody>
          <a:bodyPr vertOverflow="overflow" vert="horz" wrap="square" rtlCol="0" anchor="t">
            <a:spAutoFit/>
          </a:bodyPr>
          <a:lstStyle/>
          <a:p>
            <a:pPr algn="l"/>
            <a:r>
              <a:rPr lang="en-US" sz="2400" b="1" i="1" dirty="0">
                <a:solidFill>
                  <a:srgbClr val="E07856"/>
                </a:solidFill>
                <a:latin typeface="Playfair Display"/>
              </a:rPr>
              <a:t>LSA</a:t>
            </a:r>
          </a:p>
        </p:txBody>
      </p:sp>
      <p:sp>
        <p:nvSpPr>
          <p:cNvPr id="33" name="TextBox 32">
            <a:extLst>
              <a:ext uri="{FF2B5EF4-FFF2-40B4-BE49-F238E27FC236}">
                <a16:creationId xmlns:a16="http://schemas.microsoft.com/office/drawing/2014/main" id="{C8711A99-8F81-414A-8A65-AB3C2E9DB839}"/>
              </a:ext>
            </a:extLst>
          </p:cNvPr>
          <p:cNvSpPr txBox="1"/>
          <p:nvPr/>
        </p:nvSpPr>
        <p:spPr>
          <a:xfrm>
            <a:off x="2184400" y="5283200"/>
            <a:ext cx="6096000" cy="228600"/>
          </a:xfrm>
          <a:prstGeom prst="rect">
            <a:avLst/>
          </a:prstGeom>
          <a:noFill/>
        </p:spPr>
        <p:txBody>
          <a:bodyPr vertOverflow="overflow" vert="horz" wrap="square" rtlCol="0" anchor="t">
            <a:spAutoFit/>
          </a:bodyPr>
          <a:lstStyle/>
          <a:p>
            <a:pPr algn="l"/>
            <a:r>
              <a:rPr lang="en-US" sz="1300" b="1" dirty="0">
                <a:solidFill>
                  <a:srgbClr val="0E4D4D"/>
                </a:solidFill>
                <a:latin typeface="Big Caslon Medium"/>
                <a:cs typeface="Big Caslon Medium"/>
              </a:rPr>
              <a:t>Latent Semantic Analysis</a:t>
            </a:r>
          </a:p>
        </p:txBody>
      </p:sp>
      <p:sp>
        <p:nvSpPr>
          <p:cNvPr id="34" name="TextBox 33">
            <a:extLst>
              <a:ext uri="{FF2B5EF4-FFF2-40B4-BE49-F238E27FC236}">
                <a16:creationId xmlns:a16="http://schemas.microsoft.com/office/drawing/2014/main" id="{CAE427B8-1237-A44D-9F10-7BDF4A23EC40}"/>
              </a:ext>
            </a:extLst>
          </p:cNvPr>
          <p:cNvSpPr txBox="1"/>
          <p:nvPr/>
        </p:nvSpPr>
        <p:spPr>
          <a:xfrm>
            <a:off x="2184400" y="5537200"/>
            <a:ext cx="6096000" cy="246221"/>
          </a:xfrm>
          <a:prstGeom prst="rect">
            <a:avLst/>
          </a:prstGeom>
          <a:noFill/>
        </p:spPr>
        <p:txBody>
          <a:bodyPr vertOverflow="overflow" vert="horz" wrap="square" rtlCol="0" anchor="t">
            <a:spAutoFit/>
          </a:bodyPr>
          <a:lstStyle/>
          <a:p>
            <a:pPr algn="l"/>
            <a:r>
              <a:rPr lang="en-US" sz="1000" i="1" dirty="0">
                <a:solidFill>
                  <a:srgbClr val="0E4D4D"/>
                </a:solidFill>
                <a:latin typeface="Big Caslon Medium"/>
                <a:cs typeface="Big Caslon Medium"/>
              </a:rPr>
              <a:t>Truncated SVD on BoW</a:t>
            </a:r>
          </a:p>
        </p:txBody>
      </p:sp>
      <p:sp>
        <p:nvSpPr>
          <p:cNvPr id="35" name="Rectangle 34">
            <a:extLst>
              <a:ext uri="{FF2B5EF4-FFF2-40B4-BE49-F238E27FC236}">
                <a16:creationId xmlns:a16="http://schemas.microsoft.com/office/drawing/2014/main" id="{E4D5223C-59F3-E74E-828A-EB9EDECE7905}"/>
              </a:ext>
            </a:extLst>
          </p:cNvPr>
          <p:cNvSpPr/>
          <p:nvPr/>
        </p:nvSpPr>
        <p:spPr>
          <a:xfrm>
            <a:off x="914400" y="5816600"/>
            <a:ext cx="76200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36" name="TextBox 35">
            <a:extLst>
              <a:ext uri="{FF2B5EF4-FFF2-40B4-BE49-F238E27FC236}">
                <a16:creationId xmlns:a16="http://schemas.microsoft.com/office/drawing/2014/main" id="{E4B4DEB1-FB6A-2048-8F05-6116E8D247EA}"/>
              </a:ext>
            </a:extLst>
          </p:cNvPr>
          <p:cNvSpPr txBox="1"/>
          <p:nvPr/>
        </p:nvSpPr>
        <p:spPr>
          <a:xfrm>
            <a:off x="914400" y="5892800"/>
            <a:ext cx="7874000" cy="482600"/>
          </a:xfrm>
          <a:prstGeom prst="rect">
            <a:avLst/>
          </a:prstGeom>
          <a:noFill/>
        </p:spPr>
        <p:txBody>
          <a:bodyPr vertOverflow="overflow" vert="horz" wrap="square" rtlCol="0" anchor="t">
            <a:spAutoFit/>
          </a:bodyPr>
          <a:lstStyle/>
          <a:p>
            <a:pPr algn="l"/>
            <a:r>
              <a:rPr lang="en-US" sz="1000" dirty="0">
                <a:solidFill>
                  <a:srgbClr val="0E4D4D"/>
                </a:solidFill>
                <a:latin typeface="Big Caslon Medium"/>
                <a:cs typeface="Big Caslon Medium"/>
              </a:rPr>
              <a:t>Host responsiveness &amp; general accessibility  ·  Family &amp; group travel experience  ·  Walkability &amp; neighborhood amenities  ·  Larger property characteristics &amp; issues  ·  Premium building features &amp; urban views</a:t>
            </a:r>
          </a:p>
        </p:txBody>
      </p:sp>
      <p:pic>
        <p:nvPicPr>
          <p:cNvPr id="37" name="Picture 36">
            <a:extLst>
              <a:ext uri="{FF2B5EF4-FFF2-40B4-BE49-F238E27FC236}">
                <a16:creationId xmlns:a16="http://schemas.microsoft.com/office/drawing/2014/main" id="{F452F73F-557A-2D04-170F-337E80299512}"/>
              </a:ext>
            </a:extLst>
          </p:cNvPr>
          <p:cNvPicPr>
            <a:picLocks noChangeAspect="1"/>
          </p:cNvPicPr>
          <p:nvPr/>
        </p:nvPicPr>
        <p:blipFill>
          <a:blip r:embed="rId5"/>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1974688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100" name="Rounded Rectangle 99">
            <a:extLst>
              <a:ext uri="{FF2B5EF4-FFF2-40B4-BE49-F238E27FC236}">
                <a16:creationId xmlns:a16="http://schemas.microsoft.com/office/drawing/2014/main" id="{60D05423-8CDB-C14E-A876-4A303335AFEF}"/>
              </a:ext>
            </a:extLst>
          </p:cNvPr>
          <p:cNvSpPr/>
          <p:nvPr/>
        </p:nvSpPr>
        <p:spPr>
          <a:xfrm>
            <a:off x="9194800" y="2286000"/>
            <a:ext cx="2794000" cy="3860800"/>
          </a:xfrm>
          <a:prstGeom prst="roundRect">
            <a:avLst/>
          </a:prstGeom>
          <a:solidFill>
            <a:srgbClr val="0E4D4D"/>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4" name="Rounded Rectangle 93">
            <a:extLst>
              <a:ext uri="{FF2B5EF4-FFF2-40B4-BE49-F238E27FC236}">
                <a16:creationId xmlns:a16="http://schemas.microsoft.com/office/drawing/2014/main" id="{52416970-BFA7-8F46-B8A8-F2587CE55595}"/>
              </a:ext>
            </a:extLst>
          </p:cNvPr>
          <p:cNvSpPr/>
          <p:nvPr/>
        </p:nvSpPr>
        <p:spPr>
          <a:xfrm>
            <a:off x="6197600" y="4305300"/>
            <a:ext cx="279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Rounded Rectangle 87">
            <a:extLst>
              <a:ext uri="{FF2B5EF4-FFF2-40B4-BE49-F238E27FC236}">
                <a16:creationId xmlns:a16="http://schemas.microsoft.com/office/drawing/2014/main" id="{1C3B82EF-339A-334A-BA74-D1CA5DB7C092}"/>
              </a:ext>
            </a:extLst>
          </p:cNvPr>
          <p:cNvSpPr/>
          <p:nvPr/>
        </p:nvSpPr>
        <p:spPr>
          <a:xfrm>
            <a:off x="3200400" y="4305300"/>
            <a:ext cx="279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Rounded Rectangle 81">
            <a:extLst>
              <a:ext uri="{FF2B5EF4-FFF2-40B4-BE49-F238E27FC236}">
                <a16:creationId xmlns:a16="http://schemas.microsoft.com/office/drawing/2014/main" id="{859BA05B-506C-C24E-81C7-E2C5F34A91FC}"/>
              </a:ext>
            </a:extLst>
          </p:cNvPr>
          <p:cNvSpPr/>
          <p:nvPr/>
        </p:nvSpPr>
        <p:spPr>
          <a:xfrm>
            <a:off x="203200" y="4305300"/>
            <a:ext cx="279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Rounded Rectangle 75">
            <a:extLst>
              <a:ext uri="{FF2B5EF4-FFF2-40B4-BE49-F238E27FC236}">
                <a16:creationId xmlns:a16="http://schemas.microsoft.com/office/drawing/2014/main" id="{99AA558D-3A3D-1743-9898-3E9EE89C0140}"/>
              </a:ext>
            </a:extLst>
          </p:cNvPr>
          <p:cNvSpPr/>
          <p:nvPr/>
        </p:nvSpPr>
        <p:spPr>
          <a:xfrm>
            <a:off x="6197600" y="2286000"/>
            <a:ext cx="279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0" name="Rounded Rectangle 69">
            <a:extLst>
              <a:ext uri="{FF2B5EF4-FFF2-40B4-BE49-F238E27FC236}">
                <a16:creationId xmlns:a16="http://schemas.microsoft.com/office/drawing/2014/main" id="{74B3710A-BD24-B947-8F27-C04A5F1FBAF4}"/>
              </a:ext>
            </a:extLst>
          </p:cNvPr>
          <p:cNvSpPr/>
          <p:nvPr/>
        </p:nvSpPr>
        <p:spPr>
          <a:xfrm>
            <a:off x="3200400" y="2286000"/>
            <a:ext cx="279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4" name="Rounded Rectangle 63">
            <a:extLst>
              <a:ext uri="{FF2B5EF4-FFF2-40B4-BE49-F238E27FC236}">
                <a16:creationId xmlns:a16="http://schemas.microsoft.com/office/drawing/2014/main" id="{5617F690-E7D7-7C49-8CBE-1224857B675F}"/>
              </a:ext>
            </a:extLst>
          </p:cNvPr>
          <p:cNvSpPr/>
          <p:nvPr/>
        </p:nvSpPr>
        <p:spPr>
          <a:xfrm>
            <a:off x="203200" y="2286000"/>
            <a:ext cx="2794000" cy="18415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94A850A6-E462-3448-94D8-E76046DC0BB5}"/>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E8DA23B2-BEC5-9B4D-8E4B-EB23FF78CCD4}"/>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432AF1F7-15D8-7845-B408-B992FF00A8FB}"/>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438645A1-A23A-3D40-A11E-3EA098D28D81}"/>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28FD738B-4AD3-D246-A2A6-C39B1F4BB6D7}"/>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A82CB622-E3B8-494D-8DA4-AA2F37D9BA1D}"/>
              </a:ext>
            </a:extLst>
          </p:cNvPr>
          <p:cNvSpPr txBox="1"/>
          <p:nvPr/>
        </p:nvSpPr>
        <p:spPr>
          <a:xfrm>
            <a:off x="1651000" y="355600"/>
            <a:ext cx="7112000" cy="276999"/>
          </a:xfrm>
          <a:prstGeom prst="rect">
            <a:avLst/>
          </a:prstGeom>
          <a:noFill/>
        </p:spPr>
        <p:txBody>
          <a:bodyPr vertOverflow="overflow" vert="horz" wrap="square" rtlCol="0" anchor="t">
            <a:spAutoFit/>
          </a:bodyPr>
          <a:lstStyle/>
          <a:p>
            <a:r>
              <a:rPr lang="en-US" sz="1200" b="1"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D6BAEF63-477D-0547-9113-C69BC16418B7}"/>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10" name="TextBox 9">
            <a:extLst>
              <a:ext uri="{FF2B5EF4-FFF2-40B4-BE49-F238E27FC236}">
                <a16:creationId xmlns:a16="http://schemas.microsoft.com/office/drawing/2014/main" id="{69B5C14B-B7DB-7448-B15B-94B581353C4B}"/>
              </a:ext>
            </a:extLst>
          </p:cNvPr>
          <p:cNvSpPr txBox="1"/>
          <p:nvPr/>
        </p:nvSpPr>
        <p:spPr>
          <a:xfrm>
            <a:off x="635000" y="1371600"/>
            <a:ext cx="10922000" cy="584775"/>
          </a:xfrm>
          <a:prstGeom prst="rect">
            <a:avLst/>
          </a:prstGeom>
          <a:noFill/>
        </p:spPr>
        <p:txBody>
          <a:bodyPr vertOverflow="overflow" vert="horz" wrap="square" rtlCol="0" anchor="t">
            <a:spAutoFit/>
          </a:bodyPr>
          <a:lstStyle/>
          <a:p>
            <a:r>
              <a:rPr lang="en-US" sz="3200" b="1" i="1" dirty="0">
                <a:solidFill>
                  <a:srgbClr val="0E4D4D"/>
                </a:solidFill>
                <a:latin typeface="Playfair Display"/>
              </a:rPr>
              <a:t>Listings Preprocessing Pipeline</a:t>
            </a:r>
          </a:p>
        </p:txBody>
      </p:sp>
      <p:sp>
        <p:nvSpPr>
          <p:cNvPr id="11" name="TextBox 10">
            <a:extLst>
              <a:ext uri="{FF2B5EF4-FFF2-40B4-BE49-F238E27FC236}">
                <a16:creationId xmlns:a16="http://schemas.microsoft.com/office/drawing/2014/main" id="{9B176FAC-2823-964C-BC54-46DB31891F2F}"/>
              </a:ext>
            </a:extLst>
          </p:cNvPr>
          <p:cNvSpPr txBox="1"/>
          <p:nvPr/>
        </p:nvSpPr>
        <p:spPr>
          <a:xfrm>
            <a:off x="406400" y="6553200"/>
            <a:ext cx="6350000" cy="254000"/>
          </a:xfrm>
          <a:prstGeom prst="rect">
            <a:avLst/>
          </a:prstGeom>
          <a:noFill/>
        </p:spPr>
        <p:txBody>
          <a:bodyPr vertOverflow="overflow" vert="horz" wrap="square" rtlCol="0" anchor="t">
            <a:spAutoFit/>
          </a:bodyPr>
          <a:lstStyle/>
          <a:p>
            <a:r>
              <a:rPr lang="en-US" sz="1000" b="1"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1E2627B5-5BBB-0B4B-81A2-48A55A42E868}"/>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09 / 14</a:t>
            </a:r>
          </a:p>
        </p:txBody>
      </p:sp>
      <p:sp>
        <p:nvSpPr>
          <p:cNvPr id="65" name="Rectangle 64">
            <a:extLst>
              <a:ext uri="{FF2B5EF4-FFF2-40B4-BE49-F238E27FC236}">
                <a16:creationId xmlns:a16="http://schemas.microsoft.com/office/drawing/2014/main" id="{C4AFEFB3-3A8B-144D-8B27-DE07DFB626BF}"/>
              </a:ext>
            </a:extLst>
          </p:cNvPr>
          <p:cNvSpPr/>
          <p:nvPr/>
        </p:nvSpPr>
        <p:spPr>
          <a:xfrm>
            <a:off x="355600" y="2463800"/>
            <a:ext cx="38100" cy="148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TextBox 65">
            <a:extLst>
              <a:ext uri="{FF2B5EF4-FFF2-40B4-BE49-F238E27FC236}">
                <a16:creationId xmlns:a16="http://schemas.microsoft.com/office/drawing/2014/main" id="{1FDF7744-980F-7548-B9E8-43E507A13113}"/>
              </a:ext>
            </a:extLst>
          </p:cNvPr>
          <p:cNvSpPr txBox="1"/>
          <p:nvPr/>
        </p:nvSpPr>
        <p:spPr>
          <a:xfrm>
            <a:off x="4826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01</a:t>
            </a:r>
          </a:p>
        </p:txBody>
      </p:sp>
      <p:sp>
        <p:nvSpPr>
          <p:cNvPr id="67" name="TextBox 66">
            <a:extLst>
              <a:ext uri="{FF2B5EF4-FFF2-40B4-BE49-F238E27FC236}">
                <a16:creationId xmlns:a16="http://schemas.microsoft.com/office/drawing/2014/main" id="{394475C6-53AB-254D-95EF-F1AD485B4067}"/>
              </a:ext>
            </a:extLst>
          </p:cNvPr>
          <p:cNvSpPr txBox="1"/>
          <p:nvPr/>
        </p:nvSpPr>
        <p:spPr>
          <a:xfrm>
            <a:off x="1117600" y="2514600"/>
            <a:ext cx="1752600" cy="431800"/>
          </a:xfrm>
          <a:prstGeom prst="rect">
            <a:avLst/>
          </a:prstGeom>
          <a:noFill/>
        </p:spPr>
        <p:txBody>
          <a:bodyPr vertOverflow="overflow" vert="horz" wrap="square" rtlCol="0" anchor="t">
            <a:spAutoFit/>
          </a:bodyPr>
          <a:lstStyle/>
          <a:p>
            <a:r>
              <a:rPr lang="en-US" sz="1100" b="1" spc="150" dirty="0">
                <a:solidFill>
                  <a:srgbClr val="0E4D4D"/>
                </a:solidFill>
                <a:latin typeface="Big Caslon Medium"/>
              </a:rPr>
              <a:t>MERGE DATASETS</a:t>
            </a:r>
          </a:p>
        </p:txBody>
      </p:sp>
      <p:sp>
        <p:nvSpPr>
          <p:cNvPr id="68" name="Rectangle 67">
            <a:extLst>
              <a:ext uri="{FF2B5EF4-FFF2-40B4-BE49-F238E27FC236}">
                <a16:creationId xmlns:a16="http://schemas.microsoft.com/office/drawing/2014/main" id="{2C6C4BD2-086B-F941-93C5-D954F3B4D770}"/>
              </a:ext>
            </a:extLst>
          </p:cNvPr>
          <p:cNvSpPr/>
          <p:nvPr/>
        </p:nvSpPr>
        <p:spPr>
          <a:xfrm>
            <a:off x="1117600" y="2946400"/>
            <a:ext cx="1701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TextBox 68">
            <a:extLst>
              <a:ext uri="{FF2B5EF4-FFF2-40B4-BE49-F238E27FC236}">
                <a16:creationId xmlns:a16="http://schemas.microsoft.com/office/drawing/2014/main" id="{5723AEF7-E681-AC48-B221-888D588C98E2}"/>
              </a:ext>
            </a:extLst>
          </p:cNvPr>
          <p:cNvSpPr txBox="1"/>
          <p:nvPr/>
        </p:nvSpPr>
        <p:spPr>
          <a:xfrm>
            <a:off x="482600" y="3048000"/>
            <a:ext cx="2362200" cy="545406"/>
          </a:xfrm>
          <a:prstGeom prst="rect">
            <a:avLst/>
          </a:prstGeom>
          <a:noFill/>
        </p:spPr>
        <p:txBody>
          <a:bodyPr vertOverflow="overflow" vert="horz" wrap="square" rtlCol="0" anchor="t">
            <a:spAutoFit/>
          </a:bodyPr>
          <a:lstStyle/>
          <a:p>
            <a:pPr>
              <a:lnSpc>
                <a:spcPts val="1200"/>
              </a:lnSpc>
            </a:pPr>
            <a:r>
              <a:rPr lang="en-US" sz="900" dirty="0">
                <a:solidFill>
                  <a:srgbClr val="0E4D4D"/>
                </a:solidFill>
                <a:latin typeface="Big Caslon Medium"/>
              </a:rPr>
              <a:t>Inner joins on listing id with HF sentiment, zero-shot scores, and LDA topic scores. Result: 4,164 records, 96 columns.</a:t>
            </a:r>
          </a:p>
        </p:txBody>
      </p:sp>
      <p:sp>
        <p:nvSpPr>
          <p:cNvPr id="71" name="Rectangle 70">
            <a:extLst>
              <a:ext uri="{FF2B5EF4-FFF2-40B4-BE49-F238E27FC236}">
                <a16:creationId xmlns:a16="http://schemas.microsoft.com/office/drawing/2014/main" id="{7CB8DA47-5A1B-5244-86A0-873565572AE0}"/>
              </a:ext>
            </a:extLst>
          </p:cNvPr>
          <p:cNvSpPr/>
          <p:nvPr/>
        </p:nvSpPr>
        <p:spPr>
          <a:xfrm>
            <a:off x="3352800" y="2463800"/>
            <a:ext cx="38100" cy="148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2" name="TextBox 71">
            <a:extLst>
              <a:ext uri="{FF2B5EF4-FFF2-40B4-BE49-F238E27FC236}">
                <a16:creationId xmlns:a16="http://schemas.microsoft.com/office/drawing/2014/main" id="{ED81C993-D0C2-B449-84E5-58987B278712}"/>
              </a:ext>
            </a:extLst>
          </p:cNvPr>
          <p:cNvSpPr txBox="1"/>
          <p:nvPr/>
        </p:nvSpPr>
        <p:spPr>
          <a:xfrm>
            <a:off x="34798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02</a:t>
            </a:r>
          </a:p>
        </p:txBody>
      </p:sp>
      <p:sp>
        <p:nvSpPr>
          <p:cNvPr id="73" name="TextBox 72">
            <a:extLst>
              <a:ext uri="{FF2B5EF4-FFF2-40B4-BE49-F238E27FC236}">
                <a16:creationId xmlns:a16="http://schemas.microsoft.com/office/drawing/2014/main" id="{E5706564-637A-064D-8F9A-38E5F3ADEE68}"/>
              </a:ext>
            </a:extLst>
          </p:cNvPr>
          <p:cNvSpPr txBox="1"/>
          <p:nvPr/>
        </p:nvSpPr>
        <p:spPr>
          <a:xfrm>
            <a:off x="4114800" y="2514600"/>
            <a:ext cx="1752600" cy="431800"/>
          </a:xfrm>
          <a:prstGeom prst="rect">
            <a:avLst/>
          </a:prstGeom>
          <a:noFill/>
        </p:spPr>
        <p:txBody>
          <a:bodyPr vertOverflow="overflow" vert="horz" wrap="square" rtlCol="0" anchor="t">
            <a:spAutoFit/>
          </a:bodyPr>
          <a:lstStyle/>
          <a:p>
            <a:r>
              <a:rPr lang="en-US" sz="1100" b="1" spc="150" dirty="0">
                <a:solidFill>
                  <a:srgbClr val="0E4D4D"/>
                </a:solidFill>
                <a:latin typeface="Big Caslon Medium"/>
              </a:rPr>
              <a:t>FEATURE SELECTION</a:t>
            </a:r>
          </a:p>
        </p:txBody>
      </p:sp>
      <p:sp>
        <p:nvSpPr>
          <p:cNvPr id="74" name="Rectangle 73">
            <a:extLst>
              <a:ext uri="{FF2B5EF4-FFF2-40B4-BE49-F238E27FC236}">
                <a16:creationId xmlns:a16="http://schemas.microsoft.com/office/drawing/2014/main" id="{E6A73B4F-4A28-C645-9701-0C3C3E592753}"/>
              </a:ext>
            </a:extLst>
          </p:cNvPr>
          <p:cNvSpPr/>
          <p:nvPr/>
        </p:nvSpPr>
        <p:spPr>
          <a:xfrm>
            <a:off x="4114800" y="2946400"/>
            <a:ext cx="1701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5" name="TextBox 74">
            <a:extLst>
              <a:ext uri="{FF2B5EF4-FFF2-40B4-BE49-F238E27FC236}">
                <a16:creationId xmlns:a16="http://schemas.microsoft.com/office/drawing/2014/main" id="{1115E9F5-98CA-C44C-B9C2-58DB0163F08B}"/>
              </a:ext>
            </a:extLst>
          </p:cNvPr>
          <p:cNvSpPr txBox="1"/>
          <p:nvPr/>
        </p:nvSpPr>
        <p:spPr>
          <a:xfrm>
            <a:off x="3479800" y="3048000"/>
            <a:ext cx="2362200" cy="545406"/>
          </a:xfrm>
          <a:prstGeom prst="rect">
            <a:avLst/>
          </a:prstGeom>
          <a:noFill/>
        </p:spPr>
        <p:txBody>
          <a:bodyPr vertOverflow="overflow" vert="horz" wrap="square" rtlCol="0" anchor="t">
            <a:spAutoFit/>
          </a:bodyPr>
          <a:lstStyle/>
          <a:p>
            <a:pPr>
              <a:lnSpc>
                <a:spcPts val="1200"/>
              </a:lnSpc>
            </a:pPr>
            <a:r>
              <a:rPr lang="en-US" sz="900" dirty="0">
                <a:solidFill>
                  <a:srgbClr val="0E4D4D"/>
                </a:solidFill>
                <a:latin typeface="Big Caslon Medium"/>
              </a:rPr>
              <a:t>24 columns retained across six groups: property, location, host, reviews, sentiment, zero-shot, LDA. Price set as target.</a:t>
            </a:r>
          </a:p>
        </p:txBody>
      </p:sp>
      <p:sp>
        <p:nvSpPr>
          <p:cNvPr id="77" name="Rectangle 76">
            <a:extLst>
              <a:ext uri="{FF2B5EF4-FFF2-40B4-BE49-F238E27FC236}">
                <a16:creationId xmlns:a16="http://schemas.microsoft.com/office/drawing/2014/main" id="{2DF4D653-5D8D-8C49-BDBA-871A4B32B16A}"/>
              </a:ext>
            </a:extLst>
          </p:cNvPr>
          <p:cNvSpPr/>
          <p:nvPr/>
        </p:nvSpPr>
        <p:spPr>
          <a:xfrm>
            <a:off x="6350000" y="2463800"/>
            <a:ext cx="38100" cy="148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8" name="TextBox 77">
            <a:extLst>
              <a:ext uri="{FF2B5EF4-FFF2-40B4-BE49-F238E27FC236}">
                <a16:creationId xmlns:a16="http://schemas.microsoft.com/office/drawing/2014/main" id="{913ED107-9778-A44D-B509-A1B32AC3D643}"/>
              </a:ext>
            </a:extLst>
          </p:cNvPr>
          <p:cNvSpPr txBox="1"/>
          <p:nvPr/>
        </p:nvSpPr>
        <p:spPr>
          <a:xfrm>
            <a:off x="64770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03</a:t>
            </a:r>
          </a:p>
        </p:txBody>
      </p:sp>
      <p:sp>
        <p:nvSpPr>
          <p:cNvPr id="79" name="TextBox 78">
            <a:extLst>
              <a:ext uri="{FF2B5EF4-FFF2-40B4-BE49-F238E27FC236}">
                <a16:creationId xmlns:a16="http://schemas.microsoft.com/office/drawing/2014/main" id="{7A1F54AF-4F3B-6749-B107-7941CCC5E358}"/>
              </a:ext>
            </a:extLst>
          </p:cNvPr>
          <p:cNvSpPr txBox="1"/>
          <p:nvPr/>
        </p:nvSpPr>
        <p:spPr>
          <a:xfrm>
            <a:off x="7112000" y="2514600"/>
            <a:ext cx="1752600" cy="430887"/>
          </a:xfrm>
          <a:prstGeom prst="rect">
            <a:avLst/>
          </a:prstGeom>
          <a:noFill/>
        </p:spPr>
        <p:txBody>
          <a:bodyPr vertOverflow="overflow" vert="horz" wrap="square" rtlCol="0" anchor="t">
            <a:spAutoFit/>
          </a:bodyPr>
          <a:lstStyle/>
          <a:p>
            <a:r>
              <a:rPr lang="en-US" sz="1100" b="1" spc="150" dirty="0">
                <a:solidFill>
                  <a:srgbClr val="0E4D4D"/>
                </a:solidFill>
                <a:latin typeface="Big Caslon Medium"/>
              </a:rPr>
              <a:t>FEATURE ENGINEERING </a:t>
            </a:r>
          </a:p>
        </p:txBody>
      </p:sp>
      <p:sp>
        <p:nvSpPr>
          <p:cNvPr id="80" name="Rectangle 79">
            <a:extLst>
              <a:ext uri="{FF2B5EF4-FFF2-40B4-BE49-F238E27FC236}">
                <a16:creationId xmlns:a16="http://schemas.microsoft.com/office/drawing/2014/main" id="{A964DAC2-B7B4-C14A-A4F9-FE28397AC2CF}"/>
              </a:ext>
            </a:extLst>
          </p:cNvPr>
          <p:cNvSpPr/>
          <p:nvPr/>
        </p:nvSpPr>
        <p:spPr>
          <a:xfrm>
            <a:off x="7112000" y="2946400"/>
            <a:ext cx="1701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1" name="TextBox 80">
            <a:extLst>
              <a:ext uri="{FF2B5EF4-FFF2-40B4-BE49-F238E27FC236}">
                <a16:creationId xmlns:a16="http://schemas.microsoft.com/office/drawing/2014/main" id="{03210E1A-5DFF-3648-8D7D-FD2528C647B7}"/>
              </a:ext>
            </a:extLst>
          </p:cNvPr>
          <p:cNvSpPr txBox="1"/>
          <p:nvPr/>
        </p:nvSpPr>
        <p:spPr>
          <a:xfrm>
            <a:off x="6477000" y="3048000"/>
            <a:ext cx="2362200" cy="545406"/>
          </a:xfrm>
          <a:prstGeom prst="rect">
            <a:avLst/>
          </a:prstGeom>
          <a:noFill/>
        </p:spPr>
        <p:txBody>
          <a:bodyPr vertOverflow="overflow" vert="horz" wrap="square" rtlCol="0" anchor="t">
            <a:spAutoFit/>
          </a:bodyPr>
          <a:lstStyle/>
          <a:p>
            <a:pPr>
              <a:lnSpc>
                <a:spcPts val="1200"/>
              </a:lnSpc>
            </a:pPr>
            <a:r>
              <a:rPr lang="en-US" sz="900" dirty="0">
                <a:solidFill>
                  <a:srgbClr val="0E4D4D"/>
                </a:solidFill>
                <a:latin typeface="Big Caslon Medium"/>
              </a:rPr>
              <a:t>price stripped of $ and , then cast to float. host_acceptance_rate stripped of % and cast to float. No duplicates detected.</a:t>
            </a:r>
          </a:p>
        </p:txBody>
      </p:sp>
      <p:sp>
        <p:nvSpPr>
          <p:cNvPr id="83" name="Rectangle 82">
            <a:extLst>
              <a:ext uri="{FF2B5EF4-FFF2-40B4-BE49-F238E27FC236}">
                <a16:creationId xmlns:a16="http://schemas.microsoft.com/office/drawing/2014/main" id="{19C0DAC3-87EB-DF4F-8443-638B436C4722}"/>
              </a:ext>
            </a:extLst>
          </p:cNvPr>
          <p:cNvSpPr/>
          <p:nvPr/>
        </p:nvSpPr>
        <p:spPr>
          <a:xfrm>
            <a:off x="355600" y="4483100"/>
            <a:ext cx="38100" cy="148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4" name="TextBox 83">
            <a:extLst>
              <a:ext uri="{FF2B5EF4-FFF2-40B4-BE49-F238E27FC236}">
                <a16:creationId xmlns:a16="http://schemas.microsoft.com/office/drawing/2014/main" id="{CA1D924C-842B-894E-9D3B-F59B14FF117E}"/>
              </a:ext>
            </a:extLst>
          </p:cNvPr>
          <p:cNvSpPr txBox="1"/>
          <p:nvPr/>
        </p:nvSpPr>
        <p:spPr>
          <a:xfrm>
            <a:off x="482600" y="44577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04</a:t>
            </a:r>
          </a:p>
        </p:txBody>
      </p:sp>
      <p:sp>
        <p:nvSpPr>
          <p:cNvPr id="85" name="TextBox 84">
            <a:extLst>
              <a:ext uri="{FF2B5EF4-FFF2-40B4-BE49-F238E27FC236}">
                <a16:creationId xmlns:a16="http://schemas.microsoft.com/office/drawing/2014/main" id="{BF913DEB-D5AC-9447-AB12-9676FB4146E7}"/>
              </a:ext>
            </a:extLst>
          </p:cNvPr>
          <p:cNvSpPr txBox="1"/>
          <p:nvPr/>
        </p:nvSpPr>
        <p:spPr>
          <a:xfrm>
            <a:off x="1117600" y="4533900"/>
            <a:ext cx="1752600" cy="261610"/>
          </a:xfrm>
          <a:prstGeom prst="rect">
            <a:avLst/>
          </a:prstGeom>
          <a:noFill/>
        </p:spPr>
        <p:txBody>
          <a:bodyPr vertOverflow="overflow" vert="horz" wrap="square" rtlCol="0" anchor="t">
            <a:spAutoFit/>
          </a:bodyPr>
          <a:lstStyle/>
          <a:p>
            <a:r>
              <a:rPr lang="en-US" sz="1100" b="1" spc="150" dirty="0">
                <a:solidFill>
                  <a:srgbClr val="0E4D4D"/>
                </a:solidFill>
                <a:latin typeface="Big Caslon Medium"/>
              </a:rPr>
              <a:t>MISSING VALUES</a:t>
            </a:r>
          </a:p>
        </p:txBody>
      </p:sp>
      <p:sp>
        <p:nvSpPr>
          <p:cNvPr id="86" name="Rectangle 85">
            <a:extLst>
              <a:ext uri="{FF2B5EF4-FFF2-40B4-BE49-F238E27FC236}">
                <a16:creationId xmlns:a16="http://schemas.microsoft.com/office/drawing/2014/main" id="{A2A3BC28-BE83-2847-9A1D-27507F786EA9}"/>
              </a:ext>
            </a:extLst>
          </p:cNvPr>
          <p:cNvSpPr/>
          <p:nvPr/>
        </p:nvSpPr>
        <p:spPr>
          <a:xfrm>
            <a:off x="1117600" y="4965700"/>
            <a:ext cx="1701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7" name="TextBox 86">
            <a:extLst>
              <a:ext uri="{FF2B5EF4-FFF2-40B4-BE49-F238E27FC236}">
                <a16:creationId xmlns:a16="http://schemas.microsoft.com/office/drawing/2014/main" id="{4892F605-E641-1842-839C-2DE2C3750902}"/>
              </a:ext>
            </a:extLst>
          </p:cNvPr>
          <p:cNvSpPr txBox="1"/>
          <p:nvPr/>
        </p:nvSpPr>
        <p:spPr>
          <a:xfrm>
            <a:off x="482600" y="5067300"/>
            <a:ext cx="2362200" cy="699294"/>
          </a:xfrm>
          <a:prstGeom prst="rect">
            <a:avLst/>
          </a:prstGeom>
          <a:noFill/>
        </p:spPr>
        <p:txBody>
          <a:bodyPr vertOverflow="overflow" vert="horz" wrap="square" rtlCol="0" anchor="t">
            <a:spAutoFit/>
          </a:bodyPr>
          <a:lstStyle/>
          <a:p>
            <a:pPr>
              <a:lnSpc>
                <a:spcPts val="1200"/>
              </a:lnSpc>
            </a:pPr>
            <a:r>
              <a:rPr lang="en-US" sz="900" dirty="0">
                <a:solidFill>
                  <a:srgbClr val="0E4D4D"/>
                </a:solidFill>
                <a:latin typeface="Big Caslon Medium"/>
              </a:rPr>
              <a:t>Dropped 324 missing price rows. Imputed bedrooms by median, host_is_superhost by mode, host_acceptance_rate by superhost group median. Final shape: 3,840 × 24.</a:t>
            </a:r>
          </a:p>
        </p:txBody>
      </p:sp>
      <p:sp>
        <p:nvSpPr>
          <p:cNvPr id="89" name="Rectangle 88">
            <a:extLst>
              <a:ext uri="{FF2B5EF4-FFF2-40B4-BE49-F238E27FC236}">
                <a16:creationId xmlns:a16="http://schemas.microsoft.com/office/drawing/2014/main" id="{63861D1E-22C2-BF49-9664-B01353AF2687}"/>
              </a:ext>
            </a:extLst>
          </p:cNvPr>
          <p:cNvSpPr/>
          <p:nvPr/>
        </p:nvSpPr>
        <p:spPr>
          <a:xfrm>
            <a:off x="3352800" y="4483100"/>
            <a:ext cx="38100" cy="148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TextBox 89">
            <a:extLst>
              <a:ext uri="{FF2B5EF4-FFF2-40B4-BE49-F238E27FC236}">
                <a16:creationId xmlns:a16="http://schemas.microsoft.com/office/drawing/2014/main" id="{F6DA3128-C0A0-3644-8F62-2EA660E7B162}"/>
              </a:ext>
            </a:extLst>
          </p:cNvPr>
          <p:cNvSpPr txBox="1"/>
          <p:nvPr/>
        </p:nvSpPr>
        <p:spPr>
          <a:xfrm>
            <a:off x="3479800" y="44577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05</a:t>
            </a:r>
          </a:p>
        </p:txBody>
      </p:sp>
      <p:sp>
        <p:nvSpPr>
          <p:cNvPr id="91" name="TextBox 90">
            <a:extLst>
              <a:ext uri="{FF2B5EF4-FFF2-40B4-BE49-F238E27FC236}">
                <a16:creationId xmlns:a16="http://schemas.microsoft.com/office/drawing/2014/main" id="{A066333A-8E95-B840-9FA8-0E4D976CFD4D}"/>
              </a:ext>
            </a:extLst>
          </p:cNvPr>
          <p:cNvSpPr txBox="1"/>
          <p:nvPr/>
        </p:nvSpPr>
        <p:spPr>
          <a:xfrm>
            <a:off x="4114800" y="4533900"/>
            <a:ext cx="1752600" cy="431800"/>
          </a:xfrm>
          <a:prstGeom prst="rect">
            <a:avLst/>
          </a:prstGeom>
          <a:noFill/>
        </p:spPr>
        <p:txBody>
          <a:bodyPr vertOverflow="overflow" vert="horz" wrap="square" rtlCol="0" anchor="t">
            <a:spAutoFit/>
          </a:bodyPr>
          <a:lstStyle/>
          <a:p>
            <a:r>
              <a:rPr lang="en-US" sz="1100" b="1" spc="150" dirty="0">
                <a:solidFill>
                  <a:srgbClr val="0E4D4D"/>
                </a:solidFill>
                <a:latin typeface="Big Caslon Medium"/>
              </a:rPr>
              <a:t>INDEPENDENT OUTLIERS</a:t>
            </a:r>
          </a:p>
        </p:txBody>
      </p:sp>
      <p:sp>
        <p:nvSpPr>
          <p:cNvPr id="92" name="Rectangle 91">
            <a:extLst>
              <a:ext uri="{FF2B5EF4-FFF2-40B4-BE49-F238E27FC236}">
                <a16:creationId xmlns:a16="http://schemas.microsoft.com/office/drawing/2014/main" id="{31DABC95-99C8-2C4E-A3D6-72BFEB421D47}"/>
              </a:ext>
            </a:extLst>
          </p:cNvPr>
          <p:cNvSpPr/>
          <p:nvPr/>
        </p:nvSpPr>
        <p:spPr>
          <a:xfrm>
            <a:off x="4114800" y="4965700"/>
            <a:ext cx="1701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3" name="TextBox 92">
            <a:extLst>
              <a:ext uri="{FF2B5EF4-FFF2-40B4-BE49-F238E27FC236}">
                <a16:creationId xmlns:a16="http://schemas.microsoft.com/office/drawing/2014/main" id="{1F37DF40-297A-A04C-A276-75BF812EF1F4}"/>
              </a:ext>
            </a:extLst>
          </p:cNvPr>
          <p:cNvSpPr txBox="1"/>
          <p:nvPr/>
        </p:nvSpPr>
        <p:spPr>
          <a:xfrm>
            <a:off x="3479800" y="5067300"/>
            <a:ext cx="2362200" cy="699294"/>
          </a:xfrm>
          <a:prstGeom prst="rect">
            <a:avLst/>
          </a:prstGeom>
          <a:noFill/>
        </p:spPr>
        <p:txBody>
          <a:bodyPr vertOverflow="overflow" vert="horz" wrap="square" rtlCol="0" anchor="t">
            <a:spAutoFit/>
          </a:bodyPr>
          <a:lstStyle/>
          <a:p>
            <a:pPr>
              <a:lnSpc>
                <a:spcPts val="1200"/>
              </a:lnSpc>
            </a:pPr>
            <a:r>
              <a:rPr lang="en-US" sz="900" dirty="0">
                <a:solidFill>
                  <a:srgbClr val="0E4D4D"/>
                </a:solidFill>
                <a:latin typeface="Big Caslon Medium"/>
              </a:rPr>
              <a:t>IQR detection. Selective Winsorization on host_acceptance_rate, review_scores_rating, n_reviews. Property size and bounded NLP based scores retained as is.</a:t>
            </a:r>
          </a:p>
        </p:txBody>
      </p:sp>
      <p:sp>
        <p:nvSpPr>
          <p:cNvPr id="95" name="Rectangle 94">
            <a:extLst>
              <a:ext uri="{FF2B5EF4-FFF2-40B4-BE49-F238E27FC236}">
                <a16:creationId xmlns:a16="http://schemas.microsoft.com/office/drawing/2014/main" id="{B998FD1C-AA04-2646-A832-C1C7C4BA42E2}"/>
              </a:ext>
            </a:extLst>
          </p:cNvPr>
          <p:cNvSpPr/>
          <p:nvPr/>
        </p:nvSpPr>
        <p:spPr>
          <a:xfrm>
            <a:off x="6350000" y="4483100"/>
            <a:ext cx="38100" cy="148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TextBox 95">
            <a:extLst>
              <a:ext uri="{FF2B5EF4-FFF2-40B4-BE49-F238E27FC236}">
                <a16:creationId xmlns:a16="http://schemas.microsoft.com/office/drawing/2014/main" id="{A3A77DB7-2DE8-C04F-89C8-346E61A16F77}"/>
              </a:ext>
            </a:extLst>
          </p:cNvPr>
          <p:cNvSpPr txBox="1"/>
          <p:nvPr/>
        </p:nvSpPr>
        <p:spPr>
          <a:xfrm>
            <a:off x="6477000" y="44577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06</a:t>
            </a:r>
          </a:p>
        </p:txBody>
      </p:sp>
      <p:sp>
        <p:nvSpPr>
          <p:cNvPr id="97" name="TextBox 96">
            <a:extLst>
              <a:ext uri="{FF2B5EF4-FFF2-40B4-BE49-F238E27FC236}">
                <a16:creationId xmlns:a16="http://schemas.microsoft.com/office/drawing/2014/main" id="{E5C22E6A-4265-8E46-96E5-0994DB29D186}"/>
              </a:ext>
            </a:extLst>
          </p:cNvPr>
          <p:cNvSpPr txBox="1"/>
          <p:nvPr/>
        </p:nvSpPr>
        <p:spPr>
          <a:xfrm>
            <a:off x="7112000" y="4533900"/>
            <a:ext cx="1752600" cy="431800"/>
          </a:xfrm>
          <a:prstGeom prst="rect">
            <a:avLst/>
          </a:prstGeom>
          <a:noFill/>
        </p:spPr>
        <p:txBody>
          <a:bodyPr vertOverflow="overflow" vert="horz" wrap="square" rtlCol="0" anchor="t">
            <a:spAutoFit/>
          </a:bodyPr>
          <a:lstStyle/>
          <a:p>
            <a:r>
              <a:rPr lang="en-US" sz="1100" b="1" spc="150" dirty="0">
                <a:solidFill>
                  <a:srgbClr val="0E4D4D"/>
                </a:solidFill>
                <a:latin typeface="Big Caslon Medium"/>
              </a:rPr>
              <a:t>TRAIN / TEST SPLIT</a:t>
            </a:r>
          </a:p>
        </p:txBody>
      </p:sp>
      <p:sp>
        <p:nvSpPr>
          <p:cNvPr id="98" name="Rectangle 97">
            <a:extLst>
              <a:ext uri="{FF2B5EF4-FFF2-40B4-BE49-F238E27FC236}">
                <a16:creationId xmlns:a16="http://schemas.microsoft.com/office/drawing/2014/main" id="{6C159A49-CCDD-5E4D-94D9-94D8A25E8F0C}"/>
              </a:ext>
            </a:extLst>
          </p:cNvPr>
          <p:cNvSpPr/>
          <p:nvPr/>
        </p:nvSpPr>
        <p:spPr>
          <a:xfrm>
            <a:off x="7112000" y="4965700"/>
            <a:ext cx="1701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TextBox 98">
            <a:extLst>
              <a:ext uri="{FF2B5EF4-FFF2-40B4-BE49-F238E27FC236}">
                <a16:creationId xmlns:a16="http://schemas.microsoft.com/office/drawing/2014/main" id="{CD00B790-BF86-DE42-A80E-C99A43381124}"/>
              </a:ext>
            </a:extLst>
          </p:cNvPr>
          <p:cNvSpPr txBox="1"/>
          <p:nvPr/>
        </p:nvSpPr>
        <p:spPr>
          <a:xfrm>
            <a:off x="6477000" y="5067300"/>
            <a:ext cx="2362200" cy="699294"/>
          </a:xfrm>
          <a:prstGeom prst="rect">
            <a:avLst/>
          </a:prstGeom>
          <a:noFill/>
        </p:spPr>
        <p:txBody>
          <a:bodyPr vertOverflow="overflow" vert="horz" wrap="square" rtlCol="0" anchor="t">
            <a:spAutoFit/>
          </a:bodyPr>
          <a:lstStyle/>
          <a:p>
            <a:pPr>
              <a:lnSpc>
                <a:spcPts val="1200"/>
              </a:lnSpc>
            </a:pPr>
            <a:r>
              <a:rPr lang="en-US" sz="900" dirty="0">
                <a:solidFill>
                  <a:srgbClr val="0E4D4D"/>
                </a:solidFill>
                <a:latin typeface="Big Caslon Medium"/>
              </a:rPr>
              <a:t>Drop lat, lon. 70 / 30 split, random_state=1 → training set shape:  2,660 × 23, test set shape: 1,141 × 23. Keras Normalization layer adapted on training set  only to avoid data leakage</a:t>
            </a:r>
          </a:p>
        </p:txBody>
      </p:sp>
      <p:sp>
        <p:nvSpPr>
          <p:cNvPr id="102" name="TextBox 101">
            <a:extLst>
              <a:ext uri="{FF2B5EF4-FFF2-40B4-BE49-F238E27FC236}">
                <a16:creationId xmlns:a16="http://schemas.microsoft.com/office/drawing/2014/main" id="{3D3074F4-737B-744A-8800-0F368C344230}"/>
              </a:ext>
            </a:extLst>
          </p:cNvPr>
          <p:cNvSpPr txBox="1"/>
          <p:nvPr/>
        </p:nvSpPr>
        <p:spPr>
          <a:xfrm>
            <a:off x="9347200" y="2619703"/>
            <a:ext cx="2438400" cy="461665"/>
          </a:xfrm>
          <a:prstGeom prst="rect">
            <a:avLst/>
          </a:prstGeom>
          <a:noFill/>
        </p:spPr>
        <p:txBody>
          <a:bodyPr vertOverflow="overflow" vert="horz" wrap="square" rtlCol="0" anchor="t">
            <a:spAutoFit/>
          </a:bodyPr>
          <a:lstStyle/>
          <a:p>
            <a:r>
              <a:rPr lang="en-US" sz="1200" b="1" spc="200" dirty="0">
                <a:solidFill>
                  <a:srgbClr val="F7F1E8"/>
                </a:solidFill>
                <a:latin typeface="Big Caslon Medium"/>
              </a:rPr>
              <a:t>Handling outliers in target variable</a:t>
            </a:r>
          </a:p>
        </p:txBody>
      </p:sp>
      <p:sp>
        <p:nvSpPr>
          <p:cNvPr id="103" name="Rectangle 102">
            <a:extLst>
              <a:ext uri="{FF2B5EF4-FFF2-40B4-BE49-F238E27FC236}">
                <a16:creationId xmlns:a16="http://schemas.microsoft.com/office/drawing/2014/main" id="{887E9968-6DFE-A540-A7D9-15504D2B477E}"/>
              </a:ext>
            </a:extLst>
          </p:cNvPr>
          <p:cNvSpPr/>
          <p:nvPr/>
        </p:nvSpPr>
        <p:spPr>
          <a:xfrm>
            <a:off x="9372600" y="3124200"/>
            <a:ext cx="2438400" cy="127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4" name="TextBox 103">
            <a:extLst>
              <a:ext uri="{FF2B5EF4-FFF2-40B4-BE49-F238E27FC236}">
                <a16:creationId xmlns:a16="http://schemas.microsoft.com/office/drawing/2014/main" id="{DA3E275B-FED2-5E4E-85BF-6C0115FE1621}"/>
              </a:ext>
            </a:extLst>
          </p:cNvPr>
          <p:cNvSpPr txBox="1"/>
          <p:nvPr/>
        </p:nvSpPr>
        <p:spPr>
          <a:xfrm>
            <a:off x="9347200" y="3147657"/>
            <a:ext cx="2438400" cy="230832"/>
          </a:xfrm>
          <a:prstGeom prst="rect">
            <a:avLst/>
          </a:prstGeom>
          <a:noFill/>
        </p:spPr>
        <p:txBody>
          <a:bodyPr vertOverflow="overflow" vert="horz" wrap="square" rtlCol="0" anchor="t">
            <a:spAutoFit/>
          </a:bodyPr>
          <a:lstStyle/>
          <a:p>
            <a:r>
              <a:rPr lang="en-US" sz="900" i="1" dirty="0">
                <a:solidFill>
                  <a:srgbClr val="F7F1E8"/>
                </a:solidFill>
                <a:latin typeface="Big Caslon Medium"/>
              </a:rPr>
              <a:t>Before  ·  max $4,500</a:t>
            </a:r>
          </a:p>
        </p:txBody>
      </p:sp>
      <p:pic>
        <p:nvPicPr>
          <p:cNvPr id="105" name="Picture 104">
            <a:extLst>
              <a:ext uri="{FF2B5EF4-FFF2-40B4-BE49-F238E27FC236}">
                <a16:creationId xmlns:a16="http://schemas.microsoft.com/office/drawing/2014/main" id="{998A3A5B-0F32-99C9-6648-EF4BBF06484A}"/>
              </a:ext>
            </a:extLst>
          </p:cNvPr>
          <p:cNvPicPr>
            <a:picLocks noChangeAspect="1"/>
          </p:cNvPicPr>
          <p:nvPr/>
        </p:nvPicPr>
        <p:blipFill>
          <a:blip r:embed="rId2"/>
          <a:stretch>
            <a:fillRect/>
          </a:stretch>
        </p:blipFill>
        <p:spPr>
          <a:xfrm>
            <a:off x="9347200" y="3389246"/>
            <a:ext cx="2413000" cy="1054100"/>
          </a:xfrm>
          <a:prstGeom prst="rect">
            <a:avLst/>
          </a:prstGeom>
        </p:spPr>
      </p:pic>
      <p:pic>
        <p:nvPicPr>
          <p:cNvPr id="106" name="Picture 105">
            <a:extLst>
              <a:ext uri="{FF2B5EF4-FFF2-40B4-BE49-F238E27FC236}">
                <a16:creationId xmlns:a16="http://schemas.microsoft.com/office/drawing/2014/main" id="{E9FBA8BD-172B-BAD0-0F43-EADE1BC94F40}"/>
              </a:ext>
            </a:extLst>
          </p:cNvPr>
          <p:cNvPicPr>
            <a:picLocks/>
          </p:cNvPicPr>
          <p:nvPr/>
        </p:nvPicPr>
        <p:blipFill>
          <a:blip r:embed="rId3"/>
          <a:stretch>
            <a:fillRect/>
          </a:stretch>
        </p:blipFill>
        <p:spPr>
          <a:xfrm>
            <a:off x="9347200" y="4700270"/>
            <a:ext cx="2413000" cy="1051560"/>
          </a:xfrm>
          <a:prstGeom prst="rect">
            <a:avLst/>
          </a:prstGeom>
        </p:spPr>
      </p:pic>
      <p:sp>
        <p:nvSpPr>
          <p:cNvPr id="107" name="TextBox 106">
            <a:extLst>
              <a:ext uri="{FF2B5EF4-FFF2-40B4-BE49-F238E27FC236}">
                <a16:creationId xmlns:a16="http://schemas.microsoft.com/office/drawing/2014/main" id="{F9872377-F67C-B742-BEF9-8AF5F348E6BF}"/>
              </a:ext>
            </a:extLst>
          </p:cNvPr>
          <p:cNvSpPr txBox="1"/>
          <p:nvPr/>
        </p:nvSpPr>
        <p:spPr>
          <a:xfrm>
            <a:off x="9347200" y="4443346"/>
            <a:ext cx="2438400" cy="230832"/>
          </a:xfrm>
          <a:prstGeom prst="rect">
            <a:avLst/>
          </a:prstGeom>
          <a:noFill/>
        </p:spPr>
        <p:txBody>
          <a:bodyPr vertOverflow="overflow" vert="horz" wrap="square" rtlCol="0" anchor="t">
            <a:spAutoFit/>
          </a:bodyPr>
          <a:lstStyle/>
          <a:p>
            <a:r>
              <a:rPr lang="en-US" sz="900" i="1" dirty="0">
                <a:solidFill>
                  <a:srgbClr val="F7F1E8"/>
                </a:solidFill>
                <a:latin typeface="Big Caslon Medium"/>
              </a:rPr>
              <a:t>After  ·  capped near $900</a:t>
            </a:r>
          </a:p>
        </p:txBody>
      </p:sp>
      <p:pic>
        <p:nvPicPr>
          <p:cNvPr id="13" name="Picture 12">
            <a:extLst>
              <a:ext uri="{FF2B5EF4-FFF2-40B4-BE49-F238E27FC236}">
                <a16:creationId xmlns:a16="http://schemas.microsoft.com/office/drawing/2014/main" id="{E028800F-EC81-3952-43D3-DD8AD23CEED4}"/>
              </a:ext>
            </a:extLst>
          </p:cNvPr>
          <p:cNvPicPr>
            <a:picLocks noChangeAspect="1"/>
          </p:cNvPicPr>
          <p:nvPr/>
        </p:nvPicPr>
        <p:blipFill>
          <a:blip r:embed="rId4"/>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413076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25" name="Rounded Rectangle 24">
            <a:extLst>
              <a:ext uri="{FF2B5EF4-FFF2-40B4-BE49-F238E27FC236}">
                <a16:creationId xmlns:a16="http://schemas.microsoft.com/office/drawing/2014/main" id="{BD5A81AB-C1A3-E74F-85C7-14FA31E7F577}"/>
              </a:ext>
            </a:extLst>
          </p:cNvPr>
          <p:cNvSpPr/>
          <p:nvPr/>
        </p:nvSpPr>
        <p:spPr>
          <a:xfrm>
            <a:off x="7975600" y="2286000"/>
            <a:ext cx="4013200" cy="4064000"/>
          </a:xfrm>
          <a:prstGeom prst="roundRect">
            <a:avLst/>
          </a:prstGeom>
          <a:solidFill>
            <a:srgbClr val="0E4D4D"/>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ounded Rectangle 18">
            <a:extLst>
              <a:ext uri="{FF2B5EF4-FFF2-40B4-BE49-F238E27FC236}">
                <a16:creationId xmlns:a16="http://schemas.microsoft.com/office/drawing/2014/main" id="{5DEFC4BD-9CFA-2842-B4D5-D9ADDE419974}"/>
              </a:ext>
            </a:extLst>
          </p:cNvPr>
          <p:cNvSpPr/>
          <p:nvPr/>
        </p:nvSpPr>
        <p:spPr>
          <a:xfrm>
            <a:off x="4089400" y="2286000"/>
            <a:ext cx="3683000" cy="4064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ounded Rectangle 12">
            <a:extLst>
              <a:ext uri="{FF2B5EF4-FFF2-40B4-BE49-F238E27FC236}">
                <a16:creationId xmlns:a16="http://schemas.microsoft.com/office/drawing/2014/main" id="{39534EF5-6F97-4240-BD3F-A0DE3DC5E945}"/>
              </a:ext>
            </a:extLst>
          </p:cNvPr>
          <p:cNvSpPr/>
          <p:nvPr/>
        </p:nvSpPr>
        <p:spPr>
          <a:xfrm>
            <a:off x="203200" y="2286000"/>
            <a:ext cx="3683000" cy="4064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82B14A79-EC95-9843-8517-3A633BEFD57C}"/>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79E7A21D-1FA5-454A-86AD-DCDBF9DB0198}"/>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1E7A7EB5-A162-E34A-AF36-51581D32322D}"/>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23548815-0330-704E-A037-7465BD5E787F}"/>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AD550F19-55F8-BF4C-AB32-EA7DCC06FC94}"/>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7EA4013B-9B91-5C43-A200-675464B1DBB3}"/>
              </a:ext>
            </a:extLst>
          </p:cNvPr>
          <p:cNvSpPr txBox="1"/>
          <p:nvPr/>
        </p:nvSpPr>
        <p:spPr>
          <a:xfrm>
            <a:off x="1651000" y="355600"/>
            <a:ext cx="7112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19EB4F40-93D4-CA4D-A6A2-C225A749C077}"/>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551FDFFC-C4CA-5248-B648-C0FF1F827673}"/>
              </a:ext>
            </a:extLst>
          </p:cNvPr>
          <p:cNvSpPr txBox="1"/>
          <p:nvPr/>
        </p:nvSpPr>
        <p:spPr>
          <a:xfrm>
            <a:off x="711200" y="1270000"/>
            <a:ext cx="7620000" cy="246221"/>
          </a:xfrm>
          <a:prstGeom prst="rect">
            <a:avLst/>
          </a:prstGeom>
          <a:noFill/>
        </p:spPr>
        <p:txBody>
          <a:bodyPr vertOverflow="overflow" vert="horz" wrap="square" rtlCol="0" anchor="t">
            <a:spAutoFit/>
          </a:bodyPr>
          <a:lstStyle/>
          <a:p>
            <a:r>
              <a:rPr lang="en-US" sz="1000" b="1" spc="200" dirty="0">
                <a:solidFill>
                  <a:srgbClr val="E07856"/>
                </a:solidFill>
                <a:latin typeface="Big Caslon Medium"/>
              </a:rPr>
              <a:t>DATA   ·   EXPLORATORY ANALYSIS</a:t>
            </a:r>
          </a:p>
        </p:txBody>
      </p:sp>
      <p:sp>
        <p:nvSpPr>
          <p:cNvPr id="10" name="TextBox 9">
            <a:extLst>
              <a:ext uri="{FF2B5EF4-FFF2-40B4-BE49-F238E27FC236}">
                <a16:creationId xmlns:a16="http://schemas.microsoft.com/office/drawing/2014/main" id="{F9D23235-30AE-8A44-A2ED-C52B9216ACCF}"/>
              </a:ext>
            </a:extLst>
          </p:cNvPr>
          <p:cNvSpPr txBox="1"/>
          <p:nvPr/>
        </p:nvSpPr>
        <p:spPr>
          <a:xfrm>
            <a:off x="635000" y="1498600"/>
            <a:ext cx="10922000" cy="584775"/>
          </a:xfrm>
          <a:prstGeom prst="rect">
            <a:avLst/>
          </a:prstGeom>
          <a:noFill/>
        </p:spPr>
        <p:txBody>
          <a:bodyPr vertOverflow="overflow" vert="horz" wrap="square" rtlCol="0" anchor="t">
            <a:spAutoFit/>
          </a:bodyPr>
          <a:lstStyle/>
          <a:p>
            <a:r>
              <a:rPr lang="en-US" sz="3200" b="1" i="1" dirty="0">
                <a:solidFill>
                  <a:srgbClr val="0E4D4D"/>
                </a:solidFill>
                <a:latin typeface="Playfair Display"/>
              </a:rPr>
              <a:t>Exploratory Data Analysis</a:t>
            </a:r>
          </a:p>
        </p:txBody>
      </p:sp>
      <p:sp>
        <p:nvSpPr>
          <p:cNvPr id="11" name="TextBox 10">
            <a:extLst>
              <a:ext uri="{FF2B5EF4-FFF2-40B4-BE49-F238E27FC236}">
                <a16:creationId xmlns:a16="http://schemas.microsoft.com/office/drawing/2014/main" id="{83EF2752-0425-014C-8769-1E565E04F150}"/>
              </a:ext>
            </a:extLst>
          </p:cNvPr>
          <p:cNvSpPr txBox="1"/>
          <p:nvPr/>
        </p:nvSpPr>
        <p:spPr>
          <a:xfrm>
            <a:off x="406400" y="6553200"/>
            <a:ext cx="6350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D05F9829-D7AF-134E-90D0-35EC3AEEE581}"/>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10 / 14</a:t>
            </a:r>
          </a:p>
        </p:txBody>
      </p:sp>
      <p:sp>
        <p:nvSpPr>
          <p:cNvPr id="14" name="Rectangle 13">
            <a:extLst>
              <a:ext uri="{FF2B5EF4-FFF2-40B4-BE49-F238E27FC236}">
                <a16:creationId xmlns:a16="http://schemas.microsoft.com/office/drawing/2014/main" id="{F12F8D51-16C4-B448-AAE8-1EA855F3F744}"/>
              </a:ext>
            </a:extLst>
          </p:cNvPr>
          <p:cNvSpPr/>
          <p:nvPr/>
        </p:nvSpPr>
        <p:spPr>
          <a:xfrm>
            <a:off x="355600" y="24638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8553E54B-C1D4-A84D-8D2A-01A944C78567}"/>
              </a:ext>
            </a:extLst>
          </p:cNvPr>
          <p:cNvSpPr txBox="1"/>
          <p:nvPr/>
        </p:nvSpPr>
        <p:spPr>
          <a:xfrm>
            <a:off x="4826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01</a:t>
            </a:r>
          </a:p>
        </p:txBody>
      </p:sp>
      <p:sp>
        <p:nvSpPr>
          <p:cNvPr id="16" name="TextBox 15">
            <a:extLst>
              <a:ext uri="{FF2B5EF4-FFF2-40B4-BE49-F238E27FC236}">
                <a16:creationId xmlns:a16="http://schemas.microsoft.com/office/drawing/2014/main" id="{97546BAB-48A6-914E-904E-27BC850533C8}"/>
              </a:ext>
            </a:extLst>
          </p:cNvPr>
          <p:cNvSpPr txBox="1"/>
          <p:nvPr/>
        </p:nvSpPr>
        <p:spPr>
          <a:xfrm>
            <a:off x="1117600" y="2514600"/>
            <a:ext cx="2540000" cy="292388"/>
          </a:xfrm>
          <a:prstGeom prst="rect">
            <a:avLst/>
          </a:prstGeom>
          <a:noFill/>
        </p:spPr>
        <p:txBody>
          <a:bodyPr vertOverflow="overflow" vert="horz" wrap="square" rtlCol="0" anchor="t">
            <a:spAutoFit/>
          </a:bodyPr>
          <a:lstStyle/>
          <a:p>
            <a:r>
              <a:rPr lang="en-US" sz="1300" b="1" spc="200" dirty="0">
                <a:solidFill>
                  <a:srgbClr val="0E4D4D"/>
                </a:solidFill>
                <a:latin typeface="Big Caslon Medium"/>
              </a:rPr>
              <a:t>UNIVARIATE</a:t>
            </a:r>
          </a:p>
        </p:txBody>
      </p:sp>
      <p:sp>
        <p:nvSpPr>
          <p:cNvPr id="17" name="TextBox 16">
            <a:extLst>
              <a:ext uri="{FF2B5EF4-FFF2-40B4-BE49-F238E27FC236}">
                <a16:creationId xmlns:a16="http://schemas.microsoft.com/office/drawing/2014/main" id="{AF2871CD-D4C2-7347-AAB3-A53913B3BABA}"/>
              </a:ext>
            </a:extLst>
          </p:cNvPr>
          <p:cNvSpPr txBox="1"/>
          <p:nvPr/>
        </p:nvSpPr>
        <p:spPr>
          <a:xfrm>
            <a:off x="1117600" y="2768600"/>
            <a:ext cx="2540000" cy="246221"/>
          </a:xfrm>
          <a:prstGeom prst="rect">
            <a:avLst/>
          </a:prstGeom>
          <a:noFill/>
        </p:spPr>
        <p:txBody>
          <a:bodyPr vertOverflow="overflow" vert="horz" wrap="square" rtlCol="0" anchor="t">
            <a:spAutoFit/>
          </a:bodyPr>
          <a:lstStyle/>
          <a:p>
            <a:r>
              <a:rPr lang="en-US" sz="1000" i="1" dirty="0">
                <a:solidFill>
                  <a:srgbClr val="0E4D4D"/>
                </a:solidFill>
                <a:latin typeface="Big Caslon Medium"/>
              </a:rPr>
              <a:t>Distributions of key features</a:t>
            </a:r>
          </a:p>
        </p:txBody>
      </p:sp>
      <p:sp>
        <p:nvSpPr>
          <p:cNvPr id="18" name="Rectangle 17">
            <a:extLst>
              <a:ext uri="{FF2B5EF4-FFF2-40B4-BE49-F238E27FC236}">
                <a16:creationId xmlns:a16="http://schemas.microsoft.com/office/drawing/2014/main" id="{9002F4B2-A402-544F-9488-FAC8A47387B7}"/>
              </a:ext>
            </a:extLst>
          </p:cNvPr>
          <p:cNvSpPr/>
          <p:nvPr/>
        </p:nvSpPr>
        <p:spPr>
          <a:xfrm>
            <a:off x="482600" y="3124200"/>
            <a:ext cx="32004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873FA368-17D9-E642-B954-33EDB38F5CE4}"/>
              </a:ext>
            </a:extLst>
          </p:cNvPr>
          <p:cNvSpPr/>
          <p:nvPr/>
        </p:nvSpPr>
        <p:spPr>
          <a:xfrm>
            <a:off x="4241800" y="24638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042D39AC-8BA8-7848-9D31-A897A099F57C}"/>
              </a:ext>
            </a:extLst>
          </p:cNvPr>
          <p:cNvSpPr txBox="1"/>
          <p:nvPr/>
        </p:nvSpPr>
        <p:spPr>
          <a:xfrm>
            <a:off x="43688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02</a:t>
            </a:r>
          </a:p>
        </p:txBody>
      </p:sp>
      <p:sp>
        <p:nvSpPr>
          <p:cNvPr id="22" name="TextBox 21">
            <a:extLst>
              <a:ext uri="{FF2B5EF4-FFF2-40B4-BE49-F238E27FC236}">
                <a16:creationId xmlns:a16="http://schemas.microsoft.com/office/drawing/2014/main" id="{1B3F6E8A-4C7D-1541-902B-1C860913255D}"/>
              </a:ext>
            </a:extLst>
          </p:cNvPr>
          <p:cNvSpPr txBox="1"/>
          <p:nvPr/>
        </p:nvSpPr>
        <p:spPr>
          <a:xfrm>
            <a:off x="5003800" y="2514600"/>
            <a:ext cx="2540000" cy="292388"/>
          </a:xfrm>
          <a:prstGeom prst="rect">
            <a:avLst/>
          </a:prstGeom>
          <a:noFill/>
        </p:spPr>
        <p:txBody>
          <a:bodyPr vertOverflow="overflow" vert="horz" wrap="square" rtlCol="0" anchor="t">
            <a:spAutoFit/>
          </a:bodyPr>
          <a:lstStyle/>
          <a:p>
            <a:r>
              <a:rPr lang="en-US" sz="1300" b="1" spc="200" dirty="0">
                <a:solidFill>
                  <a:srgbClr val="0E4D4D"/>
                </a:solidFill>
                <a:latin typeface="Big Caslon Medium"/>
              </a:rPr>
              <a:t>BIVARIATE</a:t>
            </a:r>
          </a:p>
        </p:txBody>
      </p:sp>
      <p:sp>
        <p:nvSpPr>
          <p:cNvPr id="23" name="TextBox 22">
            <a:extLst>
              <a:ext uri="{FF2B5EF4-FFF2-40B4-BE49-F238E27FC236}">
                <a16:creationId xmlns:a16="http://schemas.microsoft.com/office/drawing/2014/main" id="{19F98869-79E8-0C47-B0B6-DF48ABB73445}"/>
              </a:ext>
            </a:extLst>
          </p:cNvPr>
          <p:cNvSpPr txBox="1"/>
          <p:nvPr/>
        </p:nvSpPr>
        <p:spPr>
          <a:xfrm>
            <a:off x="5003800" y="2768600"/>
            <a:ext cx="2540000" cy="246221"/>
          </a:xfrm>
          <a:prstGeom prst="rect">
            <a:avLst/>
          </a:prstGeom>
          <a:noFill/>
        </p:spPr>
        <p:txBody>
          <a:bodyPr vertOverflow="overflow" vert="horz" wrap="square" rtlCol="0" anchor="t">
            <a:spAutoFit/>
          </a:bodyPr>
          <a:lstStyle/>
          <a:p>
            <a:r>
              <a:rPr lang="en-US" sz="1000" i="1" dirty="0">
                <a:solidFill>
                  <a:srgbClr val="0E4D4D"/>
                </a:solidFill>
                <a:latin typeface="Big Caslon Medium"/>
              </a:rPr>
              <a:t>Features against price</a:t>
            </a:r>
          </a:p>
        </p:txBody>
      </p:sp>
      <p:sp>
        <p:nvSpPr>
          <p:cNvPr id="24" name="Rectangle 23">
            <a:extLst>
              <a:ext uri="{FF2B5EF4-FFF2-40B4-BE49-F238E27FC236}">
                <a16:creationId xmlns:a16="http://schemas.microsoft.com/office/drawing/2014/main" id="{18334E1C-6DDE-984B-8ACB-40D2EFFE2A82}"/>
              </a:ext>
            </a:extLst>
          </p:cNvPr>
          <p:cNvSpPr/>
          <p:nvPr/>
        </p:nvSpPr>
        <p:spPr>
          <a:xfrm>
            <a:off x="4368800" y="3124200"/>
            <a:ext cx="32004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114698BA-8D26-A747-904A-0C1ECB92893D}"/>
              </a:ext>
            </a:extLst>
          </p:cNvPr>
          <p:cNvSpPr txBox="1"/>
          <p:nvPr/>
        </p:nvSpPr>
        <p:spPr>
          <a:xfrm>
            <a:off x="8153400" y="2413000"/>
            <a:ext cx="635000" cy="457200"/>
          </a:xfrm>
          <a:prstGeom prst="rect">
            <a:avLst/>
          </a:prstGeom>
          <a:noFill/>
        </p:spPr>
        <p:txBody>
          <a:bodyPr vertOverflow="overflow" vert="horz" wrap="square" rtlCol="0" anchor="t">
            <a:spAutoFit/>
          </a:bodyPr>
          <a:lstStyle/>
          <a:p>
            <a:r>
              <a:rPr lang="en-US" sz="2400" b="1" i="1" dirty="0">
                <a:solidFill>
                  <a:srgbClr val="F7F1E8"/>
                </a:solidFill>
                <a:latin typeface="Playfair Display"/>
              </a:rPr>
              <a:t>03</a:t>
            </a:r>
          </a:p>
        </p:txBody>
      </p:sp>
      <p:sp>
        <p:nvSpPr>
          <p:cNvPr id="27" name="TextBox 26">
            <a:extLst>
              <a:ext uri="{FF2B5EF4-FFF2-40B4-BE49-F238E27FC236}">
                <a16:creationId xmlns:a16="http://schemas.microsoft.com/office/drawing/2014/main" id="{914CEF73-FC06-8740-B236-8D77CF0FC9E8}"/>
              </a:ext>
            </a:extLst>
          </p:cNvPr>
          <p:cNvSpPr txBox="1"/>
          <p:nvPr/>
        </p:nvSpPr>
        <p:spPr>
          <a:xfrm>
            <a:off x="8153400" y="2844800"/>
            <a:ext cx="3556000" cy="246221"/>
          </a:xfrm>
          <a:prstGeom prst="rect">
            <a:avLst/>
          </a:prstGeom>
          <a:noFill/>
        </p:spPr>
        <p:txBody>
          <a:bodyPr vertOverflow="overflow" vert="horz" wrap="square" rtlCol="0" anchor="t">
            <a:spAutoFit/>
          </a:bodyPr>
          <a:lstStyle/>
          <a:p>
            <a:r>
              <a:rPr lang="en-US" sz="1000" b="1" spc="200" dirty="0">
                <a:solidFill>
                  <a:srgbClr val="F7F1E8"/>
                </a:solidFill>
                <a:latin typeface="Big Caslon Medium"/>
              </a:rPr>
              <a:t>CORRELATION   ·   PRICE DRIVERS</a:t>
            </a:r>
          </a:p>
        </p:txBody>
      </p:sp>
      <p:sp>
        <p:nvSpPr>
          <p:cNvPr id="28" name="Rectangle 27">
            <a:extLst>
              <a:ext uri="{FF2B5EF4-FFF2-40B4-BE49-F238E27FC236}">
                <a16:creationId xmlns:a16="http://schemas.microsoft.com/office/drawing/2014/main" id="{7DEDE3F4-8F1C-854C-A5D3-908ADE934EC1}"/>
              </a:ext>
            </a:extLst>
          </p:cNvPr>
          <p:cNvSpPr/>
          <p:nvPr/>
        </p:nvSpPr>
        <p:spPr>
          <a:xfrm>
            <a:off x="8153400" y="3124200"/>
            <a:ext cx="3657600" cy="127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31" name="Picture 30">
            <a:extLst>
              <a:ext uri="{FF2B5EF4-FFF2-40B4-BE49-F238E27FC236}">
                <a16:creationId xmlns:a16="http://schemas.microsoft.com/office/drawing/2014/main" id="{58E68803-A61F-55D3-8F27-58F45C20013E}"/>
              </a:ext>
            </a:extLst>
          </p:cNvPr>
          <p:cNvPicPr>
            <a:picLocks noChangeAspect="1"/>
          </p:cNvPicPr>
          <p:nvPr/>
        </p:nvPicPr>
        <p:blipFill>
          <a:blip r:embed="rId2"/>
          <a:stretch>
            <a:fillRect/>
          </a:stretch>
        </p:blipFill>
        <p:spPr>
          <a:xfrm>
            <a:off x="8153400" y="2540000"/>
            <a:ext cx="3657600" cy="2870200"/>
          </a:xfrm>
          <a:prstGeom prst="rect">
            <a:avLst/>
          </a:prstGeom>
        </p:spPr>
      </p:pic>
      <p:sp>
        <p:nvSpPr>
          <p:cNvPr id="38" name="TextBox 37">
            <a:extLst>
              <a:ext uri="{FF2B5EF4-FFF2-40B4-BE49-F238E27FC236}">
                <a16:creationId xmlns:a16="http://schemas.microsoft.com/office/drawing/2014/main" id="{5736C0A4-AA64-FD46-B58F-980FF12E15AE}"/>
              </a:ext>
            </a:extLst>
          </p:cNvPr>
          <p:cNvSpPr txBox="1"/>
          <p:nvPr/>
        </p:nvSpPr>
        <p:spPr>
          <a:xfrm>
            <a:off x="8153400" y="5486400"/>
            <a:ext cx="3657600" cy="246221"/>
          </a:xfrm>
          <a:prstGeom prst="rect">
            <a:avLst/>
          </a:prstGeom>
          <a:noFill/>
        </p:spPr>
        <p:txBody>
          <a:bodyPr vertOverflow="overflow" vert="horz" wrap="square" rtlCol="0" anchor="t">
            <a:spAutoFit/>
          </a:bodyPr>
          <a:lstStyle/>
          <a:p>
            <a:r>
              <a:rPr lang="en-US" sz="1000" b="1" spc="200" dirty="0">
                <a:solidFill>
                  <a:srgbClr val="F7F1E8"/>
                </a:solidFill>
                <a:latin typeface="Big Caslon Medium"/>
              </a:rPr>
              <a:t>STRONGEST PRICE CORRELATIONS</a:t>
            </a:r>
          </a:p>
        </p:txBody>
      </p:sp>
      <p:sp>
        <p:nvSpPr>
          <p:cNvPr id="39" name="TextBox 38">
            <a:extLst>
              <a:ext uri="{FF2B5EF4-FFF2-40B4-BE49-F238E27FC236}">
                <a16:creationId xmlns:a16="http://schemas.microsoft.com/office/drawing/2014/main" id="{E70748A7-8C67-A44B-AB83-E6601E7A498E}"/>
              </a:ext>
            </a:extLst>
          </p:cNvPr>
          <p:cNvSpPr txBox="1"/>
          <p:nvPr/>
        </p:nvSpPr>
        <p:spPr>
          <a:xfrm>
            <a:off x="8229600" y="5728543"/>
            <a:ext cx="889000" cy="400110"/>
          </a:xfrm>
          <a:prstGeom prst="rect">
            <a:avLst/>
          </a:prstGeom>
          <a:noFill/>
        </p:spPr>
        <p:txBody>
          <a:bodyPr vertOverflow="overflow" vert="horz" wrap="square" rtlCol="0" anchor="t">
            <a:spAutoFit/>
          </a:bodyPr>
          <a:lstStyle/>
          <a:p>
            <a:r>
              <a:rPr lang="en-US" sz="2000" b="1" i="1" dirty="0">
                <a:solidFill>
                  <a:srgbClr val="F7F1E8"/>
                </a:solidFill>
                <a:latin typeface="Playfair Display"/>
              </a:rPr>
              <a:t>0.63</a:t>
            </a:r>
          </a:p>
        </p:txBody>
      </p:sp>
      <p:sp>
        <p:nvSpPr>
          <p:cNvPr id="40" name="TextBox 39">
            <a:extLst>
              <a:ext uri="{FF2B5EF4-FFF2-40B4-BE49-F238E27FC236}">
                <a16:creationId xmlns:a16="http://schemas.microsoft.com/office/drawing/2014/main" id="{67E7E4AE-5435-234A-9FD2-08A156590067}"/>
              </a:ext>
            </a:extLst>
          </p:cNvPr>
          <p:cNvSpPr txBox="1"/>
          <p:nvPr/>
        </p:nvSpPr>
        <p:spPr>
          <a:xfrm>
            <a:off x="8229600" y="6070600"/>
            <a:ext cx="889000" cy="228011"/>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bathrooms</a:t>
            </a:r>
          </a:p>
        </p:txBody>
      </p:sp>
      <p:sp>
        <p:nvSpPr>
          <p:cNvPr id="41" name="TextBox 40">
            <a:extLst>
              <a:ext uri="{FF2B5EF4-FFF2-40B4-BE49-F238E27FC236}">
                <a16:creationId xmlns:a16="http://schemas.microsoft.com/office/drawing/2014/main" id="{74F1F7A5-95A0-9841-B5E6-138EE967DFC1}"/>
              </a:ext>
            </a:extLst>
          </p:cNvPr>
          <p:cNvSpPr txBox="1"/>
          <p:nvPr/>
        </p:nvSpPr>
        <p:spPr>
          <a:xfrm>
            <a:off x="9118600" y="5715000"/>
            <a:ext cx="889000" cy="400110"/>
          </a:xfrm>
          <a:prstGeom prst="rect">
            <a:avLst/>
          </a:prstGeom>
          <a:noFill/>
        </p:spPr>
        <p:txBody>
          <a:bodyPr vertOverflow="overflow" vert="horz" wrap="square" rtlCol="0" anchor="t">
            <a:spAutoFit/>
          </a:bodyPr>
          <a:lstStyle/>
          <a:p>
            <a:r>
              <a:rPr lang="en-US" sz="2000" b="1" i="1" dirty="0">
                <a:solidFill>
                  <a:srgbClr val="F7F1E8"/>
                </a:solidFill>
                <a:latin typeface="Playfair Display"/>
              </a:rPr>
              <a:t>0.61</a:t>
            </a:r>
          </a:p>
        </p:txBody>
      </p:sp>
      <p:sp>
        <p:nvSpPr>
          <p:cNvPr id="42" name="TextBox 41">
            <a:extLst>
              <a:ext uri="{FF2B5EF4-FFF2-40B4-BE49-F238E27FC236}">
                <a16:creationId xmlns:a16="http://schemas.microsoft.com/office/drawing/2014/main" id="{EA176ACE-A8C4-9545-AB92-4F477DDB7EAD}"/>
              </a:ext>
            </a:extLst>
          </p:cNvPr>
          <p:cNvSpPr txBox="1"/>
          <p:nvPr/>
        </p:nvSpPr>
        <p:spPr>
          <a:xfrm>
            <a:off x="9118600" y="6070600"/>
            <a:ext cx="889000" cy="228011"/>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accommodates</a:t>
            </a:r>
          </a:p>
        </p:txBody>
      </p:sp>
      <p:sp>
        <p:nvSpPr>
          <p:cNvPr id="43" name="TextBox 42">
            <a:extLst>
              <a:ext uri="{FF2B5EF4-FFF2-40B4-BE49-F238E27FC236}">
                <a16:creationId xmlns:a16="http://schemas.microsoft.com/office/drawing/2014/main" id="{B4FC7255-BBDA-564E-9560-170512205C26}"/>
              </a:ext>
            </a:extLst>
          </p:cNvPr>
          <p:cNvSpPr txBox="1"/>
          <p:nvPr/>
        </p:nvSpPr>
        <p:spPr>
          <a:xfrm>
            <a:off x="10083800" y="5715000"/>
            <a:ext cx="889000" cy="400110"/>
          </a:xfrm>
          <a:prstGeom prst="rect">
            <a:avLst/>
          </a:prstGeom>
          <a:noFill/>
        </p:spPr>
        <p:txBody>
          <a:bodyPr vertOverflow="overflow" vert="horz" wrap="square" rtlCol="0" anchor="t">
            <a:spAutoFit/>
          </a:bodyPr>
          <a:lstStyle/>
          <a:p>
            <a:r>
              <a:rPr lang="en-US" sz="2000" b="1" i="1" dirty="0">
                <a:solidFill>
                  <a:srgbClr val="F7F1E8"/>
                </a:solidFill>
                <a:latin typeface="Playfair Display"/>
              </a:rPr>
              <a:t>0.59</a:t>
            </a:r>
          </a:p>
        </p:txBody>
      </p:sp>
      <p:sp>
        <p:nvSpPr>
          <p:cNvPr id="44" name="TextBox 43">
            <a:extLst>
              <a:ext uri="{FF2B5EF4-FFF2-40B4-BE49-F238E27FC236}">
                <a16:creationId xmlns:a16="http://schemas.microsoft.com/office/drawing/2014/main" id="{8CE5FD6E-44F4-CC4A-9EDF-F769E316107B}"/>
              </a:ext>
            </a:extLst>
          </p:cNvPr>
          <p:cNvSpPr txBox="1"/>
          <p:nvPr/>
        </p:nvSpPr>
        <p:spPr>
          <a:xfrm>
            <a:off x="10083800" y="6070600"/>
            <a:ext cx="889000" cy="228011"/>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bedrooms</a:t>
            </a:r>
          </a:p>
        </p:txBody>
      </p:sp>
      <p:sp>
        <p:nvSpPr>
          <p:cNvPr id="45" name="TextBox 44">
            <a:extLst>
              <a:ext uri="{FF2B5EF4-FFF2-40B4-BE49-F238E27FC236}">
                <a16:creationId xmlns:a16="http://schemas.microsoft.com/office/drawing/2014/main" id="{8CB09545-9D42-D149-9C82-145AE4F0D3A3}"/>
              </a:ext>
            </a:extLst>
          </p:cNvPr>
          <p:cNvSpPr txBox="1"/>
          <p:nvPr/>
        </p:nvSpPr>
        <p:spPr>
          <a:xfrm>
            <a:off x="11049000" y="5715000"/>
            <a:ext cx="889000" cy="400110"/>
          </a:xfrm>
          <a:prstGeom prst="rect">
            <a:avLst/>
          </a:prstGeom>
          <a:noFill/>
        </p:spPr>
        <p:txBody>
          <a:bodyPr vertOverflow="overflow" vert="horz" wrap="square" rtlCol="0" anchor="t">
            <a:spAutoFit/>
          </a:bodyPr>
          <a:lstStyle/>
          <a:p>
            <a:r>
              <a:rPr lang="en-US" sz="2000" b="1" i="1" dirty="0">
                <a:solidFill>
                  <a:srgbClr val="F7F1E8"/>
                </a:solidFill>
                <a:latin typeface="Playfair Display"/>
              </a:rPr>
              <a:t>0.30</a:t>
            </a:r>
          </a:p>
        </p:txBody>
      </p:sp>
      <p:sp>
        <p:nvSpPr>
          <p:cNvPr id="46" name="TextBox 45">
            <a:extLst>
              <a:ext uri="{FF2B5EF4-FFF2-40B4-BE49-F238E27FC236}">
                <a16:creationId xmlns:a16="http://schemas.microsoft.com/office/drawing/2014/main" id="{593C1567-14F8-F847-B364-CA7C4D69EF0E}"/>
              </a:ext>
            </a:extLst>
          </p:cNvPr>
          <p:cNvSpPr txBox="1"/>
          <p:nvPr/>
        </p:nvSpPr>
        <p:spPr>
          <a:xfrm>
            <a:off x="11049000" y="6070600"/>
            <a:ext cx="889000" cy="228011"/>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topic_2</a:t>
            </a:r>
          </a:p>
        </p:txBody>
      </p:sp>
      <p:sp>
        <p:nvSpPr>
          <p:cNvPr id="50" name="TextBox 49">
            <a:extLst>
              <a:ext uri="{FF2B5EF4-FFF2-40B4-BE49-F238E27FC236}">
                <a16:creationId xmlns:a16="http://schemas.microsoft.com/office/drawing/2014/main" id="{787B2B93-62DC-B444-97A6-94BC5EE76C90}"/>
              </a:ext>
            </a:extLst>
          </p:cNvPr>
          <p:cNvSpPr txBox="1"/>
          <p:nvPr/>
        </p:nvSpPr>
        <p:spPr>
          <a:xfrm>
            <a:off x="482600" y="4877591"/>
            <a:ext cx="3200400" cy="400110"/>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Price right skewed: median $144, mean $192, tail to $4,500</a:t>
            </a:r>
          </a:p>
        </p:txBody>
      </p:sp>
      <p:sp>
        <p:nvSpPr>
          <p:cNvPr id="51" name="TextBox 50">
            <a:extLst>
              <a:ext uri="{FF2B5EF4-FFF2-40B4-BE49-F238E27FC236}">
                <a16:creationId xmlns:a16="http://schemas.microsoft.com/office/drawing/2014/main" id="{0F17CFC6-3EFA-DE48-AC2A-4690796944EF}"/>
              </a:ext>
            </a:extLst>
          </p:cNvPr>
          <p:cNvSpPr txBox="1"/>
          <p:nvPr/>
        </p:nvSpPr>
        <p:spPr>
          <a:xfrm>
            <a:off x="482600" y="5257799"/>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accommodates multimodal at 2, 4, and 6 guests</a:t>
            </a:r>
          </a:p>
        </p:txBody>
      </p:sp>
      <p:sp>
        <p:nvSpPr>
          <p:cNvPr id="52" name="TextBox 51">
            <a:extLst>
              <a:ext uri="{FF2B5EF4-FFF2-40B4-BE49-F238E27FC236}">
                <a16:creationId xmlns:a16="http://schemas.microsoft.com/office/drawing/2014/main" id="{255AA63C-534A-F542-9100-B2481F315B7C}"/>
              </a:ext>
            </a:extLst>
          </p:cNvPr>
          <p:cNvSpPr txBox="1"/>
          <p:nvPr/>
        </p:nvSpPr>
        <p:spPr>
          <a:xfrm>
            <a:off x="482600" y="5513495"/>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review_scores_rating clusters tightly at 5.0</a:t>
            </a:r>
          </a:p>
        </p:txBody>
      </p:sp>
      <p:sp>
        <p:nvSpPr>
          <p:cNvPr id="53" name="TextBox 52">
            <a:extLst>
              <a:ext uri="{FF2B5EF4-FFF2-40B4-BE49-F238E27FC236}">
                <a16:creationId xmlns:a16="http://schemas.microsoft.com/office/drawing/2014/main" id="{1D7F1F97-6032-8C46-AF97-57FEE767D4AB}"/>
              </a:ext>
            </a:extLst>
          </p:cNvPr>
          <p:cNvSpPr txBox="1"/>
          <p:nvPr/>
        </p:nvSpPr>
        <p:spPr>
          <a:xfrm>
            <a:off x="482600" y="5763631"/>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HF sentiment and zero-shot scores skew toward 1.0</a:t>
            </a:r>
          </a:p>
        </p:txBody>
      </p:sp>
      <p:sp>
        <p:nvSpPr>
          <p:cNvPr id="54" name="TextBox 53">
            <a:extLst>
              <a:ext uri="{FF2B5EF4-FFF2-40B4-BE49-F238E27FC236}">
                <a16:creationId xmlns:a16="http://schemas.microsoft.com/office/drawing/2014/main" id="{28220416-B6B9-5749-9059-41BE9809D95C}"/>
              </a:ext>
            </a:extLst>
          </p:cNvPr>
          <p:cNvSpPr txBox="1"/>
          <p:nvPr/>
        </p:nvSpPr>
        <p:spPr>
          <a:xfrm>
            <a:off x="469900" y="6017682"/>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topic_2, topic_3, topic_5 near zero for most listings</a:t>
            </a:r>
          </a:p>
        </p:txBody>
      </p:sp>
      <p:sp>
        <p:nvSpPr>
          <p:cNvPr id="55" name="TextBox 54">
            <a:extLst>
              <a:ext uri="{FF2B5EF4-FFF2-40B4-BE49-F238E27FC236}">
                <a16:creationId xmlns:a16="http://schemas.microsoft.com/office/drawing/2014/main" id="{A40F643A-683A-4048-BC8F-D0BC05A45D18}"/>
              </a:ext>
            </a:extLst>
          </p:cNvPr>
          <p:cNvSpPr txBox="1"/>
          <p:nvPr/>
        </p:nvSpPr>
        <p:spPr>
          <a:xfrm>
            <a:off x="4377779" y="5037251"/>
            <a:ext cx="3200400" cy="400110"/>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accommodates, bedrooms, bathrooms trend up with price</a:t>
            </a:r>
          </a:p>
        </p:txBody>
      </p:sp>
      <p:sp>
        <p:nvSpPr>
          <p:cNvPr id="56" name="TextBox 55">
            <a:extLst>
              <a:ext uri="{FF2B5EF4-FFF2-40B4-BE49-F238E27FC236}">
                <a16:creationId xmlns:a16="http://schemas.microsoft.com/office/drawing/2014/main" id="{1237685D-2766-DC40-A6AF-12D7E8C71398}"/>
              </a:ext>
            </a:extLst>
          </p:cNvPr>
          <p:cNvSpPr txBox="1"/>
          <p:nvPr/>
        </p:nvSpPr>
        <p:spPr>
          <a:xfrm>
            <a:off x="4377779" y="5380910"/>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review_scores_rating: top prices cluster near 5.0</a:t>
            </a:r>
          </a:p>
        </p:txBody>
      </p:sp>
      <p:sp>
        <p:nvSpPr>
          <p:cNvPr id="57" name="TextBox 56">
            <a:extLst>
              <a:ext uri="{FF2B5EF4-FFF2-40B4-BE49-F238E27FC236}">
                <a16:creationId xmlns:a16="http://schemas.microsoft.com/office/drawing/2014/main" id="{BCDA2399-5792-9E40-B988-3CBB920240F2}"/>
              </a:ext>
            </a:extLst>
          </p:cNvPr>
          <p:cNvSpPr txBox="1"/>
          <p:nvPr/>
        </p:nvSpPr>
        <p:spPr>
          <a:xfrm>
            <a:off x="4368800" y="5682377"/>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number_of_reviews and availability_365 flat vs price</a:t>
            </a:r>
          </a:p>
        </p:txBody>
      </p:sp>
      <p:sp>
        <p:nvSpPr>
          <p:cNvPr id="58" name="TextBox 57">
            <a:extLst>
              <a:ext uri="{FF2B5EF4-FFF2-40B4-BE49-F238E27FC236}">
                <a16:creationId xmlns:a16="http://schemas.microsoft.com/office/drawing/2014/main" id="{49E8277B-8DCC-B64D-A9BD-044ADEDD6F05}"/>
              </a:ext>
            </a:extLst>
          </p:cNvPr>
          <p:cNvSpPr txBox="1"/>
          <p:nvPr/>
        </p:nvSpPr>
        <p:spPr>
          <a:xfrm>
            <a:off x="4377779" y="5938384"/>
            <a:ext cx="3200400" cy="246221"/>
          </a:xfrm>
          <a:prstGeom prst="rect">
            <a:avLst/>
          </a:prstGeom>
          <a:noFill/>
        </p:spPr>
        <p:txBody>
          <a:bodyPr vertOverflow="overflow" vert="horz" wrap="square" rtlCol="0" anchor="t">
            <a:spAutoFit/>
          </a:bodyPr>
          <a:lstStyle/>
          <a:p>
            <a:pPr marL="114300" indent="-114300">
              <a:lnSpc>
                <a:spcPts val="1200"/>
              </a:lnSpc>
              <a:buClr>
                <a:srgbClr val="E07856"/>
              </a:buClr>
              <a:buFont typeface="Arial"/>
              <a:buChar char="●"/>
            </a:pPr>
            <a:r>
              <a:rPr lang="en-US" sz="1000" dirty="0">
                <a:solidFill>
                  <a:srgbClr val="0E4D4D"/>
                </a:solidFill>
                <a:latin typeface="Big Caslon Medium"/>
              </a:rPr>
              <a:t>NLP scores show diffuse, indirect price signal</a:t>
            </a:r>
          </a:p>
        </p:txBody>
      </p:sp>
      <p:pic>
        <p:nvPicPr>
          <p:cNvPr id="30" name="Picture 29">
            <a:extLst>
              <a:ext uri="{FF2B5EF4-FFF2-40B4-BE49-F238E27FC236}">
                <a16:creationId xmlns:a16="http://schemas.microsoft.com/office/drawing/2014/main" id="{0117BFD9-7935-2D59-3349-C84349236838}"/>
              </a:ext>
            </a:extLst>
          </p:cNvPr>
          <p:cNvPicPr>
            <a:picLocks noChangeAspect="1"/>
          </p:cNvPicPr>
          <p:nvPr/>
        </p:nvPicPr>
        <p:blipFill>
          <a:blip r:embed="rId3"/>
          <a:stretch>
            <a:fillRect/>
          </a:stretch>
        </p:blipFill>
        <p:spPr>
          <a:xfrm>
            <a:off x="4377779" y="3243421"/>
            <a:ext cx="3296742" cy="1654130"/>
          </a:xfrm>
          <a:prstGeom prst="rect">
            <a:avLst/>
          </a:prstGeom>
        </p:spPr>
      </p:pic>
      <p:pic>
        <p:nvPicPr>
          <p:cNvPr id="32" name="Picture 31">
            <a:extLst>
              <a:ext uri="{FF2B5EF4-FFF2-40B4-BE49-F238E27FC236}">
                <a16:creationId xmlns:a16="http://schemas.microsoft.com/office/drawing/2014/main" id="{FEA8BCD5-581D-9FE0-CDE2-D2CC285B802A}"/>
              </a:ext>
            </a:extLst>
          </p:cNvPr>
          <p:cNvPicPr>
            <a:picLocks noChangeAspect="1"/>
          </p:cNvPicPr>
          <p:nvPr/>
        </p:nvPicPr>
        <p:blipFill>
          <a:blip r:embed="rId4"/>
          <a:stretch>
            <a:fillRect/>
          </a:stretch>
        </p:blipFill>
        <p:spPr>
          <a:xfrm>
            <a:off x="469900" y="3248343"/>
            <a:ext cx="3263900" cy="1524739"/>
          </a:xfrm>
          <a:prstGeom prst="rect">
            <a:avLst/>
          </a:prstGeom>
        </p:spPr>
      </p:pic>
      <p:pic>
        <p:nvPicPr>
          <p:cNvPr id="33" name="Picture 32">
            <a:extLst>
              <a:ext uri="{FF2B5EF4-FFF2-40B4-BE49-F238E27FC236}">
                <a16:creationId xmlns:a16="http://schemas.microsoft.com/office/drawing/2014/main" id="{62D74519-DD9E-B169-6F14-557774ADFDDD}"/>
              </a:ext>
            </a:extLst>
          </p:cNvPr>
          <p:cNvPicPr>
            <a:picLocks noChangeAspect="1"/>
          </p:cNvPicPr>
          <p:nvPr/>
        </p:nvPicPr>
        <p:blipFill>
          <a:blip r:embed="rId5"/>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325643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25" name="Rounded Rectangle 24">
            <a:extLst>
              <a:ext uri="{FF2B5EF4-FFF2-40B4-BE49-F238E27FC236}">
                <a16:creationId xmlns:a16="http://schemas.microsoft.com/office/drawing/2014/main" id="{C1F04A6D-AD5F-AA43-B609-4188EAC67A67}"/>
              </a:ext>
            </a:extLst>
          </p:cNvPr>
          <p:cNvSpPr/>
          <p:nvPr/>
        </p:nvSpPr>
        <p:spPr>
          <a:xfrm>
            <a:off x="8178800" y="2286000"/>
            <a:ext cx="3810000" cy="4064000"/>
          </a:xfrm>
          <a:prstGeom prst="roundRect">
            <a:avLst/>
          </a:prstGeom>
          <a:solidFill>
            <a:srgbClr val="0E4D4D"/>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ounded Rectangle 18">
            <a:extLst>
              <a:ext uri="{FF2B5EF4-FFF2-40B4-BE49-F238E27FC236}">
                <a16:creationId xmlns:a16="http://schemas.microsoft.com/office/drawing/2014/main" id="{976CC25B-FE83-6843-B2D0-C721C62A29EC}"/>
              </a:ext>
            </a:extLst>
          </p:cNvPr>
          <p:cNvSpPr/>
          <p:nvPr/>
        </p:nvSpPr>
        <p:spPr>
          <a:xfrm>
            <a:off x="4191000" y="2286000"/>
            <a:ext cx="3810000" cy="4064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ounded Rectangle 12">
            <a:extLst>
              <a:ext uri="{FF2B5EF4-FFF2-40B4-BE49-F238E27FC236}">
                <a16:creationId xmlns:a16="http://schemas.microsoft.com/office/drawing/2014/main" id="{CA36799C-A535-1D4A-A990-B7A5FDCEC535}"/>
              </a:ext>
            </a:extLst>
          </p:cNvPr>
          <p:cNvSpPr/>
          <p:nvPr/>
        </p:nvSpPr>
        <p:spPr>
          <a:xfrm>
            <a:off x="203200" y="2286000"/>
            <a:ext cx="3810000" cy="4064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1FAB6B03-762D-AE44-85C5-CB4E0F66F8C0}"/>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75453909-84D2-4B45-9A84-C0D5EE35BA96}"/>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8D3D0D2D-42B8-EF46-984C-9B0721126BC4}"/>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5A32985C-A260-EC41-B935-EF0990B6FA2C}"/>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B04F3B38-06D2-2E48-B89A-1986009DC4F4}"/>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25C7628D-8815-3B4F-B61E-C8A3AB598783}"/>
              </a:ext>
            </a:extLst>
          </p:cNvPr>
          <p:cNvSpPr txBox="1"/>
          <p:nvPr/>
        </p:nvSpPr>
        <p:spPr>
          <a:xfrm>
            <a:off x="1651000" y="355600"/>
            <a:ext cx="7112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13BD52AB-DB4D-954D-B771-9C0AAB8FF772}"/>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842A09C0-02BD-EE4F-A620-F2EDF44FE59B}"/>
              </a:ext>
            </a:extLst>
          </p:cNvPr>
          <p:cNvSpPr txBox="1"/>
          <p:nvPr/>
        </p:nvSpPr>
        <p:spPr>
          <a:xfrm>
            <a:off x="711200" y="1270000"/>
            <a:ext cx="7620000" cy="228600"/>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MODELS   ·   PRICE PREDICTION</a:t>
            </a:r>
          </a:p>
        </p:txBody>
      </p:sp>
      <p:sp>
        <p:nvSpPr>
          <p:cNvPr id="10" name="TextBox 9">
            <a:extLst>
              <a:ext uri="{FF2B5EF4-FFF2-40B4-BE49-F238E27FC236}">
                <a16:creationId xmlns:a16="http://schemas.microsoft.com/office/drawing/2014/main" id="{FE1BA57B-B8B1-E241-B466-40CF46134B86}"/>
              </a:ext>
            </a:extLst>
          </p:cNvPr>
          <p:cNvSpPr txBox="1"/>
          <p:nvPr/>
        </p:nvSpPr>
        <p:spPr>
          <a:xfrm>
            <a:off x="635000" y="1498600"/>
            <a:ext cx="10922000" cy="584775"/>
          </a:xfrm>
          <a:prstGeom prst="rect">
            <a:avLst/>
          </a:prstGeom>
          <a:noFill/>
        </p:spPr>
        <p:txBody>
          <a:bodyPr vertOverflow="overflow" vert="horz" wrap="square" rtlCol="0" anchor="t">
            <a:spAutoFit/>
          </a:bodyPr>
          <a:lstStyle/>
          <a:p>
            <a:r>
              <a:rPr lang="en-US" sz="3200" b="1" i="1" dirty="0">
                <a:solidFill>
                  <a:srgbClr val="0E4D4D"/>
                </a:solidFill>
                <a:latin typeface="Playfair Display"/>
              </a:rPr>
              <a:t>Neural Networks &amp; XGBoost</a:t>
            </a:r>
          </a:p>
        </p:txBody>
      </p:sp>
      <p:sp>
        <p:nvSpPr>
          <p:cNvPr id="11" name="TextBox 10">
            <a:extLst>
              <a:ext uri="{FF2B5EF4-FFF2-40B4-BE49-F238E27FC236}">
                <a16:creationId xmlns:a16="http://schemas.microsoft.com/office/drawing/2014/main" id="{027A12E5-E669-D24E-B80C-D729BE748583}"/>
              </a:ext>
            </a:extLst>
          </p:cNvPr>
          <p:cNvSpPr txBox="1"/>
          <p:nvPr/>
        </p:nvSpPr>
        <p:spPr>
          <a:xfrm>
            <a:off x="406400" y="6553200"/>
            <a:ext cx="6350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4B1DDA23-9A9A-BB45-9F2E-8C93B96FBA7A}"/>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11 / 14</a:t>
            </a:r>
          </a:p>
        </p:txBody>
      </p:sp>
      <p:sp>
        <p:nvSpPr>
          <p:cNvPr id="14" name="Rectangle 13">
            <a:extLst>
              <a:ext uri="{FF2B5EF4-FFF2-40B4-BE49-F238E27FC236}">
                <a16:creationId xmlns:a16="http://schemas.microsoft.com/office/drawing/2014/main" id="{FE49C255-B6F6-B147-B11D-6E9AF19355BC}"/>
              </a:ext>
            </a:extLst>
          </p:cNvPr>
          <p:cNvSpPr/>
          <p:nvPr/>
        </p:nvSpPr>
        <p:spPr>
          <a:xfrm>
            <a:off x="355600" y="24638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C867EB01-FB9D-6F4B-869F-517A0B20283C}"/>
              </a:ext>
            </a:extLst>
          </p:cNvPr>
          <p:cNvSpPr txBox="1"/>
          <p:nvPr/>
        </p:nvSpPr>
        <p:spPr>
          <a:xfrm>
            <a:off x="4826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01</a:t>
            </a:r>
          </a:p>
        </p:txBody>
      </p:sp>
      <p:sp>
        <p:nvSpPr>
          <p:cNvPr id="16" name="TextBox 15">
            <a:extLst>
              <a:ext uri="{FF2B5EF4-FFF2-40B4-BE49-F238E27FC236}">
                <a16:creationId xmlns:a16="http://schemas.microsoft.com/office/drawing/2014/main" id="{3B96BD33-9249-4C40-A658-B069EABD8347}"/>
              </a:ext>
            </a:extLst>
          </p:cNvPr>
          <p:cNvSpPr txBox="1"/>
          <p:nvPr/>
        </p:nvSpPr>
        <p:spPr>
          <a:xfrm>
            <a:off x="1117600" y="2514600"/>
            <a:ext cx="2540000" cy="292388"/>
          </a:xfrm>
          <a:prstGeom prst="rect">
            <a:avLst/>
          </a:prstGeom>
          <a:noFill/>
        </p:spPr>
        <p:txBody>
          <a:bodyPr vertOverflow="overflow" vert="horz" wrap="square" rtlCol="0" anchor="t">
            <a:spAutoFit/>
          </a:bodyPr>
          <a:lstStyle/>
          <a:p>
            <a:r>
              <a:rPr lang="en-US" sz="1300" b="1" spc="200" dirty="0">
                <a:solidFill>
                  <a:srgbClr val="0E4D4D"/>
                </a:solidFill>
                <a:latin typeface="Big Caslon Medium"/>
              </a:rPr>
              <a:t>NN MODEL 1</a:t>
            </a:r>
          </a:p>
        </p:txBody>
      </p:sp>
      <p:sp>
        <p:nvSpPr>
          <p:cNvPr id="17" name="TextBox 16">
            <a:extLst>
              <a:ext uri="{FF2B5EF4-FFF2-40B4-BE49-F238E27FC236}">
                <a16:creationId xmlns:a16="http://schemas.microsoft.com/office/drawing/2014/main" id="{D4E9F0CB-7051-7B42-9789-944570883F6F}"/>
              </a:ext>
            </a:extLst>
          </p:cNvPr>
          <p:cNvSpPr txBox="1"/>
          <p:nvPr/>
        </p:nvSpPr>
        <p:spPr>
          <a:xfrm>
            <a:off x="1117600" y="2768600"/>
            <a:ext cx="2540000" cy="246221"/>
          </a:xfrm>
          <a:prstGeom prst="rect">
            <a:avLst/>
          </a:prstGeom>
          <a:noFill/>
        </p:spPr>
        <p:txBody>
          <a:bodyPr vertOverflow="overflow" vert="horz" wrap="square" rtlCol="0" anchor="t">
            <a:spAutoFit/>
          </a:bodyPr>
          <a:lstStyle/>
          <a:p>
            <a:r>
              <a:rPr lang="en-US" sz="1000" i="1" dirty="0">
                <a:solidFill>
                  <a:srgbClr val="0E4D4D"/>
                </a:solidFill>
                <a:latin typeface="Big Caslon Medium"/>
              </a:rPr>
              <a:t>Baseline architecture</a:t>
            </a:r>
          </a:p>
        </p:txBody>
      </p:sp>
      <p:sp>
        <p:nvSpPr>
          <p:cNvPr id="18" name="Rectangle 17">
            <a:extLst>
              <a:ext uri="{FF2B5EF4-FFF2-40B4-BE49-F238E27FC236}">
                <a16:creationId xmlns:a16="http://schemas.microsoft.com/office/drawing/2014/main" id="{40C6A2FB-2BEA-AB4B-99C5-44AE15D6554A}"/>
              </a:ext>
            </a:extLst>
          </p:cNvPr>
          <p:cNvSpPr/>
          <p:nvPr/>
        </p:nvSpPr>
        <p:spPr>
          <a:xfrm>
            <a:off x="482600" y="3124200"/>
            <a:ext cx="35306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40352C58-52C3-AD4B-81E3-6A3B25B9FF9B}"/>
              </a:ext>
            </a:extLst>
          </p:cNvPr>
          <p:cNvSpPr/>
          <p:nvPr/>
        </p:nvSpPr>
        <p:spPr>
          <a:xfrm>
            <a:off x="4343400" y="24638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594A6C52-70CD-0A40-BD08-3EA19841F30E}"/>
              </a:ext>
            </a:extLst>
          </p:cNvPr>
          <p:cNvSpPr txBox="1"/>
          <p:nvPr/>
        </p:nvSpPr>
        <p:spPr>
          <a:xfrm>
            <a:off x="4470400" y="2438400"/>
            <a:ext cx="635000" cy="457200"/>
          </a:xfrm>
          <a:prstGeom prst="rect">
            <a:avLst/>
          </a:prstGeom>
          <a:noFill/>
        </p:spPr>
        <p:txBody>
          <a:bodyPr vertOverflow="overflow" vert="horz" wrap="square" rtlCol="0" anchor="t">
            <a:spAutoFit/>
          </a:bodyPr>
          <a:lstStyle/>
          <a:p>
            <a:r>
              <a:rPr lang="en-US" sz="2400" b="1" i="1" dirty="0">
                <a:solidFill>
                  <a:srgbClr val="E07856"/>
                </a:solidFill>
                <a:latin typeface="Playfair Display"/>
              </a:rPr>
              <a:t>02</a:t>
            </a:r>
          </a:p>
        </p:txBody>
      </p:sp>
      <p:sp>
        <p:nvSpPr>
          <p:cNvPr id="22" name="TextBox 21">
            <a:extLst>
              <a:ext uri="{FF2B5EF4-FFF2-40B4-BE49-F238E27FC236}">
                <a16:creationId xmlns:a16="http://schemas.microsoft.com/office/drawing/2014/main" id="{B4331703-F457-AA4F-89EF-A372C1D99E64}"/>
              </a:ext>
            </a:extLst>
          </p:cNvPr>
          <p:cNvSpPr txBox="1"/>
          <p:nvPr/>
        </p:nvSpPr>
        <p:spPr>
          <a:xfrm>
            <a:off x="5105400" y="2514600"/>
            <a:ext cx="2540000" cy="292388"/>
          </a:xfrm>
          <a:prstGeom prst="rect">
            <a:avLst/>
          </a:prstGeom>
          <a:noFill/>
        </p:spPr>
        <p:txBody>
          <a:bodyPr vertOverflow="overflow" vert="horz" wrap="square" rtlCol="0" anchor="t">
            <a:spAutoFit/>
          </a:bodyPr>
          <a:lstStyle/>
          <a:p>
            <a:r>
              <a:rPr lang="en-US" sz="1300" b="1" spc="200" dirty="0">
                <a:solidFill>
                  <a:srgbClr val="0E4D4D"/>
                </a:solidFill>
                <a:latin typeface="Big Caslon Medium"/>
              </a:rPr>
              <a:t>NN MODEL 2</a:t>
            </a:r>
          </a:p>
        </p:txBody>
      </p:sp>
      <p:sp>
        <p:nvSpPr>
          <p:cNvPr id="23" name="TextBox 22">
            <a:extLst>
              <a:ext uri="{FF2B5EF4-FFF2-40B4-BE49-F238E27FC236}">
                <a16:creationId xmlns:a16="http://schemas.microsoft.com/office/drawing/2014/main" id="{17D5CDF0-56EE-CB4E-83AA-EFBF8EF28C86}"/>
              </a:ext>
            </a:extLst>
          </p:cNvPr>
          <p:cNvSpPr txBox="1"/>
          <p:nvPr/>
        </p:nvSpPr>
        <p:spPr>
          <a:xfrm>
            <a:off x="5105400" y="2768600"/>
            <a:ext cx="2540000" cy="246221"/>
          </a:xfrm>
          <a:prstGeom prst="rect">
            <a:avLst/>
          </a:prstGeom>
          <a:noFill/>
        </p:spPr>
        <p:txBody>
          <a:bodyPr vertOverflow="overflow" vert="horz" wrap="square" rtlCol="0" anchor="t">
            <a:spAutoFit/>
          </a:bodyPr>
          <a:lstStyle/>
          <a:p>
            <a:r>
              <a:rPr lang="en-US" sz="1000" i="1" dirty="0">
                <a:solidFill>
                  <a:srgbClr val="0E4D4D"/>
                </a:solidFill>
                <a:latin typeface="Big Caslon Medium"/>
              </a:rPr>
              <a:t>Regularized, early stopping</a:t>
            </a:r>
          </a:p>
        </p:txBody>
      </p:sp>
      <p:sp>
        <p:nvSpPr>
          <p:cNvPr id="24" name="Rectangle 23">
            <a:extLst>
              <a:ext uri="{FF2B5EF4-FFF2-40B4-BE49-F238E27FC236}">
                <a16:creationId xmlns:a16="http://schemas.microsoft.com/office/drawing/2014/main" id="{57E2696C-D1BC-2343-B1BA-43CB7847A32E}"/>
              </a:ext>
            </a:extLst>
          </p:cNvPr>
          <p:cNvSpPr/>
          <p:nvPr/>
        </p:nvSpPr>
        <p:spPr>
          <a:xfrm>
            <a:off x="4470400" y="3124200"/>
            <a:ext cx="35306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61471BF3-905F-C14D-9A03-AF4D4DE53AB0}"/>
              </a:ext>
            </a:extLst>
          </p:cNvPr>
          <p:cNvSpPr txBox="1"/>
          <p:nvPr/>
        </p:nvSpPr>
        <p:spPr>
          <a:xfrm>
            <a:off x="8331200" y="2438400"/>
            <a:ext cx="635000" cy="457200"/>
          </a:xfrm>
          <a:prstGeom prst="rect">
            <a:avLst/>
          </a:prstGeom>
          <a:noFill/>
        </p:spPr>
        <p:txBody>
          <a:bodyPr vertOverflow="overflow" vert="horz" wrap="square" rtlCol="0" anchor="t">
            <a:spAutoFit/>
          </a:bodyPr>
          <a:lstStyle/>
          <a:p>
            <a:r>
              <a:rPr lang="en-US" sz="2400" b="1" i="1" dirty="0">
                <a:solidFill>
                  <a:srgbClr val="F7F1E8"/>
                </a:solidFill>
                <a:latin typeface="Playfair Display"/>
              </a:rPr>
              <a:t>03</a:t>
            </a:r>
          </a:p>
        </p:txBody>
      </p:sp>
      <p:sp>
        <p:nvSpPr>
          <p:cNvPr id="27" name="TextBox 26">
            <a:extLst>
              <a:ext uri="{FF2B5EF4-FFF2-40B4-BE49-F238E27FC236}">
                <a16:creationId xmlns:a16="http://schemas.microsoft.com/office/drawing/2014/main" id="{4ECBBC8B-E090-D540-A739-EE3A8B150198}"/>
              </a:ext>
            </a:extLst>
          </p:cNvPr>
          <p:cNvSpPr txBox="1"/>
          <p:nvPr/>
        </p:nvSpPr>
        <p:spPr>
          <a:xfrm>
            <a:off x="8966200" y="2514600"/>
            <a:ext cx="2540000" cy="292388"/>
          </a:xfrm>
          <a:prstGeom prst="rect">
            <a:avLst/>
          </a:prstGeom>
          <a:noFill/>
        </p:spPr>
        <p:txBody>
          <a:bodyPr vertOverflow="overflow" vert="horz" wrap="square" rtlCol="0" anchor="t">
            <a:spAutoFit/>
          </a:bodyPr>
          <a:lstStyle/>
          <a:p>
            <a:r>
              <a:rPr lang="en-US" sz="1300" b="1" spc="200">
                <a:solidFill>
                  <a:srgbClr val="F7F1E8"/>
                </a:solidFill>
                <a:latin typeface="Big Caslon Medium"/>
              </a:rPr>
              <a:t>XGBOOST MODEL</a:t>
            </a:r>
            <a:endParaRPr lang="en-US" sz="1300" b="1" spc="200" dirty="0">
              <a:solidFill>
                <a:srgbClr val="F7F1E8"/>
              </a:solidFill>
              <a:latin typeface="Big Caslon Medium"/>
            </a:endParaRPr>
          </a:p>
        </p:txBody>
      </p:sp>
      <p:sp>
        <p:nvSpPr>
          <p:cNvPr id="28" name="TextBox 27">
            <a:extLst>
              <a:ext uri="{FF2B5EF4-FFF2-40B4-BE49-F238E27FC236}">
                <a16:creationId xmlns:a16="http://schemas.microsoft.com/office/drawing/2014/main" id="{2042E75E-329E-EF4E-9EBC-83DBAD8BC0D8}"/>
              </a:ext>
            </a:extLst>
          </p:cNvPr>
          <p:cNvSpPr txBox="1"/>
          <p:nvPr/>
        </p:nvSpPr>
        <p:spPr>
          <a:xfrm>
            <a:off x="8966200" y="2768600"/>
            <a:ext cx="2540000" cy="246221"/>
          </a:xfrm>
          <a:prstGeom prst="rect">
            <a:avLst/>
          </a:prstGeom>
          <a:noFill/>
        </p:spPr>
        <p:txBody>
          <a:bodyPr vertOverflow="overflow" vert="horz" wrap="square" rtlCol="0" anchor="t">
            <a:spAutoFit/>
          </a:bodyPr>
          <a:lstStyle/>
          <a:p>
            <a:r>
              <a:rPr lang="en-US" sz="1000" i="1" dirty="0">
                <a:solidFill>
                  <a:srgbClr val="F7F1E8"/>
                </a:solidFill>
                <a:latin typeface="Big Caslon Medium"/>
              </a:rPr>
              <a:t>eXtreme Gradient Boosting Regressor </a:t>
            </a:r>
          </a:p>
        </p:txBody>
      </p:sp>
      <p:sp>
        <p:nvSpPr>
          <p:cNvPr id="29" name="Rectangle 28">
            <a:extLst>
              <a:ext uri="{FF2B5EF4-FFF2-40B4-BE49-F238E27FC236}">
                <a16:creationId xmlns:a16="http://schemas.microsoft.com/office/drawing/2014/main" id="{D622438A-28E2-0E4D-9AFD-CFC022B529D3}"/>
              </a:ext>
            </a:extLst>
          </p:cNvPr>
          <p:cNvSpPr/>
          <p:nvPr/>
        </p:nvSpPr>
        <p:spPr>
          <a:xfrm>
            <a:off x="8331200" y="3124200"/>
            <a:ext cx="3530600" cy="127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30" name="Picture 29">
            <a:extLst>
              <a:ext uri="{FF2B5EF4-FFF2-40B4-BE49-F238E27FC236}">
                <a16:creationId xmlns:a16="http://schemas.microsoft.com/office/drawing/2014/main" id="{87857584-77A5-77B5-E27E-CEC7D2165BEA}"/>
              </a:ext>
            </a:extLst>
          </p:cNvPr>
          <p:cNvPicPr>
            <a:picLocks noChangeAspect="1"/>
          </p:cNvPicPr>
          <p:nvPr/>
        </p:nvPicPr>
        <p:blipFill>
          <a:blip r:embed="rId4"/>
          <a:stretch>
            <a:fillRect/>
          </a:stretch>
        </p:blipFill>
        <p:spPr>
          <a:xfrm>
            <a:off x="330200" y="3276600"/>
            <a:ext cx="1143000" cy="2794000"/>
          </a:xfrm>
          <a:prstGeom prst="rect">
            <a:avLst/>
          </a:prstGeom>
        </p:spPr>
      </p:pic>
      <p:pic>
        <p:nvPicPr>
          <p:cNvPr id="31" name="Picture 30">
            <a:extLst>
              <a:ext uri="{FF2B5EF4-FFF2-40B4-BE49-F238E27FC236}">
                <a16:creationId xmlns:a16="http://schemas.microsoft.com/office/drawing/2014/main" id="{AB52E7A0-02DD-000F-2691-E68C475D9827}"/>
              </a:ext>
            </a:extLst>
          </p:cNvPr>
          <p:cNvPicPr>
            <a:picLocks noChangeAspect="1"/>
          </p:cNvPicPr>
          <p:nvPr/>
        </p:nvPicPr>
        <p:blipFill>
          <a:blip r:embed="rId5"/>
          <a:stretch>
            <a:fillRect/>
          </a:stretch>
        </p:blipFill>
        <p:spPr>
          <a:xfrm>
            <a:off x="4343400" y="3276600"/>
            <a:ext cx="635000" cy="2794000"/>
          </a:xfrm>
          <a:prstGeom prst="rect">
            <a:avLst/>
          </a:prstGeom>
        </p:spPr>
      </p:pic>
      <p:sp>
        <p:nvSpPr>
          <p:cNvPr id="32" name="TextBox 31">
            <a:extLst>
              <a:ext uri="{FF2B5EF4-FFF2-40B4-BE49-F238E27FC236}">
                <a16:creationId xmlns:a16="http://schemas.microsoft.com/office/drawing/2014/main" id="{455BB280-BDB0-0943-85C8-25DBD940F4DD}"/>
              </a:ext>
            </a:extLst>
          </p:cNvPr>
          <p:cNvSpPr txBox="1"/>
          <p:nvPr/>
        </p:nvSpPr>
        <p:spPr>
          <a:xfrm>
            <a:off x="1574800" y="3276600"/>
            <a:ext cx="23876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ARCHITECTURE</a:t>
            </a:r>
          </a:p>
        </p:txBody>
      </p:sp>
      <p:sp>
        <p:nvSpPr>
          <p:cNvPr id="33" name="TextBox 32">
            <a:extLst>
              <a:ext uri="{FF2B5EF4-FFF2-40B4-BE49-F238E27FC236}">
                <a16:creationId xmlns:a16="http://schemas.microsoft.com/office/drawing/2014/main" id="{AACDF261-DAAA-EB49-9052-A72C6150E050}"/>
              </a:ext>
            </a:extLst>
          </p:cNvPr>
          <p:cNvSpPr txBox="1"/>
          <p:nvPr/>
        </p:nvSpPr>
        <p:spPr>
          <a:xfrm>
            <a:off x="1574800" y="3479800"/>
            <a:ext cx="2387600" cy="369075"/>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Sequential: Input(23) → Normalization → Dense 128 ReLU → Dense 64 ReLU → Dense 32 ReLU → Dense 1.</a:t>
            </a:r>
          </a:p>
        </p:txBody>
      </p:sp>
      <p:sp>
        <p:nvSpPr>
          <p:cNvPr id="34" name="TextBox 33">
            <a:extLst>
              <a:ext uri="{FF2B5EF4-FFF2-40B4-BE49-F238E27FC236}">
                <a16:creationId xmlns:a16="http://schemas.microsoft.com/office/drawing/2014/main" id="{0390CCE5-7FD3-C443-AC07-3E9BF1BECFB5}"/>
              </a:ext>
            </a:extLst>
          </p:cNvPr>
          <p:cNvSpPr txBox="1"/>
          <p:nvPr/>
        </p:nvSpPr>
        <p:spPr>
          <a:xfrm>
            <a:off x="1574800" y="4038600"/>
            <a:ext cx="23876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COMPILE</a:t>
            </a:r>
          </a:p>
        </p:txBody>
      </p:sp>
      <p:sp>
        <p:nvSpPr>
          <p:cNvPr id="35" name="TextBox 34">
            <a:extLst>
              <a:ext uri="{FF2B5EF4-FFF2-40B4-BE49-F238E27FC236}">
                <a16:creationId xmlns:a16="http://schemas.microsoft.com/office/drawing/2014/main" id="{F40B9EDF-7E75-D743-B6F3-B86D8B9E3DB8}"/>
              </a:ext>
            </a:extLst>
          </p:cNvPr>
          <p:cNvSpPr txBox="1"/>
          <p:nvPr/>
        </p:nvSpPr>
        <p:spPr>
          <a:xfrm>
            <a:off x="1574800" y="4241800"/>
            <a:ext cx="2387600" cy="369075"/>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Optimizer Adam, loss MSE, metrics MAE and MSE.</a:t>
            </a:r>
          </a:p>
        </p:txBody>
      </p:sp>
      <p:sp>
        <p:nvSpPr>
          <p:cNvPr id="36" name="TextBox 35">
            <a:extLst>
              <a:ext uri="{FF2B5EF4-FFF2-40B4-BE49-F238E27FC236}">
                <a16:creationId xmlns:a16="http://schemas.microsoft.com/office/drawing/2014/main" id="{010C5322-4305-2F45-AA3E-1B0EC2492496}"/>
              </a:ext>
            </a:extLst>
          </p:cNvPr>
          <p:cNvSpPr txBox="1"/>
          <p:nvPr/>
        </p:nvSpPr>
        <p:spPr>
          <a:xfrm>
            <a:off x="1574800" y="4800600"/>
            <a:ext cx="23876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TRAINING</a:t>
            </a:r>
          </a:p>
        </p:txBody>
      </p:sp>
      <p:sp>
        <p:nvSpPr>
          <p:cNvPr id="37" name="TextBox 36">
            <a:extLst>
              <a:ext uri="{FF2B5EF4-FFF2-40B4-BE49-F238E27FC236}">
                <a16:creationId xmlns:a16="http://schemas.microsoft.com/office/drawing/2014/main" id="{2D0631DD-0F7F-3F49-BD53-A26A1BFBDF3F}"/>
              </a:ext>
            </a:extLst>
          </p:cNvPr>
          <p:cNvSpPr txBox="1"/>
          <p:nvPr/>
        </p:nvSpPr>
        <p:spPr>
          <a:xfrm>
            <a:off x="1574800" y="5003800"/>
            <a:ext cx="2387600" cy="369075"/>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100 epochs, batch size 32, validation_split 0.2. No callbacks, fixed epoch budget.</a:t>
            </a:r>
          </a:p>
        </p:txBody>
      </p:sp>
      <p:sp>
        <p:nvSpPr>
          <p:cNvPr id="39" name="TextBox 38">
            <a:extLst>
              <a:ext uri="{FF2B5EF4-FFF2-40B4-BE49-F238E27FC236}">
                <a16:creationId xmlns:a16="http://schemas.microsoft.com/office/drawing/2014/main" id="{B637824F-B9B6-C847-A4D8-31E8C5FF8295}"/>
              </a:ext>
            </a:extLst>
          </p:cNvPr>
          <p:cNvSpPr txBox="1"/>
          <p:nvPr/>
        </p:nvSpPr>
        <p:spPr>
          <a:xfrm>
            <a:off x="5080000" y="3276600"/>
            <a:ext cx="28448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ARCHITECTURE</a:t>
            </a:r>
          </a:p>
        </p:txBody>
      </p:sp>
      <p:sp>
        <p:nvSpPr>
          <p:cNvPr id="40" name="TextBox 39">
            <a:extLst>
              <a:ext uri="{FF2B5EF4-FFF2-40B4-BE49-F238E27FC236}">
                <a16:creationId xmlns:a16="http://schemas.microsoft.com/office/drawing/2014/main" id="{C28DD176-D877-644C-8924-F9071EE713A4}"/>
              </a:ext>
            </a:extLst>
          </p:cNvPr>
          <p:cNvSpPr txBox="1"/>
          <p:nvPr/>
        </p:nvSpPr>
        <p:spPr>
          <a:xfrm>
            <a:off x="5080000" y="3479800"/>
            <a:ext cx="2844800" cy="369075"/>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Input(23) → Normalization → four hidden blocks of Dense(ReLU, L2=0.0004) + BatchNormalization + Dropout, with widths 256, 128, 64, 32 and dropout rates 0.3, 0.2, 0.1, 0.1 → Dense 1.</a:t>
            </a:r>
          </a:p>
        </p:txBody>
      </p:sp>
      <p:sp>
        <p:nvSpPr>
          <p:cNvPr id="41" name="TextBox 40">
            <a:extLst>
              <a:ext uri="{FF2B5EF4-FFF2-40B4-BE49-F238E27FC236}">
                <a16:creationId xmlns:a16="http://schemas.microsoft.com/office/drawing/2014/main" id="{CF3A6ABC-F281-3043-BA77-2F73FA5915C9}"/>
              </a:ext>
            </a:extLst>
          </p:cNvPr>
          <p:cNvSpPr txBox="1"/>
          <p:nvPr/>
        </p:nvSpPr>
        <p:spPr>
          <a:xfrm>
            <a:off x="5080000" y="4216400"/>
            <a:ext cx="28448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COMPILE</a:t>
            </a:r>
          </a:p>
        </p:txBody>
      </p:sp>
      <p:sp>
        <p:nvSpPr>
          <p:cNvPr id="42" name="TextBox 41">
            <a:extLst>
              <a:ext uri="{FF2B5EF4-FFF2-40B4-BE49-F238E27FC236}">
                <a16:creationId xmlns:a16="http://schemas.microsoft.com/office/drawing/2014/main" id="{E7A6D186-3492-8E4F-9809-227BBF24CC34}"/>
              </a:ext>
            </a:extLst>
          </p:cNvPr>
          <p:cNvSpPr txBox="1"/>
          <p:nvPr/>
        </p:nvSpPr>
        <p:spPr>
          <a:xfrm>
            <a:off x="5080000" y="4419600"/>
            <a:ext cx="2844800" cy="369075"/>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Optimizer Adam, learning_rate 0.001. Loss MSE, metrics MAE and MSE.</a:t>
            </a:r>
          </a:p>
        </p:txBody>
      </p:sp>
      <p:sp>
        <p:nvSpPr>
          <p:cNvPr id="43" name="TextBox 42">
            <a:extLst>
              <a:ext uri="{FF2B5EF4-FFF2-40B4-BE49-F238E27FC236}">
                <a16:creationId xmlns:a16="http://schemas.microsoft.com/office/drawing/2014/main" id="{6254A3F0-0913-9F43-8215-2FB489D5330A}"/>
              </a:ext>
            </a:extLst>
          </p:cNvPr>
          <p:cNvSpPr txBox="1"/>
          <p:nvPr/>
        </p:nvSpPr>
        <p:spPr>
          <a:xfrm>
            <a:off x="5080000" y="5156200"/>
            <a:ext cx="28448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TRAINING</a:t>
            </a:r>
          </a:p>
        </p:txBody>
      </p:sp>
      <p:sp>
        <p:nvSpPr>
          <p:cNvPr id="44" name="TextBox 43">
            <a:extLst>
              <a:ext uri="{FF2B5EF4-FFF2-40B4-BE49-F238E27FC236}">
                <a16:creationId xmlns:a16="http://schemas.microsoft.com/office/drawing/2014/main" id="{4208CD02-98E8-3F41-800E-D9FDCB894A57}"/>
              </a:ext>
            </a:extLst>
          </p:cNvPr>
          <p:cNvSpPr txBox="1"/>
          <p:nvPr/>
        </p:nvSpPr>
        <p:spPr>
          <a:xfrm>
            <a:off x="5080000" y="5359400"/>
            <a:ext cx="2844800" cy="369075"/>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Up to 300 epochs, batch size 32, validation_split 0.2. EarlyStopping on val_loss, patience 20, restore_best_weights True.</a:t>
            </a:r>
          </a:p>
        </p:txBody>
      </p:sp>
      <p:sp>
        <p:nvSpPr>
          <p:cNvPr id="46" name="TextBox 45">
            <a:extLst>
              <a:ext uri="{FF2B5EF4-FFF2-40B4-BE49-F238E27FC236}">
                <a16:creationId xmlns:a16="http://schemas.microsoft.com/office/drawing/2014/main" id="{6137BB5F-0D28-E745-97CD-F40BC981405B}"/>
              </a:ext>
            </a:extLst>
          </p:cNvPr>
          <p:cNvSpPr txBox="1"/>
          <p:nvPr/>
        </p:nvSpPr>
        <p:spPr>
          <a:xfrm>
            <a:off x="8331200" y="3276600"/>
            <a:ext cx="3556000" cy="230832"/>
          </a:xfrm>
          <a:prstGeom prst="rect">
            <a:avLst/>
          </a:prstGeom>
          <a:noFill/>
        </p:spPr>
        <p:txBody>
          <a:bodyPr vertOverflow="overflow" vert="horz" wrap="square" rtlCol="0" anchor="t">
            <a:spAutoFit/>
          </a:bodyPr>
          <a:lstStyle/>
          <a:p>
            <a:r>
              <a:rPr lang="en-US" sz="900" b="1" spc="200" dirty="0">
                <a:solidFill>
                  <a:srgbClr val="F7F1E8"/>
                </a:solidFill>
                <a:latin typeface="Big Caslon Medium"/>
              </a:rPr>
              <a:t>APPROACH</a:t>
            </a:r>
          </a:p>
        </p:txBody>
      </p:sp>
      <p:sp>
        <p:nvSpPr>
          <p:cNvPr id="47" name="TextBox 46">
            <a:extLst>
              <a:ext uri="{FF2B5EF4-FFF2-40B4-BE49-F238E27FC236}">
                <a16:creationId xmlns:a16="http://schemas.microsoft.com/office/drawing/2014/main" id="{576D813D-C103-2B47-A73B-D2BAC42B46B3}"/>
              </a:ext>
            </a:extLst>
          </p:cNvPr>
          <p:cNvSpPr txBox="1"/>
          <p:nvPr/>
        </p:nvSpPr>
        <p:spPr>
          <a:xfrm>
            <a:off x="8331200" y="3479800"/>
            <a:ext cx="3556000" cy="369075"/>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XGBRegressor(random_state=1) trained on the same 23 features. Tuned hyperparameters via GridSearchCV; best estimator refit on the full training set.</a:t>
            </a:r>
          </a:p>
        </p:txBody>
      </p:sp>
      <p:sp>
        <p:nvSpPr>
          <p:cNvPr id="48" name="TextBox 47">
            <a:extLst>
              <a:ext uri="{FF2B5EF4-FFF2-40B4-BE49-F238E27FC236}">
                <a16:creationId xmlns:a16="http://schemas.microsoft.com/office/drawing/2014/main" id="{27726D2C-A70A-B04F-BF93-C8E6E9BDE693}"/>
              </a:ext>
            </a:extLst>
          </p:cNvPr>
          <p:cNvSpPr txBox="1"/>
          <p:nvPr/>
        </p:nvSpPr>
        <p:spPr>
          <a:xfrm>
            <a:off x="8331200" y="4292600"/>
            <a:ext cx="3556000" cy="230832"/>
          </a:xfrm>
          <a:prstGeom prst="rect">
            <a:avLst/>
          </a:prstGeom>
          <a:noFill/>
        </p:spPr>
        <p:txBody>
          <a:bodyPr vertOverflow="overflow" vert="horz" wrap="square" rtlCol="0" anchor="t">
            <a:spAutoFit/>
          </a:bodyPr>
          <a:lstStyle/>
          <a:p>
            <a:r>
              <a:rPr lang="en-US" sz="900" b="1" spc="200" dirty="0">
                <a:solidFill>
                  <a:srgbClr val="F7F1E8"/>
                </a:solidFill>
                <a:latin typeface="Big Caslon Medium"/>
              </a:rPr>
              <a:t>SEARCH SPACE</a:t>
            </a:r>
          </a:p>
        </p:txBody>
      </p:sp>
      <p:sp>
        <p:nvSpPr>
          <p:cNvPr id="49" name="TextBox 48">
            <a:extLst>
              <a:ext uri="{FF2B5EF4-FFF2-40B4-BE49-F238E27FC236}">
                <a16:creationId xmlns:a16="http://schemas.microsoft.com/office/drawing/2014/main" id="{4F9CD492-B43D-0944-9129-DFE54CE3A5DD}"/>
              </a:ext>
            </a:extLst>
          </p:cNvPr>
          <p:cNvSpPr txBox="1"/>
          <p:nvPr/>
        </p:nvSpPr>
        <p:spPr>
          <a:xfrm>
            <a:off x="8331200" y="4495800"/>
            <a:ext cx="3556000" cy="510140"/>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n_estimators 100 / 300 / 500.  learning_rate 0.03 / 0.05 / 0.1.  max_depth 3 / 4 / 5.  min_child_weight 5 / 10.  subsample 0.7 / 0.9.  colsample_bytree 0.3 / 0.5 / 0.7 / 0.9.  gamma 0.1 / 0.2.</a:t>
            </a:r>
          </a:p>
        </p:txBody>
      </p:sp>
      <p:sp>
        <p:nvSpPr>
          <p:cNvPr id="50" name="TextBox 49">
            <a:extLst>
              <a:ext uri="{FF2B5EF4-FFF2-40B4-BE49-F238E27FC236}">
                <a16:creationId xmlns:a16="http://schemas.microsoft.com/office/drawing/2014/main" id="{0B950E21-CA64-164B-B8C2-3A5EC60666C7}"/>
              </a:ext>
            </a:extLst>
          </p:cNvPr>
          <p:cNvSpPr txBox="1"/>
          <p:nvPr/>
        </p:nvSpPr>
        <p:spPr>
          <a:xfrm>
            <a:off x="8331200" y="5562600"/>
            <a:ext cx="3556000" cy="230832"/>
          </a:xfrm>
          <a:prstGeom prst="rect">
            <a:avLst/>
          </a:prstGeom>
          <a:noFill/>
        </p:spPr>
        <p:txBody>
          <a:bodyPr vertOverflow="overflow" vert="horz" wrap="square" rtlCol="0" anchor="t">
            <a:spAutoFit/>
          </a:bodyPr>
          <a:lstStyle/>
          <a:p>
            <a:r>
              <a:rPr lang="en-US" sz="900" b="1" spc="200" dirty="0">
                <a:solidFill>
                  <a:srgbClr val="F7F1E8"/>
                </a:solidFill>
                <a:latin typeface="Big Caslon Medium"/>
              </a:rPr>
              <a:t>GRID SEARCH</a:t>
            </a:r>
          </a:p>
        </p:txBody>
      </p:sp>
      <p:sp>
        <p:nvSpPr>
          <p:cNvPr id="51" name="TextBox 50">
            <a:extLst>
              <a:ext uri="{FF2B5EF4-FFF2-40B4-BE49-F238E27FC236}">
                <a16:creationId xmlns:a16="http://schemas.microsoft.com/office/drawing/2014/main" id="{77039933-90A2-4A41-84FE-C386C499554F}"/>
              </a:ext>
            </a:extLst>
          </p:cNvPr>
          <p:cNvSpPr txBox="1"/>
          <p:nvPr/>
        </p:nvSpPr>
        <p:spPr>
          <a:xfrm>
            <a:off x="8331200" y="5765800"/>
            <a:ext cx="3556000" cy="369075"/>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GridSearchCV, cv=5, scoring R², n_jobs=-1. Best configuration selected by mean cross-validated R².</a:t>
            </a:r>
          </a:p>
        </p:txBody>
      </p:sp>
      <p:pic>
        <p:nvPicPr>
          <p:cNvPr id="38" name="Picture 37">
            <a:extLst>
              <a:ext uri="{FF2B5EF4-FFF2-40B4-BE49-F238E27FC236}">
                <a16:creationId xmlns:a16="http://schemas.microsoft.com/office/drawing/2014/main" id="{B04DFE6D-6BFF-52F5-C8DB-1A5FF7F51A8C}"/>
              </a:ext>
            </a:extLst>
          </p:cNvPr>
          <p:cNvPicPr>
            <a:picLocks noChangeAspect="1"/>
          </p:cNvPicPr>
          <p:nvPr/>
        </p:nvPicPr>
        <p:blipFill>
          <a:blip r:embed="rId6"/>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337251665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67" name="Rounded Rectangle 66">
            <a:extLst>
              <a:ext uri="{FF2B5EF4-FFF2-40B4-BE49-F238E27FC236}">
                <a16:creationId xmlns:a16="http://schemas.microsoft.com/office/drawing/2014/main" id="{F2ADEE00-D5D2-524B-A3F2-66C53BC2A3D0}"/>
              </a:ext>
            </a:extLst>
          </p:cNvPr>
          <p:cNvSpPr/>
          <p:nvPr/>
        </p:nvSpPr>
        <p:spPr>
          <a:xfrm>
            <a:off x="8483600" y="4597400"/>
            <a:ext cx="3505200" cy="1778000"/>
          </a:xfrm>
          <a:prstGeom prst="roundRect">
            <a:avLst/>
          </a:prstGeom>
          <a:solidFill>
            <a:srgbClr val="0E4D4D"/>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ounded Rectangle 22">
            <a:extLst>
              <a:ext uri="{FF2B5EF4-FFF2-40B4-BE49-F238E27FC236}">
                <a16:creationId xmlns:a16="http://schemas.microsoft.com/office/drawing/2014/main" id="{FE0AFBDD-C035-C844-AE89-E3890B5B05D8}"/>
              </a:ext>
            </a:extLst>
          </p:cNvPr>
          <p:cNvSpPr/>
          <p:nvPr/>
        </p:nvSpPr>
        <p:spPr>
          <a:xfrm>
            <a:off x="203200" y="4597400"/>
            <a:ext cx="8128000" cy="1778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ounded Rectangle 17">
            <a:extLst>
              <a:ext uri="{FF2B5EF4-FFF2-40B4-BE49-F238E27FC236}">
                <a16:creationId xmlns:a16="http://schemas.microsoft.com/office/drawing/2014/main" id="{5E826D1F-F4A5-014A-AEF5-0550E7C377A9}"/>
              </a:ext>
            </a:extLst>
          </p:cNvPr>
          <p:cNvSpPr/>
          <p:nvPr/>
        </p:nvSpPr>
        <p:spPr>
          <a:xfrm>
            <a:off x="6146800" y="2286000"/>
            <a:ext cx="5842000" cy="2159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ounded Rectangle 12">
            <a:extLst>
              <a:ext uri="{FF2B5EF4-FFF2-40B4-BE49-F238E27FC236}">
                <a16:creationId xmlns:a16="http://schemas.microsoft.com/office/drawing/2014/main" id="{AF5E8F31-0FF1-914C-A269-C2CECBA559FA}"/>
              </a:ext>
            </a:extLst>
          </p:cNvPr>
          <p:cNvSpPr/>
          <p:nvPr/>
        </p:nvSpPr>
        <p:spPr>
          <a:xfrm>
            <a:off x="203200" y="2286000"/>
            <a:ext cx="5842000" cy="2159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5C9730B8-3749-074A-9FDB-1A141AD94BD8}"/>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942ED475-A8FE-6849-B50A-D579F0E4D0BB}"/>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0F01DC85-BD0F-0F41-9A21-A57E7B82784B}"/>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D2DBB174-EBA2-DE4F-86BD-3A586FC6F94A}"/>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38F226C1-E6F6-2046-80CE-03FB1A00A873}"/>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662839E9-DBE4-ED4B-A246-9D5A2EBF3848}"/>
              </a:ext>
            </a:extLst>
          </p:cNvPr>
          <p:cNvSpPr txBox="1"/>
          <p:nvPr/>
        </p:nvSpPr>
        <p:spPr>
          <a:xfrm>
            <a:off x="1651000" y="355600"/>
            <a:ext cx="7112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686D1BB7-0FAB-374C-B43E-5D55BD7BBB94}"/>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6DD8214B-E00A-C24F-B4E8-9E1F4E220D6A}"/>
              </a:ext>
            </a:extLst>
          </p:cNvPr>
          <p:cNvSpPr txBox="1"/>
          <p:nvPr/>
        </p:nvSpPr>
        <p:spPr>
          <a:xfrm>
            <a:off x="711200" y="1270000"/>
            <a:ext cx="7620000" cy="246221"/>
          </a:xfrm>
          <a:prstGeom prst="rect">
            <a:avLst/>
          </a:prstGeom>
          <a:noFill/>
        </p:spPr>
        <p:txBody>
          <a:bodyPr vertOverflow="overflow" vert="horz" wrap="square" rtlCol="0" anchor="t">
            <a:spAutoFit/>
          </a:bodyPr>
          <a:lstStyle/>
          <a:p>
            <a:r>
              <a:rPr lang="en-US" sz="1000" b="1" spc="200" dirty="0">
                <a:solidFill>
                  <a:srgbClr val="E07856"/>
                </a:solidFill>
                <a:latin typeface="Big Caslon Medium"/>
              </a:rPr>
              <a:t>MODELS   ·   PERFORMANCE &amp; SELECTION</a:t>
            </a:r>
          </a:p>
        </p:txBody>
      </p:sp>
      <p:sp>
        <p:nvSpPr>
          <p:cNvPr id="10" name="TextBox 9">
            <a:extLst>
              <a:ext uri="{FF2B5EF4-FFF2-40B4-BE49-F238E27FC236}">
                <a16:creationId xmlns:a16="http://schemas.microsoft.com/office/drawing/2014/main" id="{31ADC38B-9008-8440-9B91-53DDEB864457}"/>
              </a:ext>
            </a:extLst>
          </p:cNvPr>
          <p:cNvSpPr txBox="1"/>
          <p:nvPr/>
        </p:nvSpPr>
        <p:spPr>
          <a:xfrm>
            <a:off x="635000" y="1498600"/>
            <a:ext cx="10922000" cy="553998"/>
          </a:xfrm>
          <a:prstGeom prst="rect">
            <a:avLst/>
          </a:prstGeom>
          <a:noFill/>
        </p:spPr>
        <p:txBody>
          <a:bodyPr vertOverflow="overflow" vert="horz" wrap="square" rtlCol="0" anchor="t">
            <a:spAutoFit/>
          </a:bodyPr>
          <a:lstStyle/>
          <a:p>
            <a:r>
              <a:rPr lang="en-US" sz="3000" b="1" i="1" dirty="0">
                <a:solidFill>
                  <a:srgbClr val="0E4D4D"/>
                </a:solidFill>
                <a:latin typeface="Playfair Display"/>
              </a:rPr>
              <a:t>Performance, Comparison, Best Model</a:t>
            </a:r>
          </a:p>
        </p:txBody>
      </p:sp>
      <p:sp>
        <p:nvSpPr>
          <p:cNvPr id="11" name="TextBox 10">
            <a:extLst>
              <a:ext uri="{FF2B5EF4-FFF2-40B4-BE49-F238E27FC236}">
                <a16:creationId xmlns:a16="http://schemas.microsoft.com/office/drawing/2014/main" id="{74CB1CF0-B5EA-C54C-953F-7D35345B2BD0}"/>
              </a:ext>
            </a:extLst>
          </p:cNvPr>
          <p:cNvSpPr txBox="1"/>
          <p:nvPr/>
        </p:nvSpPr>
        <p:spPr>
          <a:xfrm>
            <a:off x="406400" y="6553200"/>
            <a:ext cx="6350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9C443161-F67C-7C46-8C5D-BF803722F26C}"/>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12 / 14</a:t>
            </a:r>
          </a:p>
        </p:txBody>
      </p:sp>
      <p:sp>
        <p:nvSpPr>
          <p:cNvPr id="14" name="Rectangle 13">
            <a:extLst>
              <a:ext uri="{FF2B5EF4-FFF2-40B4-BE49-F238E27FC236}">
                <a16:creationId xmlns:a16="http://schemas.microsoft.com/office/drawing/2014/main" id="{379D44A8-69C6-AA4E-8F7B-DF5CE885DFF0}"/>
              </a:ext>
            </a:extLst>
          </p:cNvPr>
          <p:cNvSpPr/>
          <p:nvPr/>
        </p:nvSpPr>
        <p:spPr>
          <a:xfrm>
            <a:off x="355600" y="2463800"/>
            <a:ext cx="38100" cy="18034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FC72AB4F-6447-1840-92C6-B776E5BD8F64}"/>
              </a:ext>
            </a:extLst>
          </p:cNvPr>
          <p:cNvSpPr txBox="1"/>
          <p:nvPr/>
        </p:nvSpPr>
        <p:spPr>
          <a:xfrm>
            <a:off x="482600" y="2438400"/>
            <a:ext cx="40640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NN MODEL 1   ·   TRAIN VS VALIDATION LOSS</a:t>
            </a:r>
          </a:p>
        </p:txBody>
      </p:sp>
      <p:sp>
        <p:nvSpPr>
          <p:cNvPr id="16" name="TextBox 15">
            <a:extLst>
              <a:ext uri="{FF2B5EF4-FFF2-40B4-BE49-F238E27FC236}">
                <a16:creationId xmlns:a16="http://schemas.microsoft.com/office/drawing/2014/main" id="{F3F72016-4052-114B-999B-5E0A32DF5FD8}"/>
              </a:ext>
            </a:extLst>
          </p:cNvPr>
          <p:cNvSpPr txBox="1"/>
          <p:nvPr/>
        </p:nvSpPr>
        <p:spPr>
          <a:xfrm>
            <a:off x="482600" y="2667000"/>
            <a:ext cx="2133600" cy="1397000"/>
          </a:xfrm>
          <a:prstGeom prst="rect">
            <a:avLst/>
          </a:prstGeom>
          <a:noFill/>
        </p:spPr>
        <p:txBody>
          <a:bodyPr vertOverflow="overflow" vert="horz" wrap="square" rtlCol="0" anchor="t">
            <a:spAutoFit/>
          </a:bodyPr>
          <a:lstStyle/>
          <a:p>
            <a:pPr>
              <a:lnSpc>
                <a:spcPts val="1100"/>
              </a:lnSpc>
            </a:pPr>
            <a:r>
              <a:rPr lang="en-US" sz="1000" dirty="0">
                <a:solidFill>
                  <a:srgbClr val="0E4D4D"/>
                </a:solidFill>
                <a:latin typeface="Big Caslon Medium"/>
              </a:rPr>
              <a:t>Train loss continues to fall while validation loss flattens then rises after epoch 20, the classic overfitting signature.  Test R² 0.5356, RMSE $89.40.</a:t>
            </a:r>
          </a:p>
        </p:txBody>
      </p:sp>
      <p:sp>
        <p:nvSpPr>
          <p:cNvPr id="17" name="TextBox 16">
            <a:extLst>
              <a:ext uri="{FF2B5EF4-FFF2-40B4-BE49-F238E27FC236}">
                <a16:creationId xmlns:a16="http://schemas.microsoft.com/office/drawing/2014/main" id="{D8485BD6-82C9-4F4C-ACD8-E20E6FF0D34F}"/>
              </a:ext>
            </a:extLst>
          </p:cNvPr>
          <p:cNvSpPr txBox="1"/>
          <p:nvPr/>
        </p:nvSpPr>
        <p:spPr>
          <a:xfrm>
            <a:off x="482600" y="4064000"/>
            <a:ext cx="2540000" cy="230832"/>
          </a:xfrm>
          <a:prstGeom prst="rect">
            <a:avLst/>
          </a:prstGeom>
          <a:noFill/>
        </p:spPr>
        <p:txBody>
          <a:bodyPr vertOverflow="overflow" vert="horz" wrap="square" rtlCol="0" anchor="t">
            <a:spAutoFit/>
          </a:bodyPr>
          <a:lstStyle/>
          <a:p>
            <a:r>
              <a:rPr lang="en-US" sz="900" i="1" dirty="0">
                <a:solidFill>
                  <a:srgbClr val="0E4D4D"/>
                </a:solidFill>
                <a:latin typeface="Big Caslon Medium"/>
              </a:rPr>
              <a:t>100 epochs, no callbacks</a:t>
            </a:r>
          </a:p>
        </p:txBody>
      </p:sp>
      <p:sp>
        <p:nvSpPr>
          <p:cNvPr id="19" name="Rectangle 18">
            <a:extLst>
              <a:ext uri="{FF2B5EF4-FFF2-40B4-BE49-F238E27FC236}">
                <a16:creationId xmlns:a16="http://schemas.microsoft.com/office/drawing/2014/main" id="{27316FD6-6534-4D4F-AC0F-D529B84F102A}"/>
              </a:ext>
            </a:extLst>
          </p:cNvPr>
          <p:cNvSpPr/>
          <p:nvPr/>
        </p:nvSpPr>
        <p:spPr>
          <a:xfrm>
            <a:off x="6299200" y="2463800"/>
            <a:ext cx="38100" cy="18034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25D1CBD6-6D71-8444-9747-ED0560757B7A}"/>
              </a:ext>
            </a:extLst>
          </p:cNvPr>
          <p:cNvSpPr txBox="1"/>
          <p:nvPr/>
        </p:nvSpPr>
        <p:spPr>
          <a:xfrm>
            <a:off x="6426200" y="2438400"/>
            <a:ext cx="4064000" cy="230832"/>
          </a:xfrm>
          <a:prstGeom prst="rect">
            <a:avLst/>
          </a:prstGeom>
          <a:noFill/>
        </p:spPr>
        <p:txBody>
          <a:bodyPr vertOverflow="overflow" vert="horz" wrap="square" rtlCol="0" anchor="t">
            <a:spAutoFit/>
          </a:bodyPr>
          <a:lstStyle/>
          <a:p>
            <a:r>
              <a:rPr lang="en-US" sz="900" b="1" spc="200" dirty="0">
                <a:solidFill>
                  <a:srgbClr val="E07856"/>
                </a:solidFill>
                <a:latin typeface="Big Caslon Medium"/>
              </a:rPr>
              <a:t>NN MODEL 2   ·   TRAIN VS VALIDATION LOSS</a:t>
            </a:r>
          </a:p>
        </p:txBody>
      </p:sp>
      <p:sp>
        <p:nvSpPr>
          <p:cNvPr id="21" name="TextBox 20">
            <a:extLst>
              <a:ext uri="{FF2B5EF4-FFF2-40B4-BE49-F238E27FC236}">
                <a16:creationId xmlns:a16="http://schemas.microsoft.com/office/drawing/2014/main" id="{05C543AC-2B46-E84C-9D00-224BBDC4A829}"/>
              </a:ext>
            </a:extLst>
          </p:cNvPr>
          <p:cNvSpPr txBox="1"/>
          <p:nvPr/>
        </p:nvSpPr>
        <p:spPr>
          <a:xfrm>
            <a:off x="6426200" y="2667000"/>
            <a:ext cx="2133600" cy="1397000"/>
          </a:xfrm>
          <a:prstGeom prst="rect">
            <a:avLst/>
          </a:prstGeom>
          <a:noFill/>
        </p:spPr>
        <p:txBody>
          <a:bodyPr vertOverflow="overflow" vert="horz" wrap="square" rtlCol="0" anchor="t">
            <a:spAutoFit/>
          </a:bodyPr>
          <a:lstStyle/>
          <a:p>
            <a:pPr>
              <a:lnSpc>
                <a:spcPts val="1100"/>
              </a:lnSpc>
            </a:pPr>
            <a:r>
              <a:rPr lang="en-US" sz="1000" dirty="0">
                <a:solidFill>
                  <a:srgbClr val="0E4D4D"/>
                </a:solidFill>
                <a:latin typeface="Big Caslon Medium"/>
              </a:rPr>
              <a:t>Train and validation losses descend in parallel and converge near epoch 30. EarlyStopping triggered at epoch 60. Test R² 0.5617, RMSE $86.85.</a:t>
            </a:r>
          </a:p>
        </p:txBody>
      </p:sp>
      <p:sp>
        <p:nvSpPr>
          <p:cNvPr id="22" name="TextBox 21">
            <a:extLst>
              <a:ext uri="{FF2B5EF4-FFF2-40B4-BE49-F238E27FC236}">
                <a16:creationId xmlns:a16="http://schemas.microsoft.com/office/drawing/2014/main" id="{B7C87961-6860-DF4E-9CDA-383BA373F13F}"/>
              </a:ext>
            </a:extLst>
          </p:cNvPr>
          <p:cNvSpPr txBox="1"/>
          <p:nvPr/>
        </p:nvSpPr>
        <p:spPr>
          <a:xfrm>
            <a:off x="6426200" y="4064000"/>
            <a:ext cx="3048000" cy="369332"/>
          </a:xfrm>
          <a:prstGeom prst="rect">
            <a:avLst/>
          </a:prstGeom>
          <a:noFill/>
        </p:spPr>
        <p:txBody>
          <a:bodyPr vertOverflow="overflow" vert="horz" wrap="square" rtlCol="0" anchor="t">
            <a:spAutoFit/>
          </a:bodyPr>
          <a:lstStyle/>
          <a:p>
            <a:r>
              <a:rPr lang="en-US" sz="900" i="1" dirty="0">
                <a:solidFill>
                  <a:srgbClr val="0E4D4D"/>
                </a:solidFill>
                <a:latin typeface="Big Caslon Medium"/>
              </a:rPr>
              <a:t>L2 regularization, BatchNormalization, Dropout, Early Stopping</a:t>
            </a:r>
          </a:p>
        </p:txBody>
      </p:sp>
      <p:sp>
        <p:nvSpPr>
          <p:cNvPr id="24" name="Rectangle 23">
            <a:extLst>
              <a:ext uri="{FF2B5EF4-FFF2-40B4-BE49-F238E27FC236}">
                <a16:creationId xmlns:a16="http://schemas.microsoft.com/office/drawing/2014/main" id="{29AAE6AE-E5B8-D24F-94DD-51DF05DD7832}"/>
              </a:ext>
            </a:extLst>
          </p:cNvPr>
          <p:cNvSpPr/>
          <p:nvPr/>
        </p:nvSpPr>
        <p:spPr>
          <a:xfrm>
            <a:off x="304800" y="4724400"/>
            <a:ext cx="6197600" cy="2159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A7A53990-41CA-6B44-A7DB-A3E511E2D1FE}"/>
              </a:ext>
            </a:extLst>
          </p:cNvPr>
          <p:cNvSpPr txBox="1"/>
          <p:nvPr/>
        </p:nvSpPr>
        <p:spPr>
          <a:xfrm>
            <a:off x="355600" y="4737100"/>
            <a:ext cx="1778000" cy="230832"/>
          </a:xfrm>
          <a:prstGeom prst="rect">
            <a:avLst/>
          </a:prstGeom>
          <a:noFill/>
        </p:spPr>
        <p:txBody>
          <a:bodyPr vertOverflow="overflow" vert="horz" wrap="square" rtlCol="0" anchor="t">
            <a:spAutoFit/>
          </a:bodyPr>
          <a:lstStyle/>
          <a:p>
            <a:r>
              <a:rPr lang="en-US" sz="900" b="1" dirty="0">
                <a:solidFill>
                  <a:srgbClr val="F7F1E8"/>
                </a:solidFill>
                <a:latin typeface="Big Caslon Medium"/>
              </a:rPr>
              <a:t>MODEL</a:t>
            </a:r>
          </a:p>
        </p:txBody>
      </p:sp>
      <p:sp>
        <p:nvSpPr>
          <p:cNvPr id="26" name="TextBox 25">
            <a:extLst>
              <a:ext uri="{FF2B5EF4-FFF2-40B4-BE49-F238E27FC236}">
                <a16:creationId xmlns:a16="http://schemas.microsoft.com/office/drawing/2014/main" id="{AC54F056-52B0-1C4A-A975-F84FF0D7B8C6}"/>
              </a:ext>
            </a:extLst>
          </p:cNvPr>
          <p:cNvSpPr txBox="1"/>
          <p:nvPr/>
        </p:nvSpPr>
        <p:spPr>
          <a:xfrm>
            <a:off x="2235200" y="4737100"/>
            <a:ext cx="787400" cy="230832"/>
          </a:xfrm>
          <a:prstGeom prst="rect">
            <a:avLst/>
          </a:prstGeom>
          <a:noFill/>
        </p:spPr>
        <p:txBody>
          <a:bodyPr vertOverflow="overflow" vert="horz" wrap="square" rtlCol="0" anchor="t">
            <a:spAutoFit/>
          </a:bodyPr>
          <a:lstStyle/>
          <a:p>
            <a:r>
              <a:rPr lang="en-US" sz="900" b="1" dirty="0">
                <a:solidFill>
                  <a:srgbClr val="F7F1E8"/>
                </a:solidFill>
                <a:latin typeface="Big Caslon Medium"/>
              </a:rPr>
              <a:t>SET</a:t>
            </a:r>
          </a:p>
        </p:txBody>
      </p:sp>
      <p:sp>
        <p:nvSpPr>
          <p:cNvPr id="27" name="TextBox 26">
            <a:extLst>
              <a:ext uri="{FF2B5EF4-FFF2-40B4-BE49-F238E27FC236}">
                <a16:creationId xmlns:a16="http://schemas.microsoft.com/office/drawing/2014/main" id="{2BD64209-8EF4-9145-9565-143065934CCD}"/>
              </a:ext>
            </a:extLst>
          </p:cNvPr>
          <p:cNvSpPr txBox="1"/>
          <p:nvPr/>
        </p:nvSpPr>
        <p:spPr>
          <a:xfrm>
            <a:off x="3124200" y="4737100"/>
            <a:ext cx="1041400" cy="230832"/>
          </a:xfrm>
          <a:prstGeom prst="rect">
            <a:avLst/>
          </a:prstGeom>
          <a:noFill/>
        </p:spPr>
        <p:txBody>
          <a:bodyPr vertOverflow="overflow" vert="horz" wrap="square" rtlCol="0" anchor="t">
            <a:spAutoFit/>
          </a:bodyPr>
          <a:lstStyle/>
          <a:p>
            <a:pPr algn="r"/>
            <a:r>
              <a:rPr lang="en-US" sz="900" b="1" dirty="0">
                <a:solidFill>
                  <a:srgbClr val="F7F1E8"/>
                </a:solidFill>
                <a:latin typeface="Big Caslon Medium"/>
              </a:rPr>
              <a:t>RMSE</a:t>
            </a:r>
          </a:p>
        </p:txBody>
      </p:sp>
      <p:sp>
        <p:nvSpPr>
          <p:cNvPr id="28" name="TextBox 27">
            <a:extLst>
              <a:ext uri="{FF2B5EF4-FFF2-40B4-BE49-F238E27FC236}">
                <a16:creationId xmlns:a16="http://schemas.microsoft.com/office/drawing/2014/main" id="{546F7AF8-17D3-C54B-B149-04E74705CA74}"/>
              </a:ext>
            </a:extLst>
          </p:cNvPr>
          <p:cNvSpPr txBox="1"/>
          <p:nvPr/>
        </p:nvSpPr>
        <p:spPr>
          <a:xfrm>
            <a:off x="4267200" y="4737100"/>
            <a:ext cx="1041400" cy="230832"/>
          </a:xfrm>
          <a:prstGeom prst="rect">
            <a:avLst/>
          </a:prstGeom>
          <a:noFill/>
        </p:spPr>
        <p:txBody>
          <a:bodyPr vertOverflow="overflow" vert="horz" wrap="square" rtlCol="0" anchor="t">
            <a:spAutoFit/>
          </a:bodyPr>
          <a:lstStyle/>
          <a:p>
            <a:pPr algn="r"/>
            <a:r>
              <a:rPr lang="en-US" sz="900" b="1" dirty="0">
                <a:solidFill>
                  <a:srgbClr val="F7F1E8"/>
                </a:solidFill>
                <a:latin typeface="Big Caslon Medium"/>
              </a:rPr>
              <a:t>R²</a:t>
            </a:r>
          </a:p>
        </p:txBody>
      </p:sp>
      <p:sp>
        <p:nvSpPr>
          <p:cNvPr id="29" name="TextBox 28">
            <a:extLst>
              <a:ext uri="{FF2B5EF4-FFF2-40B4-BE49-F238E27FC236}">
                <a16:creationId xmlns:a16="http://schemas.microsoft.com/office/drawing/2014/main" id="{D334C426-67F0-684B-825F-E765CC80FA39}"/>
              </a:ext>
            </a:extLst>
          </p:cNvPr>
          <p:cNvSpPr txBox="1"/>
          <p:nvPr/>
        </p:nvSpPr>
        <p:spPr>
          <a:xfrm>
            <a:off x="5410200" y="4737100"/>
            <a:ext cx="1041400" cy="230832"/>
          </a:xfrm>
          <a:prstGeom prst="rect">
            <a:avLst/>
          </a:prstGeom>
          <a:noFill/>
        </p:spPr>
        <p:txBody>
          <a:bodyPr vertOverflow="overflow" vert="horz" wrap="square" rtlCol="0" anchor="t">
            <a:spAutoFit/>
          </a:bodyPr>
          <a:lstStyle/>
          <a:p>
            <a:pPr algn="r"/>
            <a:r>
              <a:rPr lang="en-US" sz="900" b="1" dirty="0">
                <a:solidFill>
                  <a:srgbClr val="F7F1E8"/>
                </a:solidFill>
                <a:latin typeface="Big Caslon Medium"/>
              </a:rPr>
              <a:t>ADJ R²</a:t>
            </a:r>
          </a:p>
        </p:txBody>
      </p:sp>
      <p:sp>
        <p:nvSpPr>
          <p:cNvPr id="30" name="Rectangle 29">
            <a:extLst>
              <a:ext uri="{FF2B5EF4-FFF2-40B4-BE49-F238E27FC236}">
                <a16:creationId xmlns:a16="http://schemas.microsoft.com/office/drawing/2014/main" id="{C60E8361-A4F6-3D46-8DFC-41B998B289B7}"/>
              </a:ext>
            </a:extLst>
          </p:cNvPr>
          <p:cNvSpPr/>
          <p:nvPr/>
        </p:nvSpPr>
        <p:spPr>
          <a:xfrm>
            <a:off x="304800" y="4940300"/>
            <a:ext cx="6197600" cy="215900"/>
          </a:xfrm>
          <a:prstGeom prst="rect">
            <a:avLst/>
          </a:prstGeom>
          <a:solidFill>
            <a:srgbClr val="EFE7D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DECDB0CA-6C09-334C-B83A-1FC29ECE9EFF}"/>
              </a:ext>
            </a:extLst>
          </p:cNvPr>
          <p:cNvSpPr txBox="1"/>
          <p:nvPr/>
        </p:nvSpPr>
        <p:spPr>
          <a:xfrm>
            <a:off x="355600" y="4953000"/>
            <a:ext cx="17780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NN Model 1</a:t>
            </a:r>
          </a:p>
        </p:txBody>
      </p:sp>
      <p:sp>
        <p:nvSpPr>
          <p:cNvPr id="32" name="TextBox 31">
            <a:extLst>
              <a:ext uri="{FF2B5EF4-FFF2-40B4-BE49-F238E27FC236}">
                <a16:creationId xmlns:a16="http://schemas.microsoft.com/office/drawing/2014/main" id="{B9DC2E4F-ACFC-3C4A-941F-65474A6128FC}"/>
              </a:ext>
            </a:extLst>
          </p:cNvPr>
          <p:cNvSpPr txBox="1"/>
          <p:nvPr/>
        </p:nvSpPr>
        <p:spPr>
          <a:xfrm>
            <a:off x="2235200" y="4953000"/>
            <a:ext cx="7874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Train</a:t>
            </a:r>
          </a:p>
        </p:txBody>
      </p:sp>
      <p:sp>
        <p:nvSpPr>
          <p:cNvPr id="33" name="TextBox 32">
            <a:extLst>
              <a:ext uri="{FF2B5EF4-FFF2-40B4-BE49-F238E27FC236}">
                <a16:creationId xmlns:a16="http://schemas.microsoft.com/office/drawing/2014/main" id="{A6E3B524-8F7B-7C42-9F12-73CB32EA1BD3}"/>
              </a:ext>
            </a:extLst>
          </p:cNvPr>
          <p:cNvSpPr txBox="1"/>
          <p:nvPr/>
        </p:nvSpPr>
        <p:spPr>
          <a:xfrm>
            <a:off x="3124200" y="49530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$86.08</a:t>
            </a:r>
          </a:p>
        </p:txBody>
      </p:sp>
      <p:sp>
        <p:nvSpPr>
          <p:cNvPr id="34" name="TextBox 33">
            <a:extLst>
              <a:ext uri="{FF2B5EF4-FFF2-40B4-BE49-F238E27FC236}">
                <a16:creationId xmlns:a16="http://schemas.microsoft.com/office/drawing/2014/main" id="{54BDA446-4044-7A4F-9641-FC0866B1FE4B}"/>
              </a:ext>
            </a:extLst>
          </p:cNvPr>
          <p:cNvSpPr txBox="1"/>
          <p:nvPr/>
        </p:nvSpPr>
        <p:spPr>
          <a:xfrm>
            <a:off x="4267200" y="49530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0.5784</a:t>
            </a:r>
          </a:p>
        </p:txBody>
      </p:sp>
      <p:sp>
        <p:nvSpPr>
          <p:cNvPr id="35" name="TextBox 34">
            <a:extLst>
              <a:ext uri="{FF2B5EF4-FFF2-40B4-BE49-F238E27FC236}">
                <a16:creationId xmlns:a16="http://schemas.microsoft.com/office/drawing/2014/main" id="{BCF5F078-9DEC-6F4C-A9CE-AAE19E0C4A3B}"/>
              </a:ext>
            </a:extLst>
          </p:cNvPr>
          <p:cNvSpPr txBox="1"/>
          <p:nvPr/>
        </p:nvSpPr>
        <p:spPr>
          <a:xfrm>
            <a:off x="5410200" y="49530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0.5747</a:t>
            </a:r>
          </a:p>
        </p:txBody>
      </p:sp>
      <p:sp>
        <p:nvSpPr>
          <p:cNvPr id="36" name="TextBox 35">
            <a:extLst>
              <a:ext uri="{FF2B5EF4-FFF2-40B4-BE49-F238E27FC236}">
                <a16:creationId xmlns:a16="http://schemas.microsoft.com/office/drawing/2014/main" id="{5DEF4648-0D39-2541-9ABC-8AFA3D40FDE1}"/>
              </a:ext>
            </a:extLst>
          </p:cNvPr>
          <p:cNvSpPr txBox="1"/>
          <p:nvPr/>
        </p:nvSpPr>
        <p:spPr>
          <a:xfrm>
            <a:off x="355600" y="5168900"/>
            <a:ext cx="17780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NN Model 1</a:t>
            </a:r>
          </a:p>
        </p:txBody>
      </p:sp>
      <p:sp>
        <p:nvSpPr>
          <p:cNvPr id="37" name="TextBox 36">
            <a:extLst>
              <a:ext uri="{FF2B5EF4-FFF2-40B4-BE49-F238E27FC236}">
                <a16:creationId xmlns:a16="http://schemas.microsoft.com/office/drawing/2014/main" id="{9BE4965D-84A7-6745-A2B3-FBD22D02388A}"/>
              </a:ext>
            </a:extLst>
          </p:cNvPr>
          <p:cNvSpPr txBox="1"/>
          <p:nvPr/>
        </p:nvSpPr>
        <p:spPr>
          <a:xfrm>
            <a:off x="2235200" y="5168900"/>
            <a:ext cx="7874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Test</a:t>
            </a:r>
          </a:p>
        </p:txBody>
      </p:sp>
      <p:sp>
        <p:nvSpPr>
          <p:cNvPr id="38" name="TextBox 37">
            <a:extLst>
              <a:ext uri="{FF2B5EF4-FFF2-40B4-BE49-F238E27FC236}">
                <a16:creationId xmlns:a16="http://schemas.microsoft.com/office/drawing/2014/main" id="{45CA3C93-6C5A-2940-AB89-5AB06408011D}"/>
              </a:ext>
            </a:extLst>
          </p:cNvPr>
          <p:cNvSpPr txBox="1"/>
          <p:nvPr/>
        </p:nvSpPr>
        <p:spPr>
          <a:xfrm>
            <a:off x="3124200" y="51689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$89.40</a:t>
            </a:r>
          </a:p>
        </p:txBody>
      </p:sp>
      <p:sp>
        <p:nvSpPr>
          <p:cNvPr id="39" name="TextBox 38">
            <a:extLst>
              <a:ext uri="{FF2B5EF4-FFF2-40B4-BE49-F238E27FC236}">
                <a16:creationId xmlns:a16="http://schemas.microsoft.com/office/drawing/2014/main" id="{6D695D2A-3688-C641-93D9-DB04DB52AE8E}"/>
              </a:ext>
            </a:extLst>
          </p:cNvPr>
          <p:cNvSpPr txBox="1"/>
          <p:nvPr/>
        </p:nvSpPr>
        <p:spPr>
          <a:xfrm>
            <a:off x="4267200" y="51689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0.5356</a:t>
            </a:r>
          </a:p>
        </p:txBody>
      </p:sp>
      <p:sp>
        <p:nvSpPr>
          <p:cNvPr id="40" name="TextBox 39">
            <a:extLst>
              <a:ext uri="{FF2B5EF4-FFF2-40B4-BE49-F238E27FC236}">
                <a16:creationId xmlns:a16="http://schemas.microsoft.com/office/drawing/2014/main" id="{0F5EF8E7-B258-F34F-A3A1-1BD675FE271E}"/>
              </a:ext>
            </a:extLst>
          </p:cNvPr>
          <p:cNvSpPr txBox="1"/>
          <p:nvPr/>
        </p:nvSpPr>
        <p:spPr>
          <a:xfrm>
            <a:off x="5410200" y="51689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0.5260</a:t>
            </a:r>
          </a:p>
        </p:txBody>
      </p:sp>
      <p:sp>
        <p:nvSpPr>
          <p:cNvPr id="41" name="Rectangle 40">
            <a:extLst>
              <a:ext uri="{FF2B5EF4-FFF2-40B4-BE49-F238E27FC236}">
                <a16:creationId xmlns:a16="http://schemas.microsoft.com/office/drawing/2014/main" id="{69F28635-7820-A347-9F81-ED3DAB7B9FC7}"/>
              </a:ext>
            </a:extLst>
          </p:cNvPr>
          <p:cNvSpPr/>
          <p:nvPr/>
        </p:nvSpPr>
        <p:spPr>
          <a:xfrm>
            <a:off x="304800" y="5372100"/>
            <a:ext cx="6197600" cy="215900"/>
          </a:xfrm>
          <a:prstGeom prst="rect">
            <a:avLst/>
          </a:prstGeom>
          <a:solidFill>
            <a:srgbClr val="EFE7D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E123A62E-9CDA-2247-9695-B583D00CEABB}"/>
              </a:ext>
            </a:extLst>
          </p:cNvPr>
          <p:cNvSpPr txBox="1"/>
          <p:nvPr/>
        </p:nvSpPr>
        <p:spPr>
          <a:xfrm>
            <a:off x="355600" y="5384800"/>
            <a:ext cx="17780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NN Model 2</a:t>
            </a:r>
          </a:p>
        </p:txBody>
      </p:sp>
      <p:sp>
        <p:nvSpPr>
          <p:cNvPr id="43" name="TextBox 42">
            <a:extLst>
              <a:ext uri="{FF2B5EF4-FFF2-40B4-BE49-F238E27FC236}">
                <a16:creationId xmlns:a16="http://schemas.microsoft.com/office/drawing/2014/main" id="{6FDBB89E-C8BF-904A-B9B6-756520E4A222}"/>
              </a:ext>
            </a:extLst>
          </p:cNvPr>
          <p:cNvSpPr txBox="1"/>
          <p:nvPr/>
        </p:nvSpPr>
        <p:spPr>
          <a:xfrm>
            <a:off x="2235200" y="5384800"/>
            <a:ext cx="7874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Train</a:t>
            </a:r>
          </a:p>
        </p:txBody>
      </p:sp>
      <p:sp>
        <p:nvSpPr>
          <p:cNvPr id="44" name="TextBox 43">
            <a:extLst>
              <a:ext uri="{FF2B5EF4-FFF2-40B4-BE49-F238E27FC236}">
                <a16:creationId xmlns:a16="http://schemas.microsoft.com/office/drawing/2014/main" id="{BD1441B1-7033-9B45-8C5A-F508CB59F6E1}"/>
              </a:ext>
            </a:extLst>
          </p:cNvPr>
          <p:cNvSpPr txBox="1"/>
          <p:nvPr/>
        </p:nvSpPr>
        <p:spPr>
          <a:xfrm>
            <a:off x="3124200" y="53848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$86.79</a:t>
            </a:r>
          </a:p>
        </p:txBody>
      </p:sp>
      <p:sp>
        <p:nvSpPr>
          <p:cNvPr id="45" name="TextBox 44">
            <a:extLst>
              <a:ext uri="{FF2B5EF4-FFF2-40B4-BE49-F238E27FC236}">
                <a16:creationId xmlns:a16="http://schemas.microsoft.com/office/drawing/2014/main" id="{678C35EA-D64C-E447-867C-1FA74BD30329}"/>
              </a:ext>
            </a:extLst>
          </p:cNvPr>
          <p:cNvSpPr txBox="1"/>
          <p:nvPr/>
        </p:nvSpPr>
        <p:spPr>
          <a:xfrm>
            <a:off x="4267200" y="53848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0.5714</a:t>
            </a:r>
          </a:p>
        </p:txBody>
      </p:sp>
      <p:sp>
        <p:nvSpPr>
          <p:cNvPr id="46" name="TextBox 45">
            <a:extLst>
              <a:ext uri="{FF2B5EF4-FFF2-40B4-BE49-F238E27FC236}">
                <a16:creationId xmlns:a16="http://schemas.microsoft.com/office/drawing/2014/main" id="{75ECB161-1ECB-0149-B113-C0FC7E46B4B5}"/>
              </a:ext>
            </a:extLst>
          </p:cNvPr>
          <p:cNvSpPr txBox="1"/>
          <p:nvPr/>
        </p:nvSpPr>
        <p:spPr>
          <a:xfrm>
            <a:off x="5410200" y="53848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0.5677</a:t>
            </a:r>
          </a:p>
        </p:txBody>
      </p:sp>
      <p:sp>
        <p:nvSpPr>
          <p:cNvPr id="47" name="TextBox 46">
            <a:extLst>
              <a:ext uri="{FF2B5EF4-FFF2-40B4-BE49-F238E27FC236}">
                <a16:creationId xmlns:a16="http://schemas.microsoft.com/office/drawing/2014/main" id="{8E10756C-5FF0-404F-B108-26FAD1002E13}"/>
              </a:ext>
            </a:extLst>
          </p:cNvPr>
          <p:cNvSpPr txBox="1"/>
          <p:nvPr/>
        </p:nvSpPr>
        <p:spPr>
          <a:xfrm>
            <a:off x="355600" y="5600700"/>
            <a:ext cx="17780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NN Model 2</a:t>
            </a:r>
          </a:p>
        </p:txBody>
      </p:sp>
      <p:sp>
        <p:nvSpPr>
          <p:cNvPr id="48" name="TextBox 47">
            <a:extLst>
              <a:ext uri="{FF2B5EF4-FFF2-40B4-BE49-F238E27FC236}">
                <a16:creationId xmlns:a16="http://schemas.microsoft.com/office/drawing/2014/main" id="{72ABB049-C756-7141-8E9A-0C507399FBFF}"/>
              </a:ext>
            </a:extLst>
          </p:cNvPr>
          <p:cNvSpPr txBox="1"/>
          <p:nvPr/>
        </p:nvSpPr>
        <p:spPr>
          <a:xfrm>
            <a:off x="2235200" y="5600700"/>
            <a:ext cx="787400" cy="246221"/>
          </a:xfrm>
          <a:prstGeom prst="rect">
            <a:avLst/>
          </a:prstGeom>
          <a:noFill/>
        </p:spPr>
        <p:txBody>
          <a:bodyPr vertOverflow="overflow" vert="horz" wrap="square" rtlCol="0" anchor="t">
            <a:spAutoFit/>
          </a:bodyPr>
          <a:lstStyle/>
          <a:p>
            <a:r>
              <a:rPr lang="en-US" sz="1000" dirty="0">
                <a:solidFill>
                  <a:srgbClr val="0E4D4D"/>
                </a:solidFill>
                <a:latin typeface="Big Caslon Medium"/>
              </a:rPr>
              <a:t>Test</a:t>
            </a:r>
          </a:p>
        </p:txBody>
      </p:sp>
      <p:sp>
        <p:nvSpPr>
          <p:cNvPr id="49" name="TextBox 48">
            <a:extLst>
              <a:ext uri="{FF2B5EF4-FFF2-40B4-BE49-F238E27FC236}">
                <a16:creationId xmlns:a16="http://schemas.microsoft.com/office/drawing/2014/main" id="{EA0C9D71-EAF3-EB4F-89AA-1445A8A0A7AB}"/>
              </a:ext>
            </a:extLst>
          </p:cNvPr>
          <p:cNvSpPr txBox="1"/>
          <p:nvPr/>
        </p:nvSpPr>
        <p:spPr>
          <a:xfrm>
            <a:off x="3124200" y="56007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$86.85</a:t>
            </a:r>
          </a:p>
        </p:txBody>
      </p:sp>
      <p:sp>
        <p:nvSpPr>
          <p:cNvPr id="50" name="TextBox 49">
            <a:extLst>
              <a:ext uri="{FF2B5EF4-FFF2-40B4-BE49-F238E27FC236}">
                <a16:creationId xmlns:a16="http://schemas.microsoft.com/office/drawing/2014/main" id="{56A4D6A2-A9BC-BC49-B41E-1AA2FED411BB}"/>
              </a:ext>
            </a:extLst>
          </p:cNvPr>
          <p:cNvSpPr txBox="1"/>
          <p:nvPr/>
        </p:nvSpPr>
        <p:spPr>
          <a:xfrm>
            <a:off x="4267200" y="56007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0.5617</a:t>
            </a:r>
          </a:p>
        </p:txBody>
      </p:sp>
      <p:sp>
        <p:nvSpPr>
          <p:cNvPr id="51" name="TextBox 50">
            <a:extLst>
              <a:ext uri="{FF2B5EF4-FFF2-40B4-BE49-F238E27FC236}">
                <a16:creationId xmlns:a16="http://schemas.microsoft.com/office/drawing/2014/main" id="{4E228DD3-200D-834B-83E1-7160CC93EC27}"/>
              </a:ext>
            </a:extLst>
          </p:cNvPr>
          <p:cNvSpPr txBox="1"/>
          <p:nvPr/>
        </p:nvSpPr>
        <p:spPr>
          <a:xfrm>
            <a:off x="5410200" y="5600700"/>
            <a:ext cx="1041400" cy="246221"/>
          </a:xfrm>
          <a:prstGeom prst="rect">
            <a:avLst/>
          </a:prstGeom>
          <a:noFill/>
        </p:spPr>
        <p:txBody>
          <a:bodyPr vertOverflow="overflow" vert="horz" wrap="square" rtlCol="0" anchor="t">
            <a:spAutoFit/>
          </a:bodyPr>
          <a:lstStyle/>
          <a:p>
            <a:pPr algn="r"/>
            <a:r>
              <a:rPr lang="en-US" sz="1000" dirty="0">
                <a:solidFill>
                  <a:srgbClr val="0E4D4D"/>
                </a:solidFill>
                <a:latin typeface="Big Caslon Medium"/>
              </a:rPr>
              <a:t>0.5526</a:t>
            </a:r>
          </a:p>
        </p:txBody>
      </p:sp>
      <p:sp>
        <p:nvSpPr>
          <p:cNvPr id="52" name="Rectangle 51">
            <a:extLst>
              <a:ext uri="{FF2B5EF4-FFF2-40B4-BE49-F238E27FC236}">
                <a16:creationId xmlns:a16="http://schemas.microsoft.com/office/drawing/2014/main" id="{8DB0E976-AAB4-514B-B38D-71D58C8CF0A1}"/>
              </a:ext>
            </a:extLst>
          </p:cNvPr>
          <p:cNvSpPr/>
          <p:nvPr/>
        </p:nvSpPr>
        <p:spPr>
          <a:xfrm>
            <a:off x="304800" y="5803900"/>
            <a:ext cx="6197600" cy="215900"/>
          </a:xfrm>
          <a:prstGeom prst="rect">
            <a:avLst/>
          </a:prstGeom>
          <a:solidFill>
            <a:srgbClr val="EFE7D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457930F6-71B3-4144-93D1-540EBDBCC1D9}"/>
              </a:ext>
            </a:extLst>
          </p:cNvPr>
          <p:cNvSpPr/>
          <p:nvPr/>
        </p:nvSpPr>
        <p:spPr>
          <a:xfrm>
            <a:off x="304800" y="5803900"/>
            <a:ext cx="38100" cy="21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TextBox 53">
            <a:extLst>
              <a:ext uri="{FF2B5EF4-FFF2-40B4-BE49-F238E27FC236}">
                <a16:creationId xmlns:a16="http://schemas.microsoft.com/office/drawing/2014/main" id="{FC0962A6-77E5-6B46-83DD-D3405818F612}"/>
              </a:ext>
            </a:extLst>
          </p:cNvPr>
          <p:cNvSpPr txBox="1"/>
          <p:nvPr/>
        </p:nvSpPr>
        <p:spPr>
          <a:xfrm>
            <a:off x="355600" y="5816600"/>
            <a:ext cx="1778000" cy="246221"/>
          </a:xfrm>
          <a:prstGeom prst="rect">
            <a:avLst/>
          </a:prstGeom>
          <a:noFill/>
        </p:spPr>
        <p:txBody>
          <a:bodyPr vertOverflow="overflow" vert="horz" wrap="square" rtlCol="0" anchor="t">
            <a:spAutoFit/>
          </a:bodyPr>
          <a:lstStyle/>
          <a:p>
            <a:r>
              <a:rPr lang="en-US" sz="1000" b="1" dirty="0">
                <a:solidFill>
                  <a:srgbClr val="0E4D4D"/>
                </a:solidFill>
                <a:latin typeface="Big Caslon Medium"/>
              </a:rPr>
              <a:t>XGBoost</a:t>
            </a:r>
          </a:p>
        </p:txBody>
      </p:sp>
      <p:sp>
        <p:nvSpPr>
          <p:cNvPr id="55" name="TextBox 54">
            <a:extLst>
              <a:ext uri="{FF2B5EF4-FFF2-40B4-BE49-F238E27FC236}">
                <a16:creationId xmlns:a16="http://schemas.microsoft.com/office/drawing/2014/main" id="{664212CB-5D7E-BE4D-881D-0BB6A6CC39AA}"/>
              </a:ext>
            </a:extLst>
          </p:cNvPr>
          <p:cNvSpPr txBox="1"/>
          <p:nvPr/>
        </p:nvSpPr>
        <p:spPr>
          <a:xfrm>
            <a:off x="2235200" y="5816600"/>
            <a:ext cx="787400" cy="246221"/>
          </a:xfrm>
          <a:prstGeom prst="rect">
            <a:avLst/>
          </a:prstGeom>
          <a:noFill/>
        </p:spPr>
        <p:txBody>
          <a:bodyPr vertOverflow="overflow" vert="horz" wrap="square" rtlCol="0" anchor="t">
            <a:spAutoFit/>
          </a:bodyPr>
          <a:lstStyle/>
          <a:p>
            <a:r>
              <a:rPr lang="en-US" sz="1000" b="1" dirty="0">
                <a:solidFill>
                  <a:srgbClr val="0E4D4D"/>
                </a:solidFill>
                <a:latin typeface="Big Caslon Medium"/>
              </a:rPr>
              <a:t>Train</a:t>
            </a:r>
          </a:p>
        </p:txBody>
      </p:sp>
      <p:sp>
        <p:nvSpPr>
          <p:cNvPr id="56" name="TextBox 55">
            <a:extLst>
              <a:ext uri="{FF2B5EF4-FFF2-40B4-BE49-F238E27FC236}">
                <a16:creationId xmlns:a16="http://schemas.microsoft.com/office/drawing/2014/main" id="{3B2AE108-D5E2-4A47-85F5-7643E1EFFC22}"/>
              </a:ext>
            </a:extLst>
          </p:cNvPr>
          <p:cNvSpPr txBox="1"/>
          <p:nvPr/>
        </p:nvSpPr>
        <p:spPr>
          <a:xfrm>
            <a:off x="3124200" y="5816600"/>
            <a:ext cx="1041400" cy="246221"/>
          </a:xfrm>
          <a:prstGeom prst="rect">
            <a:avLst/>
          </a:prstGeom>
          <a:noFill/>
        </p:spPr>
        <p:txBody>
          <a:bodyPr vertOverflow="overflow" vert="horz" wrap="square" rtlCol="0" anchor="t">
            <a:spAutoFit/>
          </a:bodyPr>
          <a:lstStyle/>
          <a:p>
            <a:pPr algn="r"/>
            <a:r>
              <a:rPr lang="en-US" sz="1000" b="1" dirty="0">
                <a:solidFill>
                  <a:srgbClr val="0E4D4D"/>
                </a:solidFill>
                <a:latin typeface="Big Caslon Medium"/>
              </a:rPr>
              <a:t>$52.52</a:t>
            </a:r>
          </a:p>
        </p:txBody>
      </p:sp>
      <p:sp>
        <p:nvSpPr>
          <p:cNvPr id="57" name="TextBox 56">
            <a:extLst>
              <a:ext uri="{FF2B5EF4-FFF2-40B4-BE49-F238E27FC236}">
                <a16:creationId xmlns:a16="http://schemas.microsoft.com/office/drawing/2014/main" id="{F8ECC705-DD7C-874F-AA47-02AD340BD7DD}"/>
              </a:ext>
            </a:extLst>
          </p:cNvPr>
          <p:cNvSpPr txBox="1"/>
          <p:nvPr/>
        </p:nvSpPr>
        <p:spPr>
          <a:xfrm>
            <a:off x="4267200" y="5816600"/>
            <a:ext cx="1041400" cy="246221"/>
          </a:xfrm>
          <a:prstGeom prst="rect">
            <a:avLst/>
          </a:prstGeom>
          <a:noFill/>
        </p:spPr>
        <p:txBody>
          <a:bodyPr vertOverflow="overflow" vert="horz" wrap="square" rtlCol="0" anchor="t">
            <a:spAutoFit/>
          </a:bodyPr>
          <a:lstStyle/>
          <a:p>
            <a:pPr algn="r"/>
            <a:r>
              <a:rPr lang="en-US" sz="1000" b="1" dirty="0">
                <a:solidFill>
                  <a:srgbClr val="0E4D4D"/>
                </a:solidFill>
                <a:latin typeface="Big Caslon Medium"/>
              </a:rPr>
              <a:t>0.8431</a:t>
            </a:r>
          </a:p>
        </p:txBody>
      </p:sp>
      <p:sp>
        <p:nvSpPr>
          <p:cNvPr id="58" name="TextBox 57">
            <a:extLst>
              <a:ext uri="{FF2B5EF4-FFF2-40B4-BE49-F238E27FC236}">
                <a16:creationId xmlns:a16="http://schemas.microsoft.com/office/drawing/2014/main" id="{89AFA0C9-C324-4842-B37C-5F0B0AA58F33}"/>
              </a:ext>
            </a:extLst>
          </p:cNvPr>
          <p:cNvSpPr txBox="1"/>
          <p:nvPr/>
        </p:nvSpPr>
        <p:spPr>
          <a:xfrm>
            <a:off x="5410200" y="5816600"/>
            <a:ext cx="1041400" cy="246221"/>
          </a:xfrm>
          <a:prstGeom prst="rect">
            <a:avLst/>
          </a:prstGeom>
          <a:noFill/>
        </p:spPr>
        <p:txBody>
          <a:bodyPr vertOverflow="overflow" vert="horz" wrap="square" rtlCol="0" anchor="t">
            <a:spAutoFit/>
          </a:bodyPr>
          <a:lstStyle/>
          <a:p>
            <a:pPr algn="r"/>
            <a:r>
              <a:rPr lang="en-US" sz="1000" b="1" dirty="0">
                <a:solidFill>
                  <a:srgbClr val="0E4D4D"/>
                </a:solidFill>
                <a:latin typeface="Big Caslon Medium"/>
              </a:rPr>
              <a:t>0.8417</a:t>
            </a:r>
          </a:p>
        </p:txBody>
      </p:sp>
      <p:sp>
        <p:nvSpPr>
          <p:cNvPr id="59" name="Rectangle 58">
            <a:extLst>
              <a:ext uri="{FF2B5EF4-FFF2-40B4-BE49-F238E27FC236}">
                <a16:creationId xmlns:a16="http://schemas.microsoft.com/office/drawing/2014/main" id="{91082248-EDE4-8449-B18C-5F662AEB56EF}"/>
              </a:ext>
            </a:extLst>
          </p:cNvPr>
          <p:cNvSpPr/>
          <p:nvPr/>
        </p:nvSpPr>
        <p:spPr>
          <a:xfrm>
            <a:off x="304800" y="6019800"/>
            <a:ext cx="38100" cy="2159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TextBox 59">
            <a:extLst>
              <a:ext uri="{FF2B5EF4-FFF2-40B4-BE49-F238E27FC236}">
                <a16:creationId xmlns:a16="http://schemas.microsoft.com/office/drawing/2014/main" id="{E4217594-E9D0-1041-8342-80929392E50A}"/>
              </a:ext>
            </a:extLst>
          </p:cNvPr>
          <p:cNvSpPr txBox="1"/>
          <p:nvPr/>
        </p:nvSpPr>
        <p:spPr>
          <a:xfrm>
            <a:off x="355600" y="6032500"/>
            <a:ext cx="1778000" cy="246221"/>
          </a:xfrm>
          <a:prstGeom prst="rect">
            <a:avLst/>
          </a:prstGeom>
          <a:noFill/>
        </p:spPr>
        <p:txBody>
          <a:bodyPr vertOverflow="overflow" vert="horz" wrap="square" rtlCol="0" anchor="t">
            <a:spAutoFit/>
          </a:bodyPr>
          <a:lstStyle/>
          <a:p>
            <a:r>
              <a:rPr lang="en-US" sz="1000" b="1" dirty="0">
                <a:solidFill>
                  <a:srgbClr val="0E4D4D"/>
                </a:solidFill>
                <a:latin typeface="Big Caslon Medium"/>
              </a:rPr>
              <a:t>XGBoost</a:t>
            </a:r>
          </a:p>
        </p:txBody>
      </p:sp>
      <p:sp>
        <p:nvSpPr>
          <p:cNvPr id="61" name="TextBox 60">
            <a:extLst>
              <a:ext uri="{FF2B5EF4-FFF2-40B4-BE49-F238E27FC236}">
                <a16:creationId xmlns:a16="http://schemas.microsoft.com/office/drawing/2014/main" id="{55A352EF-3166-A043-BB30-6F425343219A}"/>
              </a:ext>
            </a:extLst>
          </p:cNvPr>
          <p:cNvSpPr txBox="1"/>
          <p:nvPr/>
        </p:nvSpPr>
        <p:spPr>
          <a:xfrm>
            <a:off x="2235200" y="6032500"/>
            <a:ext cx="787400" cy="246221"/>
          </a:xfrm>
          <a:prstGeom prst="rect">
            <a:avLst/>
          </a:prstGeom>
          <a:noFill/>
        </p:spPr>
        <p:txBody>
          <a:bodyPr vertOverflow="overflow" vert="horz" wrap="square" rtlCol="0" anchor="t">
            <a:spAutoFit/>
          </a:bodyPr>
          <a:lstStyle/>
          <a:p>
            <a:r>
              <a:rPr lang="en-US" sz="1000" b="1" dirty="0">
                <a:solidFill>
                  <a:srgbClr val="0E4D4D"/>
                </a:solidFill>
                <a:latin typeface="Big Caslon Medium"/>
              </a:rPr>
              <a:t>Test</a:t>
            </a:r>
          </a:p>
        </p:txBody>
      </p:sp>
      <p:sp>
        <p:nvSpPr>
          <p:cNvPr id="62" name="TextBox 61">
            <a:extLst>
              <a:ext uri="{FF2B5EF4-FFF2-40B4-BE49-F238E27FC236}">
                <a16:creationId xmlns:a16="http://schemas.microsoft.com/office/drawing/2014/main" id="{B044C2B4-0CC0-FF40-A597-535998D8BCE8}"/>
              </a:ext>
            </a:extLst>
          </p:cNvPr>
          <p:cNvSpPr txBox="1"/>
          <p:nvPr/>
        </p:nvSpPr>
        <p:spPr>
          <a:xfrm>
            <a:off x="3124200" y="6032500"/>
            <a:ext cx="1041400" cy="246221"/>
          </a:xfrm>
          <a:prstGeom prst="rect">
            <a:avLst/>
          </a:prstGeom>
          <a:noFill/>
        </p:spPr>
        <p:txBody>
          <a:bodyPr vertOverflow="overflow" vert="horz" wrap="square" rtlCol="0" anchor="t">
            <a:spAutoFit/>
          </a:bodyPr>
          <a:lstStyle/>
          <a:p>
            <a:pPr algn="r"/>
            <a:r>
              <a:rPr lang="en-US" sz="1000" b="1" dirty="0">
                <a:solidFill>
                  <a:srgbClr val="0E4D4D"/>
                </a:solidFill>
                <a:latin typeface="Big Caslon Medium"/>
              </a:rPr>
              <a:t>$81.23</a:t>
            </a:r>
          </a:p>
        </p:txBody>
      </p:sp>
      <p:sp>
        <p:nvSpPr>
          <p:cNvPr id="63" name="TextBox 62">
            <a:extLst>
              <a:ext uri="{FF2B5EF4-FFF2-40B4-BE49-F238E27FC236}">
                <a16:creationId xmlns:a16="http://schemas.microsoft.com/office/drawing/2014/main" id="{03B7B1E6-8217-1B49-AD6E-F535D6AEBFFE}"/>
              </a:ext>
            </a:extLst>
          </p:cNvPr>
          <p:cNvSpPr txBox="1"/>
          <p:nvPr/>
        </p:nvSpPr>
        <p:spPr>
          <a:xfrm>
            <a:off x="4267200" y="6032500"/>
            <a:ext cx="1041400" cy="246221"/>
          </a:xfrm>
          <a:prstGeom prst="rect">
            <a:avLst/>
          </a:prstGeom>
          <a:noFill/>
        </p:spPr>
        <p:txBody>
          <a:bodyPr vertOverflow="overflow" vert="horz" wrap="square" rtlCol="0" anchor="t">
            <a:spAutoFit/>
          </a:bodyPr>
          <a:lstStyle/>
          <a:p>
            <a:pPr algn="r"/>
            <a:r>
              <a:rPr lang="en-US" sz="1000" b="1" dirty="0">
                <a:solidFill>
                  <a:srgbClr val="0E4D4D"/>
                </a:solidFill>
                <a:latin typeface="Big Caslon Medium"/>
              </a:rPr>
              <a:t>0.6166</a:t>
            </a:r>
          </a:p>
        </p:txBody>
      </p:sp>
      <p:sp>
        <p:nvSpPr>
          <p:cNvPr id="64" name="TextBox 63">
            <a:extLst>
              <a:ext uri="{FF2B5EF4-FFF2-40B4-BE49-F238E27FC236}">
                <a16:creationId xmlns:a16="http://schemas.microsoft.com/office/drawing/2014/main" id="{BDE68ABB-4E55-4D4A-82D5-C6DE8EEB3F83}"/>
              </a:ext>
            </a:extLst>
          </p:cNvPr>
          <p:cNvSpPr txBox="1"/>
          <p:nvPr/>
        </p:nvSpPr>
        <p:spPr>
          <a:xfrm>
            <a:off x="5410200" y="6032500"/>
            <a:ext cx="1041400" cy="246221"/>
          </a:xfrm>
          <a:prstGeom prst="rect">
            <a:avLst/>
          </a:prstGeom>
          <a:noFill/>
        </p:spPr>
        <p:txBody>
          <a:bodyPr vertOverflow="overflow" vert="horz" wrap="square" rtlCol="0" anchor="t">
            <a:spAutoFit/>
          </a:bodyPr>
          <a:lstStyle/>
          <a:p>
            <a:pPr algn="r"/>
            <a:r>
              <a:rPr lang="en-US" sz="1000" b="1" dirty="0">
                <a:solidFill>
                  <a:srgbClr val="0E4D4D"/>
                </a:solidFill>
                <a:latin typeface="Big Caslon Medium"/>
              </a:rPr>
              <a:t>0.6087</a:t>
            </a:r>
          </a:p>
        </p:txBody>
      </p:sp>
      <p:sp>
        <p:nvSpPr>
          <p:cNvPr id="65" name="Rectangle 64">
            <a:extLst>
              <a:ext uri="{FF2B5EF4-FFF2-40B4-BE49-F238E27FC236}">
                <a16:creationId xmlns:a16="http://schemas.microsoft.com/office/drawing/2014/main" id="{7963EBD3-611C-0441-8EFC-11D70B995ABD}"/>
              </a:ext>
            </a:extLst>
          </p:cNvPr>
          <p:cNvSpPr/>
          <p:nvPr/>
        </p:nvSpPr>
        <p:spPr>
          <a:xfrm>
            <a:off x="304800" y="4940300"/>
            <a:ext cx="6197600" cy="127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TextBox 65">
            <a:extLst>
              <a:ext uri="{FF2B5EF4-FFF2-40B4-BE49-F238E27FC236}">
                <a16:creationId xmlns:a16="http://schemas.microsoft.com/office/drawing/2014/main" id="{252024AD-9071-404B-AE91-437551793BC2}"/>
              </a:ext>
            </a:extLst>
          </p:cNvPr>
          <p:cNvSpPr txBox="1"/>
          <p:nvPr/>
        </p:nvSpPr>
        <p:spPr>
          <a:xfrm>
            <a:off x="304800" y="6197600"/>
            <a:ext cx="6197600" cy="177800"/>
          </a:xfrm>
          <a:prstGeom prst="rect">
            <a:avLst/>
          </a:prstGeom>
          <a:noFill/>
        </p:spPr>
        <p:txBody>
          <a:bodyPr vertOverflow="overflow" vert="horz" wrap="square" rtlCol="0" anchor="t">
            <a:spAutoFit/>
          </a:bodyPr>
          <a:lstStyle/>
          <a:p>
            <a:r>
              <a:rPr lang="en-US" sz="900" i="1" dirty="0">
                <a:solidFill>
                  <a:srgbClr val="0E4D4D"/>
                </a:solidFill>
                <a:latin typeface="Big Caslon Medium"/>
              </a:rPr>
              <a:t>Lower RMSE and higher R² indicate stronger fit. XGBoost delivers the best generalization on test.</a:t>
            </a:r>
          </a:p>
        </p:txBody>
      </p:sp>
      <p:sp>
        <p:nvSpPr>
          <p:cNvPr id="68" name="TextBox 67">
            <a:extLst>
              <a:ext uri="{FF2B5EF4-FFF2-40B4-BE49-F238E27FC236}">
                <a16:creationId xmlns:a16="http://schemas.microsoft.com/office/drawing/2014/main" id="{E3041599-B9B8-5040-A5F5-B2D5B153AC81}"/>
              </a:ext>
            </a:extLst>
          </p:cNvPr>
          <p:cNvSpPr txBox="1"/>
          <p:nvPr/>
        </p:nvSpPr>
        <p:spPr>
          <a:xfrm>
            <a:off x="8712200" y="4749800"/>
            <a:ext cx="3048000" cy="246221"/>
          </a:xfrm>
          <a:prstGeom prst="rect">
            <a:avLst/>
          </a:prstGeom>
          <a:noFill/>
        </p:spPr>
        <p:txBody>
          <a:bodyPr vertOverflow="overflow" vert="horz" wrap="square" rtlCol="0" anchor="t">
            <a:spAutoFit/>
          </a:bodyPr>
          <a:lstStyle/>
          <a:p>
            <a:r>
              <a:rPr lang="en-US" sz="1000" b="1" spc="200" dirty="0">
                <a:solidFill>
                  <a:srgbClr val="F7F1E8"/>
                </a:solidFill>
                <a:latin typeface="Big Caslon Medium"/>
              </a:rPr>
              <a:t>BEST MODEL</a:t>
            </a:r>
          </a:p>
        </p:txBody>
      </p:sp>
      <p:sp>
        <p:nvSpPr>
          <p:cNvPr id="69" name="TextBox 68">
            <a:extLst>
              <a:ext uri="{FF2B5EF4-FFF2-40B4-BE49-F238E27FC236}">
                <a16:creationId xmlns:a16="http://schemas.microsoft.com/office/drawing/2014/main" id="{B9BB5122-CF5A-C84E-81AE-1E67221688AE}"/>
              </a:ext>
            </a:extLst>
          </p:cNvPr>
          <p:cNvSpPr txBox="1"/>
          <p:nvPr/>
        </p:nvSpPr>
        <p:spPr>
          <a:xfrm>
            <a:off x="8712200" y="4978400"/>
            <a:ext cx="3048000" cy="584775"/>
          </a:xfrm>
          <a:prstGeom prst="rect">
            <a:avLst/>
          </a:prstGeom>
          <a:noFill/>
        </p:spPr>
        <p:txBody>
          <a:bodyPr vertOverflow="overflow" vert="horz" wrap="square" rtlCol="0" anchor="t">
            <a:spAutoFit/>
          </a:bodyPr>
          <a:lstStyle/>
          <a:p>
            <a:r>
              <a:rPr lang="en-US" sz="3200" b="1" i="1" dirty="0">
                <a:solidFill>
                  <a:srgbClr val="F7F1E8"/>
                </a:solidFill>
                <a:latin typeface="Playfair Display"/>
              </a:rPr>
              <a:t>XGBoost</a:t>
            </a:r>
          </a:p>
        </p:txBody>
      </p:sp>
      <p:sp>
        <p:nvSpPr>
          <p:cNvPr id="70" name="TextBox 69">
            <a:extLst>
              <a:ext uri="{FF2B5EF4-FFF2-40B4-BE49-F238E27FC236}">
                <a16:creationId xmlns:a16="http://schemas.microsoft.com/office/drawing/2014/main" id="{7FFCA2CA-7EEA-724E-889F-1C6C33D02421}"/>
              </a:ext>
            </a:extLst>
          </p:cNvPr>
          <p:cNvSpPr txBox="1"/>
          <p:nvPr/>
        </p:nvSpPr>
        <p:spPr>
          <a:xfrm>
            <a:off x="8712200" y="5511800"/>
            <a:ext cx="3048000" cy="375744"/>
          </a:xfrm>
          <a:prstGeom prst="rect">
            <a:avLst/>
          </a:prstGeom>
          <a:noFill/>
        </p:spPr>
        <p:txBody>
          <a:bodyPr vertOverflow="overflow" vert="horz" wrap="square" rtlCol="0" anchor="t">
            <a:spAutoFit/>
          </a:bodyPr>
          <a:lstStyle/>
          <a:p>
            <a:pPr>
              <a:lnSpc>
                <a:spcPts val="1100"/>
              </a:lnSpc>
            </a:pPr>
            <a:r>
              <a:rPr lang="en-US" sz="1100" dirty="0">
                <a:solidFill>
                  <a:srgbClr val="F7F1E8"/>
                </a:solidFill>
                <a:latin typeface="Big Caslon Medium"/>
              </a:rPr>
              <a:t>Highest test R² of 0.6166 and lowest test RMSE of $81.23 across all three models.</a:t>
            </a:r>
          </a:p>
        </p:txBody>
      </p:sp>
      <p:pic>
        <p:nvPicPr>
          <p:cNvPr id="71" name="Picture 70">
            <a:extLst>
              <a:ext uri="{FF2B5EF4-FFF2-40B4-BE49-F238E27FC236}">
                <a16:creationId xmlns:a16="http://schemas.microsoft.com/office/drawing/2014/main" id="{FB63B1C2-58F8-E44C-4B95-6CD3A45C0336}"/>
              </a:ext>
            </a:extLst>
          </p:cNvPr>
          <p:cNvPicPr>
            <a:picLocks/>
          </p:cNvPicPr>
          <p:nvPr/>
        </p:nvPicPr>
        <p:blipFill>
          <a:blip r:embed="rId2"/>
          <a:stretch>
            <a:fillRect/>
          </a:stretch>
        </p:blipFill>
        <p:spPr>
          <a:xfrm>
            <a:off x="3398520" y="2697480"/>
            <a:ext cx="2194560" cy="1463040"/>
          </a:xfrm>
          <a:prstGeom prst="rect">
            <a:avLst/>
          </a:prstGeom>
        </p:spPr>
      </p:pic>
      <p:pic>
        <p:nvPicPr>
          <p:cNvPr id="72" name="Picture 71">
            <a:extLst>
              <a:ext uri="{FF2B5EF4-FFF2-40B4-BE49-F238E27FC236}">
                <a16:creationId xmlns:a16="http://schemas.microsoft.com/office/drawing/2014/main" id="{254DB6CF-DB76-7C12-2E36-387C3C2EB7B7}"/>
              </a:ext>
            </a:extLst>
          </p:cNvPr>
          <p:cNvPicPr>
            <a:picLocks/>
          </p:cNvPicPr>
          <p:nvPr/>
        </p:nvPicPr>
        <p:blipFill>
          <a:blip r:embed="rId3"/>
          <a:stretch>
            <a:fillRect/>
          </a:stretch>
        </p:blipFill>
        <p:spPr>
          <a:xfrm>
            <a:off x="9474200" y="2639936"/>
            <a:ext cx="2194560" cy="1463040"/>
          </a:xfrm>
          <a:prstGeom prst="rect">
            <a:avLst/>
          </a:prstGeom>
        </p:spPr>
      </p:pic>
      <p:pic>
        <p:nvPicPr>
          <p:cNvPr id="74" name="Picture 73">
            <a:extLst>
              <a:ext uri="{FF2B5EF4-FFF2-40B4-BE49-F238E27FC236}">
                <a16:creationId xmlns:a16="http://schemas.microsoft.com/office/drawing/2014/main" id="{13DBE41A-A9BE-849B-30CD-0D2441C04BCD}"/>
              </a:ext>
            </a:extLst>
          </p:cNvPr>
          <p:cNvPicPr>
            <a:picLocks noChangeAspect="1"/>
          </p:cNvPicPr>
          <p:nvPr/>
        </p:nvPicPr>
        <p:blipFill>
          <a:blip r:embed="rId4"/>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117593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31" name="Rounded Rectangle 30">
            <a:extLst>
              <a:ext uri="{FF2B5EF4-FFF2-40B4-BE49-F238E27FC236}">
                <a16:creationId xmlns:a16="http://schemas.microsoft.com/office/drawing/2014/main" id="{47D75432-324E-A742-BEAA-D408BD5E612A}"/>
              </a:ext>
            </a:extLst>
          </p:cNvPr>
          <p:cNvSpPr/>
          <p:nvPr/>
        </p:nvSpPr>
        <p:spPr>
          <a:xfrm>
            <a:off x="5130800" y="5080000"/>
            <a:ext cx="6858000" cy="1270000"/>
          </a:xfrm>
          <a:prstGeom prst="roundRect">
            <a:avLst/>
          </a:prstGeom>
          <a:solidFill>
            <a:srgbClr val="0E4D4D"/>
          </a:solidFill>
          <a:ln w="952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ounded Rectangle 24">
            <a:extLst>
              <a:ext uri="{FF2B5EF4-FFF2-40B4-BE49-F238E27FC236}">
                <a16:creationId xmlns:a16="http://schemas.microsoft.com/office/drawing/2014/main" id="{FA932C7F-6879-634E-8255-53EF89DC64D8}"/>
              </a:ext>
            </a:extLst>
          </p:cNvPr>
          <p:cNvSpPr/>
          <p:nvPr/>
        </p:nvSpPr>
        <p:spPr>
          <a:xfrm>
            <a:off x="5130800" y="3683000"/>
            <a:ext cx="6858000" cy="12700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ounded Rectangle 18">
            <a:extLst>
              <a:ext uri="{FF2B5EF4-FFF2-40B4-BE49-F238E27FC236}">
                <a16:creationId xmlns:a16="http://schemas.microsoft.com/office/drawing/2014/main" id="{82649E05-565E-914A-A584-837348F75700}"/>
              </a:ext>
            </a:extLst>
          </p:cNvPr>
          <p:cNvSpPr/>
          <p:nvPr/>
        </p:nvSpPr>
        <p:spPr>
          <a:xfrm>
            <a:off x="5130800" y="2129307"/>
            <a:ext cx="6858000" cy="1426693"/>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ounded Rectangle 12">
            <a:extLst>
              <a:ext uri="{FF2B5EF4-FFF2-40B4-BE49-F238E27FC236}">
                <a16:creationId xmlns:a16="http://schemas.microsoft.com/office/drawing/2014/main" id="{4C079E0E-22A8-5C43-A3EC-7EC66BAAF9B3}"/>
              </a:ext>
            </a:extLst>
          </p:cNvPr>
          <p:cNvSpPr/>
          <p:nvPr/>
        </p:nvSpPr>
        <p:spPr>
          <a:xfrm>
            <a:off x="203200" y="2133600"/>
            <a:ext cx="4826000" cy="4216400"/>
          </a:xfrm>
          <a:prstGeom prst="roundRect">
            <a:avLst/>
          </a:prstGeom>
          <a:solidFill>
            <a:srgbClr val="FFFFFF"/>
          </a:solidFill>
          <a:ln w="9525" cap="flat" cmpd="sng" algn="ctr">
            <a:solidFill>
              <a:srgbClr val="0E4D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Rectangle 1">
            <a:extLst>
              <a:ext uri="{FF2B5EF4-FFF2-40B4-BE49-F238E27FC236}">
                <a16:creationId xmlns:a16="http://schemas.microsoft.com/office/drawing/2014/main" id="{6A727F2B-9C08-634D-AA2D-D4FB71A3CC6E}"/>
              </a:ext>
            </a:extLst>
          </p:cNvPr>
          <p:cNvSpPr/>
          <p:nvPr/>
        </p:nvSpPr>
        <p:spPr>
          <a:xfrm>
            <a:off x="0" y="0"/>
            <a:ext cx="12192000" cy="1016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088D5FFA-68E0-E648-BC7F-09DC758C3004}"/>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0CC6E4AE-7619-EC4F-AA58-42088695B273}"/>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E516967E-8858-6141-AC07-7D5E4B7E88E6}"/>
              </a:ext>
            </a:extLst>
          </p:cNvPr>
          <p:cNvSpPr/>
          <p:nvPr/>
        </p:nvSpPr>
        <p:spPr>
          <a:xfrm>
            <a:off x="406400" y="1371600"/>
            <a:ext cx="63500" cy="635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CCE47EA1-3A79-7841-BBE4-688164E74D26}"/>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AC4C949-D75B-E94D-859A-C58CE5D7C8A4}"/>
              </a:ext>
            </a:extLst>
          </p:cNvPr>
          <p:cNvSpPr txBox="1"/>
          <p:nvPr/>
        </p:nvSpPr>
        <p:spPr>
          <a:xfrm>
            <a:off x="1651000" y="355600"/>
            <a:ext cx="7112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AIRBNB CHICAGO   ·   ML / NLP / NEURAL NETWORKS</a:t>
            </a:r>
          </a:p>
        </p:txBody>
      </p:sp>
      <p:sp>
        <p:nvSpPr>
          <p:cNvPr id="8" name="TextBox 7">
            <a:extLst>
              <a:ext uri="{FF2B5EF4-FFF2-40B4-BE49-F238E27FC236}">
                <a16:creationId xmlns:a16="http://schemas.microsoft.com/office/drawing/2014/main" id="{8C55856E-5342-2940-B32C-A95DB77981B5}"/>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9" name="TextBox 8">
            <a:extLst>
              <a:ext uri="{FF2B5EF4-FFF2-40B4-BE49-F238E27FC236}">
                <a16:creationId xmlns:a16="http://schemas.microsoft.com/office/drawing/2014/main" id="{1030FD5D-6CD1-6C41-BF5C-6493935AF3DC}"/>
              </a:ext>
            </a:extLst>
          </p:cNvPr>
          <p:cNvSpPr txBox="1"/>
          <p:nvPr/>
        </p:nvSpPr>
        <p:spPr>
          <a:xfrm>
            <a:off x="711200" y="1270000"/>
            <a:ext cx="7620000" cy="261610"/>
          </a:xfrm>
          <a:prstGeom prst="rect">
            <a:avLst/>
          </a:prstGeom>
          <a:noFill/>
        </p:spPr>
        <p:txBody>
          <a:bodyPr vertOverflow="overflow" vert="horz" wrap="square" rtlCol="0" anchor="t">
            <a:spAutoFit/>
          </a:bodyPr>
          <a:lstStyle/>
          <a:p>
            <a:r>
              <a:rPr lang="en-US" sz="1100" b="1" spc="200" dirty="0">
                <a:solidFill>
                  <a:srgbClr val="E07856"/>
                </a:solidFill>
                <a:latin typeface="Big Caslon Medium"/>
              </a:rPr>
              <a:t>INSIGHTS   ·   RECOMMENDATIONS   ·   CONCLUSION</a:t>
            </a:r>
          </a:p>
        </p:txBody>
      </p:sp>
      <p:sp>
        <p:nvSpPr>
          <p:cNvPr id="10" name="TextBox 9">
            <a:extLst>
              <a:ext uri="{FF2B5EF4-FFF2-40B4-BE49-F238E27FC236}">
                <a16:creationId xmlns:a16="http://schemas.microsoft.com/office/drawing/2014/main" id="{11DDE064-5D6A-734F-B6B6-B0C2FD1DBDA9}"/>
              </a:ext>
            </a:extLst>
          </p:cNvPr>
          <p:cNvSpPr txBox="1"/>
          <p:nvPr/>
        </p:nvSpPr>
        <p:spPr>
          <a:xfrm>
            <a:off x="635000" y="1498600"/>
            <a:ext cx="10922000" cy="584775"/>
          </a:xfrm>
          <a:prstGeom prst="rect">
            <a:avLst/>
          </a:prstGeom>
          <a:noFill/>
        </p:spPr>
        <p:txBody>
          <a:bodyPr vertOverflow="overflow" vert="horz" wrap="square" rtlCol="0" anchor="t">
            <a:spAutoFit/>
          </a:bodyPr>
          <a:lstStyle/>
          <a:p>
            <a:r>
              <a:rPr lang="en-US" sz="3200" b="1" i="1" dirty="0">
                <a:solidFill>
                  <a:srgbClr val="0E4D4D"/>
                </a:solidFill>
                <a:latin typeface="Playfair Display"/>
              </a:rPr>
              <a:t>What the Models Tell Us</a:t>
            </a:r>
          </a:p>
        </p:txBody>
      </p:sp>
      <p:sp>
        <p:nvSpPr>
          <p:cNvPr id="11" name="TextBox 10">
            <a:extLst>
              <a:ext uri="{FF2B5EF4-FFF2-40B4-BE49-F238E27FC236}">
                <a16:creationId xmlns:a16="http://schemas.microsoft.com/office/drawing/2014/main" id="{A96BDE25-C605-924C-852D-93A8D4C6FDF5}"/>
              </a:ext>
            </a:extLst>
          </p:cNvPr>
          <p:cNvSpPr txBox="1"/>
          <p:nvPr/>
        </p:nvSpPr>
        <p:spPr>
          <a:xfrm>
            <a:off x="406400" y="6553200"/>
            <a:ext cx="6350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SCH-MGMT 661   ·   Applications of AI Models</a:t>
            </a:r>
          </a:p>
        </p:txBody>
      </p:sp>
      <p:sp>
        <p:nvSpPr>
          <p:cNvPr id="12" name="TextBox 11">
            <a:extLst>
              <a:ext uri="{FF2B5EF4-FFF2-40B4-BE49-F238E27FC236}">
                <a16:creationId xmlns:a16="http://schemas.microsoft.com/office/drawing/2014/main" id="{406942B8-EB6C-9B47-B4EC-7EFBC2EAABEF}"/>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13 / 14</a:t>
            </a:r>
          </a:p>
        </p:txBody>
      </p:sp>
      <p:sp>
        <p:nvSpPr>
          <p:cNvPr id="14" name="Rectangle 13">
            <a:extLst>
              <a:ext uri="{FF2B5EF4-FFF2-40B4-BE49-F238E27FC236}">
                <a16:creationId xmlns:a16="http://schemas.microsoft.com/office/drawing/2014/main" id="{63587C65-E326-C14A-9E3C-B88FAD003168}"/>
              </a:ext>
            </a:extLst>
          </p:cNvPr>
          <p:cNvSpPr/>
          <p:nvPr/>
        </p:nvSpPr>
        <p:spPr>
          <a:xfrm>
            <a:off x="342900" y="2362200"/>
            <a:ext cx="38100" cy="10160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ABCE453F-F739-3047-87BD-3A92268A35BA}"/>
              </a:ext>
            </a:extLst>
          </p:cNvPr>
          <p:cNvSpPr txBox="1"/>
          <p:nvPr/>
        </p:nvSpPr>
        <p:spPr>
          <a:xfrm>
            <a:off x="482600" y="2438400"/>
            <a:ext cx="4064000" cy="261610"/>
          </a:xfrm>
          <a:prstGeom prst="rect">
            <a:avLst/>
          </a:prstGeom>
          <a:noFill/>
        </p:spPr>
        <p:txBody>
          <a:bodyPr vertOverflow="overflow" vert="horz" wrap="square" rtlCol="0" anchor="t">
            <a:spAutoFit/>
          </a:bodyPr>
          <a:lstStyle/>
          <a:p>
            <a:r>
              <a:rPr lang="en-US" sz="1100" b="1" spc="200" dirty="0">
                <a:solidFill>
                  <a:srgbClr val="E07856"/>
                </a:solidFill>
                <a:latin typeface="Big Caslon Medium"/>
              </a:rPr>
              <a:t>FEATURE IMPORTANCE</a:t>
            </a:r>
          </a:p>
        </p:txBody>
      </p:sp>
      <p:sp>
        <p:nvSpPr>
          <p:cNvPr id="16" name="TextBox 15">
            <a:extLst>
              <a:ext uri="{FF2B5EF4-FFF2-40B4-BE49-F238E27FC236}">
                <a16:creationId xmlns:a16="http://schemas.microsoft.com/office/drawing/2014/main" id="{0738F4A1-815B-FF46-B556-003430D8A413}"/>
              </a:ext>
            </a:extLst>
          </p:cNvPr>
          <p:cNvSpPr txBox="1"/>
          <p:nvPr/>
        </p:nvSpPr>
        <p:spPr>
          <a:xfrm>
            <a:off x="482600" y="2692400"/>
            <a:ext cx="4064000" cy="246221"/>
          </a:xfrm>
          <a:prstGeom prst="rect">
            <a:avLst/>
          </a:prstGeom>
          <a:noFill/>
        </p:spPr>
        <p:txBody>
          <a:bodyPr vertOverflow="overflow" vert="horz" wrap="square" rtlCol="0" anchor="t">
            <a:spAutoFit/>
          </a:bodyPr>
          <a:lstStyle/>
          <a:p>
            <a:r>
              <a:rPr lang="en-US" sz="1000" i="1" dirty="0">
                <a:solidFill>
                  <a:srgbClr val="0E4D4D"/>
                </a:solidFill>
                <a:latin typeface="Big Caslon Medium"/>
              </a:rPr>
              <a:t>XGBoost relative importances across 23 features</a:t>
            </a:r>
          </a:p>
        </p:txBody>
      </p:sp>
      <p:sp>
        <p:nvSpPr>
          <p:cNvPr id="17" name="Rectangle 16">
            <a:extLst>
              <a:ext uri="{FF2B5EF4-FFF2-40B4-BE49-F238E27FC236}">
                <a16:creationId xmlns:a16="http://schemas.microsoft.com/office/drawing/2014/main" id="{5FA0C378-C281-F546-AE50-F83C11A5EC89}"/>
              </a:ext>
            </a:extLst>
          </p:cNvPr>
          <p:cNvSpPr/>
          <p:nvPr/>
        </p:nvSpPr>
        <p:spPr>
          <a:xfrm>
            <a:off x="482600" y="2946400"/>
            <a:ext cx="44196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3356C49D-7AAE-A54D-AFF9-CEF1BE9C9436}"/>
              </a:ext>
            </a:extLst>
          </p:cNvPr>
          <p:cNvSpPr txBox="1"/>
          <p:nvPr/>
        </p:nvSpPr>
        <p:spPr>
          <a:xfrm>
            <a:off x="419100" y="5725180"/>
            <a:ext cx="4572000" cy="400110"/>
          </a:xfrm>
          <a:prstGeom prst="rect">
            <a:avLst/>
          </a:prstGeom>
          <a:noFill/>
        </p:spPr>
        <p:txBody>
          <a:bodyPr vertOverflow="overflow" vert="horz" wrap="square" rtlCol="0" anchor="t">
            <a:spAutoFit/>
          </a:bodyPr>
          <a:lstStyle/>
          <a:p>
            <a:r>
              <a:rPr lang="en-US" sz="1000" i="1" dirty="0">
                <a:solidFill>
                  <a:srgbClr val="0E4D4D"/>
                </a:solidFill>
                <a:latin typeface="Big Caslon Medium"/>
              </a:rPr>
              <a:t>Top drivers: accommodates 0.24, bedrooms 0.20, bathrooms 0.12, room_type Private 0.10. NLP topic_2 (upscale features and views) leads review-derived contributors.</a:t>
            </a:r>
          </a:p>
        </p:txBody>
      </p:sp>
      <p:sp>
        <p:nvSpPr>
          <p:cNvPr id="20" name="Rectangle 19">
            <a:extLst>
              <a:ext uri="{FF2B5EF4-FFF2-40B4-BE49-F238E27FC236}">
                <a16:creationId xmlns:a16="http://schemas.microsoft.com/office/drawing/2014/main" id="{5F1C67A4-3D8A-414D-B2BF-C06A171EB721}"/>
              </a:ext>
            </a:extLst>
          </p:cNvPr>
          <p:cNvSpPr/>
          <p:nvPr/>
        </p:nvSpPr>
        <p:spPr>
          <a:xfrm>
            <a:off x="5269186" y="2355850"/>
            <a:ext cx="38100" cy="9144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3FC2F1FA-2DD0-DA49-A4F9-AACAE1745A9B}"/>
              </a:ext>
            </a:extLst>
          </p:cNvPr>
          <p:cNvSpPr txBox="1"/>
          <p:nvPr/>
        </p:nvSpPr>
        <p:spPr>
          <a:xfrm>
            <a:off x="5359400" y="2345839"/>
            <a:ext cx="635000" cy="400110"/>
          </a:xfrm>
          <a:prstGeom prst="rect">
            <a:avLst/>
          </a:prstGeom>
          <a:noFill/>
        </p:spPr>
        <p:txBody>
          <a:bodyPr vertOverflow="overflow" vert="horz" wrap="square" rtlCol="0" anchor="t">
            <a:spAutoFit/>
          </a:bodyPr>
          <a:lstStyle/>
          <a:p>
            <a:r>
              <a:rPr lang="en-US" sz="2000" b="1" i="1" dirty="0">
                <a:solidFill>
                  <a:srgbClr val="E07856"/>
                </a:solidFill>
                <a:latin typeface="Playfair Display"/>
              </a:rPr>
              <a:t>01</a:t>
            </a:r>
          </a:p>
        </p:txBody>
      </p:sp>
      <p:sp>
        <p:nvSpPr>
          <p:cNvPr id="22" name="TextBox 21">
            <a:extLst>
              <a:ext uri="{FF2B5EF4-FFF2-40B4-BE49-F238E27FC236}">
                <a16:creationId xmlns:a16="http://schemas.microsoft.com/office/drawing/2014/main" id="{9746D507-1F2D-8F4C-92D8-8332BFEB6187}"/>
              </a:ext>
            </a:extLst>
          </p:cNvPr>
          <p:cNvSpPr txBox="1"/>
          <p:nvPr/>
        </p:nvSpPr>
        <p:spPr>
          <a:xfrm>
            <a:off x="6045200" y="2388752"/>
            <a:ext cx="2540000" cy="292388"/>
          </a:xfrm>
          <a:prstGeom prst="rect">
            <a:avLst/>
          </a:prstGeom>
          <a:noFill/>
        </p:spPr>
        <p:txBody>
          <a:bodyPr vertOverflow="overflow" vert="horz" wrap="square" rtlCol="0" anchor="t">
            <a:spAutoFit/>
          </a:bodyPr>
          <a:lstStyle/>
          <a:p>
            <a:r>
              <a:rPr lang="en-US" sz="1300" b="1" spc="200" dirty="0">
                <a:solidFill>
                  <a:srgbClr val="0E4D4D"/>
                </a:solidFill>
                <a:latin typeface="Big Caslon Medium"/>
              </a:rPr>
              <a:t>INSIGHTS</a:t>
            </a:r>
          </a:p>
        </p:txBody>
      </p:sp>
      <p:sp>
        <p:nvSpPr>
          <p:cNvPr id="23" name="Rectangle 22">
            <a:extLst>
              <a:ext uri="{FF2B5EF4-FFF2-40B4-BE49-F238E27FC236}">
                <a16:creationId xmlns:a16="http://schemas.microsoft.com/office/drawing/2014/main" id="{A54FC1EF-07E8-B24D-ADAA-8D3E0D9D32E9}"/>
              </a:ext>
            </a:extLst>
          </p:cNvPr>
          <p:cNvSpPr/>
          <p:nvPr/>
        </p:nvSpPr>
        <p:spPr>
          <a:xfrm>
            <a:off x="6034690" y="2642175"/>
            <a:ext cx="5765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529A9131-5CDF-1445-8CFA-F45B2621EB95}"/>
              </a:ext>
            </a:extLst>
          </p:cNvPr>
          <p:cNvSpPr txBox="1"/>
          <p:nvPr/>
        </p:nvSpPr>
        <p:spPr>
          <a:xfrm>
            <a:off x="5346700" y="2749500"/>
            <a:ext cx="6426200" cy="792268"/>
          </a:xfrm>
          <a:prstGeom prst="rect">
            <a:avLst/>
          </a:prstGeom>
          <a:noFill/>
        </p:spPr>
        <p:txBody>
          <a:bodyPr vertOverflow="overflow" vert="horz" wrap="square" rtlCol="0" anchor="t">
            <a:spAutoFit/>
          </a:bodyPr>
          <a:lstStyle/>
          <a:p>
            <a:pPr>
              <a:lnSpc>
                <a:spcPts val="1100"/>
              </a:lnSpc>
            </a:pPr>
            <a:r>
              <a:rPr lang="en-US" sz="900" dirty="0">
                <a:solidFill>
                  <a:srgbClr val="0E4D4D"/>
                </a:solidFill>
                <a:latin typeface="Big Caslon Medium"/>
              </a:rPr>
              <a:t>Physical capacity attributes (guests accommodated, bedrooms, bathrooms) dominate price prediction, accounting for the majority of the model's signal. NLP-derived features (LDA topics, zero-shot theme scores, transformer sentiment) add meaningful incremental signal, validating that review content carries latent pricing information beyond structured attributes. XGBoost outperforms both neural networks across all absolute error metrics, while the regularized NN (BatchNorm, Dropout, L2, early stopping) achieves the smallest train-to-test gap.</a:t>
            </a:r>
          </a:p>
        </p:txBody>
      </p:sp>
      <p:sp>
        <p:nvSpPr>
          <p:cNvPr id="26" name="Rectangle 25">
            <a:extLst>
              <a:ext uri="{FF2B5EF4-FFF2-40B4-BE49-F238E27FC236}">
                <a16:creationId xmlns:a16="http://schemas.microsoft.com/office/drawing/2014/main" id="{89E77504-48AF-6B4D-8251-A23C84A6D53C}"/>
              </a:ext>
            </a:extLst>
          </p:cNvPr>
          <p:cNvSpPr/>
          <p:nvPr/>
        </p:nvSpPr>
        <p:spPr>
          <a:xfrm>
            <a:off x="5283200" y="3860800"/>
            <a:ext cx="38100" cy="9144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4EEA2748-BFCD-D44B-B621-295CBFC759D0}"/>
              </a:ext>
            </a:extLst>
          </p:cNvPr>
          <p:cNvSpPr txBox="1"/>
          <p:nvPr/>
        </p:nvSpPr>
        <p:spPr>
          <a:xfrm>
            <a:off x="5410200" y="3835400"/>
            <a:ext cx="635000" cy="400110"/>
          </a:xfrm>
          <a:prstGeom prst="rect">
            <a:avLst/>
          </a:prstGeom>
          <a:noFill/>
        </p:spPr>
        <p:txBody>
          <a:bodyPr vertOverflow="overflow" vert="horz" wrap="square" rtlCol="0" anchor="t">
            <a:spAutoFit/>
          </a:bodyPr>
          <a:lstStyle/>
          <a:p>
            <a:r>
              <a:rPr lang="en-US" sz="2000" b="1" i="1" dirty="0">
                <a:solidFill>
                  <a:srgbClr val="E07856"/>
                </a:solidFill>
                <a:latin typeface="Playfair Display"/>
              </a:rPr>
              <a:t>02</a:t>
            </a:r>
          </a:p>
        </p:txBody>
      </p:sp>
      <p:sp>
        <p:nvSpPr>
          <p:cNvPr id="28" name="TextBox 27">
            <a:extLst>
              <a:ext uri="{FF2B5EF4-FFF2-40B4-BE49-F238E27FC236}">
                <a16:creationId xmlns:a16="http://schemas.microsoft.com/office/drawing/2014/main" id="{A4F55C03-B848-4548-AF5A-4ECE307B76D6}"/>
              </a:ext>
            </a:extLst>
          </p:cNvPr>
          <p:cNvSpPr txBox="1"/>
          <p:nvPr/>
        </p:nvSpPr>
        <p:spPr>
          <a:xfrm>
            <a:off x="6045200" y="3911600"/>
            <a:ext cx="2794000" cy="292388"/>
          </a:xfrm>
          <a:prstGeom prst="rect">
            <a:avLst/>
          </a:prstGeom>
          <a:noFill/>
        </p:spPr>
        <p:txBody>
          <a:bodyPr vertOverflow="overflow" vert="horz" wrap="square" rtlCol="0" anchor="t">
            <a:spAutoFit/>
          </a:bodyPr>
          <a:lstStyle/>
          <a:p>
            <a:r>
              <a:rPr lang="en-US" sz="1300" b="1" spc="200" dirty="0">
                <a:solidFill>
                  <a:srgbClr val="0E4D4D"/>
                </a:solidFill>
                <a:latin typeface="Big Caslon Medium"/>
              </a:rPr>
              <a:t>RECOMMENDATIONS</a:t>
            </a:r>
          </a:p>
        </p:txBody>
      </p:sp>
      <p:sp>
        <p:nvSpPr>
          <p:cNvPr id="29" name="Rectangle 28">
            <a:extLst>
              <a:ext uri="{FF2B5EF4-FFF2-40B4-BE49-F238E27FC236}">
                <a16:creationId xmlns:a16="http://schemas.microsoft.com/office/drawing/2014/main" id="{CC3A7EE6-2B85-4047-9397-58926975CBED}"/>
              </a:ext>
            </a:extLst>
          </p:cNvPr>
          <p:cNvSpPr/>
          <p:nvPr/>
        </p:nvSpPr>
        <p:spPr>
          <a:xfrm>
            <a:off x="6045200" y="4165600"/>
            <a:ext cx="5765800" cy="12700"/>
          </a:xfrm>
          <a:prstGeom prst="rect">
            <a:avLst/>
          </a:prstGeom>
          <a:solidFill>
            <a:srgbClr val="D9C9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56074A13-66B0-1747-9741-4B0806E9A4E9}"/>
              </a:ext>
            </a:extLst>
          </p:cNvPr>
          <p:cNvSpPr txBox="1"/>
          <p:nvPr/>
        </p:nvSpPr>
        <p:spPr>
          <a:xfrm>
            <a:off x="5410200" y="4241800"/>
            <a:ext cx="6426200" cy="651204"/>
          </a:xfrm>
          <a:prstGeom prst="rect">
            <a:avLst/>
          </a:prstGeom>
          <a:noFill/>
        </p:spPr>
        <p:txBody>
          <a:bodyPr vertOverflow="overflow" vert="horz" wrap="square" rtlCol="0" anchor="t">
            <a:spAutoFit/>
          </a:bodyPr>
          <a:lstStyle/>
          <a:p>
            <a:pPr>
              <a:lnSpc>
                <a:spcPts val="1100"/>
              </a:lnSpc>
            </a:pPr>
            <a:r>
              <a:rPr lang="en-US" sz="900" b="1" dirty="0">
                <a:solidFill>
                  <a:srgbClr val="0E4D4D"/>
                </a:solidFill>
                <a:latin typeface="Big Caslon Medium"/>
              </a:rPr>
              <a:t>Airbnb: </a:t>
            </a:r>
            <a:r>
              <a:rPr lang="en-US" sz="900" dirty="0">
                <a:solidFill>
                  <a:srgbClr val="0E4D4D"/>
                </a:solidFill>
                <a:latin typeface="Big Caslon Medium"/>
              </a:rPr>
              <a:t>build a dynamic pricing tool powered by gradient boosting that combines structured attributes and NLP review signals, extensible beyond Chicago.  </a:t>
            </a:r>
            <a:r>
              <a:rPr lang="en-US" sz="900" b="1" dirty="0">
                <a:solidFill>
                  <a:srgbClr val="0E4D4D"/>
                </a:solidFill>
                <a:latin typeface="Big Caslon Medium"/>
              </a:rPr>
              <a:t>Hosts: </a:t>
            </a:r>
            <a:r>
              <a:rPr lang="en-US" sz="900" dirty="0">
                <a:solidFill>
                  <a:srgbClr val="0E4D4D"/>
                </a:solidFill>
                <a:latin typeface="Big Caslon Medium"/>
              </a:rPr>
              <a:t>maximize accommodation capacity (guests, bedrooms, bathrooms), the strongest levers on listing price.  </a:t>
            </a:r>
            <a:r>
              <a:rPr lang="en-US" sz="900" b="1" dirty="0">
                <a:solidFill>
                  <a:srgbClr val="0E4D4D"/>
                </a:solidFill>
                <a:latin typeface="Big Caslon Medium"/>
              </a:rPr>
              <a:t>Guests: </a:t>
            </a:r>
            <a:r>
              <a:rPr lang="en-US" sz="900" dirty="0">
                <a:solidFill>
                  <a:srgbClr val="0E4D4D"/>
                </a:solidFill>
                <a:latin typeface="Big Caslon Medium"/>
              </a:rPr>
              <a:t>filter on review-derived signals (sentiment, cleanliness, service) for a fuller picture of expected experience than star ratings alone.</a:t>
            </a:r>
          </a:p>
        </p:txBody>
      </p:sp>
      <p:sp>
        <p:nvSpPr>
          <p:cNvPr id="32" name="TextBox 31">
            <a:extLst>
              <a:ext uri="{FF2B5EF4-FFF2-40B4-BE49-F238E27FC236}">
                <a16:creationId xmlns:a16="http://schemas.microsoft.com/office/drawing/2014/main" id="{08E281D9-80EA-5C4C-93E7-6683D433C4BF}"/>
              </a:ext>
            </a:extLst>
          </p:cNvPr>
          <p:cNvSpPr txBox="1"/>
          <p:nvPr/>
        </p:nvSpPr>
        <p:spPr>
          <a:xfrm>
            <a:off x="5410200" y="5232400"/>
            <a:ext cx="635000" cy="400110"/>
          </a:xfrm>
          <a:prstGeom prst="rect">
            <a:avLst/>
          </a:prstGeom>
          <a:noFill/>
        </p:spPr>
        <p:txBody>
          <a:bodyPr vertOverflow="overflow" vert="horz" wrap="square" rtlCol="0" anchor="t">
            <a:spAutoFit/>
          </a:bodyPr>
          <a:lstStyle/>
          <a:p>
            <a:r>
              <a:rPr lang="en-US" sz="2000" b="1" i="1" dirty="0">
                <a:solidFill>
                  <a:srgbClr val="F7F1E8"/>
                </a:solidFill>
                <a:latin typeface="Playfair Display"/>
              </a:rPr>
              <a:t>03</a:t>
            </a:r>
          </a:p>
        </p:txBody>
      </p:sp>
      <p:sp>
        <p:nvSpPr>
          <p:cNvPr id="33" name="TextBox 32">
            <a:extLst>
              <a:ext uri="{FF2B5EF4-FFF2-40B4-BE49-F238E27FC236}">
                <a16:creationId xmlns:a16="http://schemas.microsoft.com/office/drawing/2014/main" id="{CAEFC95B-7371-CE48-B32C-357AD2C0B30F}"/>
              </a:ext>
            </a:extLst>
          </p:cNvPr>
          <p:cNvSpPr txBox="1"/>
          <p:nvPr/>
        </p:nvSpPr>
        <p:spPr>
          <a:xfrm>
            <a:off x="6045200" y="5308600"/>
            <a:ext cx="2794000" cy="292388"/>
          </a:xfrm>
          <a:prstGeom prst="rect">
            <a:avLst/>
          </a:prstGeom>
          <a:noFill/>
        </p:spPr>
        <p:txBody>
          <a:bodyPr vertOverflow="overflow" vert="horz" wrap="square" rtlCol="0" anchor="t">
            <a:spAutoFit/>
          </a:bodyPr>
          <a:lstStyle/>
          <a:p>
            <a:r>
              <a:rPr lang="en-US" sz="1300" b="1" spc="200" dirty="0">
                <a:solidFill>
                  <a:srgbClr val="F7F1E8"/>
                </a:solidFill>
                <a:latin typeface="Big Caslon Medium"/>
              </a:rPr>
              <a:t>CONCLUSION</a:t>
            </a:r>
          </a:p>
        </p:txBody>
      </p:sp>
      <p:sp>
        <p:nvSpPr>
          <p:cNvPr id="34" name="Rectangle 33">
            <a:extLst>
              <a:ext uri="{FF2B5EF4-FFF2-40B4-BE49-F238E27FC236}">
                <a16:creationId xmlns:a16="http://schemas.microsoft.com/office/drawing/2014/main" id="{72F418D2-9BB0-9344-8A82-EFB94C0E8AF9}"/>
              </a:ext>
            </a:extLst>
          </p:cNvPr>
          <p:cNvSpPr/>
          <p:nvPr/>
        </p:nvSpPr>
        <p:spPr>
          <a:xfrm>
            <a:off x="6045200" y="5562600"/>
            <a:ext cx="5765800" cy="127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ACBEA180-19F2-1349-925B-196552853122}"/>
              </a:ext>
            </a:extLst>
          </p:cNvPr>
          <p:cNvSpPr txBox="1"/>
          <p:nvPr/>
        </p:nvSpPr>
        <p:spPr>
          <a:xfrm>
            <a:off x="5410200" y="5638800"/>
            <a:ext cx="6426200" cy="510140"/>
          </a:xfrm>
          <a:prstGeom prst="rect">
            <a:avLst/>
          </a:prstGeom>
          <a:noFill/>
        </p:spPr>
        <p:txBody>
          <a:bodyPr vertOverflow="overflow" vert="horz" wrap="square" rtlCol="0" anchor="t">
            <a:spAutoFit/>
          </a:bodyPr>
          <a:lstStyle/>
          <a:p>
            <a:pPr>
              <a:lnSpc>
                <a:spcPts val="1100"/>
              </a:lnSpc>
            </a:pPr>
            <a:r>
              <a:rPr lang="en-US" sz="900" dirty="0">
                <a:solidFill>
                  <a:srgbClr val="F7F1E8"/>
                </a:solidFill>
                <a:latin typeface="Big Caslon Medium"/>
              </a:rPr>
              <a:t>XGBoost delivered the strongest fit with test R² of 0.61 and RMSE of $81.23. Property size remains the primary lever, while NLP-derived themes provide a real, modest, incremental signal for valuation. Pairing structured features with review-driven NLP scores is a workable framework for  price prediction of Airbnb listings.</a:t>
            </a:r>
          </a:p>
        </p:txBody>
      </p:sp>
      <p:pic>
        <p:nvPicPr>
          <p:cNvPr id="36" name="Picture 35">
            <a:extLst>
              <a:ext uri="{FF2B5EF4-FFF2-40B4-BE49-F238E27FC236}">
                <a16:creationId xmlns:a16="http://schemas.microsoft.com/office/drawing/2014/main" id="{4EB673DC-9087-7E30-B9BC-4AADE1211EBC}"/>
              </a:ext>
            </a:extLst>
          </p:cNvPr>
          <p:cNvPicPr>
            <a:picLocks noChangeAspect="1"/>
          </p:cNvPicPr>
          <p:nvPr/>
        </p:nvPicPr>
        <p:blipFill>
          <a:blip r:embed="rId3"/>
          <a:stretch>
            <a:fillRect/>
          </a:stretch>
        </p:blipFill>
        <p:spPr>
          <a:xfrm>
            <a:off x="527050" y="3044007"/>
            <a:ext cx="4305300" cy="2694513"/>
          </a:xfrm>
          <a:prstGeom prst="rect">
            <a:avLst/>
          </a:prstGeom>
        </p:spPr>
      </p:pic>
      <p:pic>
        <p:nvPicPr>
          <p:cNvPr id="37" name="Picture 36">
            <a:extLst>
              <a:ext uri="{FF2B5EF4-FFF2-40B4-BE49-F238E27FC236}">
                <a16:creationId xmlns:a16="http://schemas.microsoft.com/office/drawing/2014/main" id="{2DFEAED0-90A2-86E0-264C-4E61D79D8964}"/>
              </a:ext>
            </a:extLst>
          </p:cNvPr>
          <p:cNvPicPr>
            <a:picLocks noChangeAspect="1"/>
          </p:cNvPicPr>
          <p:nvPr/>
        </p:nvPicPr>
        <p:blipFill>
          <a:blip r:embed="rId4"/>
          <a:stretch>
            <a:fillRect/>
          </a:stretch>
        </p:blipFill>
        <p:spPr>
          <a:xfrm>
            <a:off x="304800" y="228600"/>
            <a:ext cx="1066800" cy="558800"/>
          </a:xfrm>
          <a:prstGeom prst="roundRect">
            <a:avLst>
              <a:gd name="adj" fmla="val 18000"/>
            </a:avLst>
          </a:prstGeom>
          <a:ln>
            <a:noFill/>
          </a:ln>
          <a:effectLst>
            <a:softEdge rad="0"/>
          </a:effectLst>
        </p:spPr>
      </p:pic>
    </p:spTree>
    <p:extLst>
      <p:ext uri="{BB962C8B-B14F-4D97-AF65-F5344CB8AC3E}">
        <p14:creationId xmlns:p14="http://schemas.microsoft.com/office/powerpoint/2010/main" val="3998630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1E8">
            <a:alpha val="100000"/>
          </a:srgbClr>
        </a:solidFill>
        <a:effectLst/>
      </p:bgPr>
    </p:bg>
    <p:spTree>
      <p:nvGrpSpPr>
        <p:cNvPr id="1" name=""/>
        <p:cNvGrpSpPr/>
        <p:nvPr/>
      </p:nvGrpSpPr>
      <p:grpSpPr>
        <a:xfrm>
          <a:off x="0" y="0"/>
          <a:ext cx="0" cy="0"/>
          <a:chOff x="0" y="0"/>
          <a:chExt cx="0" cy="0"/>
        </a:xfrm>
      </p:grpSpPr>
      <p:sp>
        <p:nvSpPr>
          <p:cNvPr id="100" name="HeaderBand"/>
          <p:cNvSpPr/>
          <p:nvPr/>
        </p:nvSpPr>
        <p:spPr>
          <a:xfrm>
            <a:off x="0" y="0"/>
            <a:ext cx="12192000" cy="1016000"/>
          </a:xfrm>
          <a:prstGeom prst="rect">
            <a:avLst/>
          </a:prstGeom>
          <a:solidFill>
            <a:srgbClr val="0E4D4D"/>
          </a:solidFill>
          <a:ln>
            <a:noFill/>
          </a:ln>
        </p:spPr>
        <p:txBody>
          <a:bodyPr/>
          <a:lstStyle/>
          <a:p>
            <a:endParaRPr/>
          </a:p>
        </p:txBody>
      </p:sp>
      <p:sp>
        <p:nvSpPr>
          <p:cNvPr id="2" name="Rectangle 1">
            <a:extLst>
              <a:ext uri="{FF2B5EF4-FFF2-40B4-BE49-F238E27FC236}">
                <a16:creationId xmlns:a16="http://schemas.microsoft.com/office/drawing/2014/main" id="{8410CC0F-9BF2-4C41-8340-793B9142F0AB}"/>
              </a:ext>
            </a:extLst>
          </p:cNvPr>
          <p:cNvSpPr/>
          <p:nvPr/>
        </p:nvSpPr>
        <p:spPr>
          <a:xfrm>
            <a:off x="0" y="1016000"/>
            <a:ext cx="12192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E36FA19-2722-034A-A5F3-224EBCBFC7CA}"/>
              </a:ext>
            </a:extLst>
          </p:cNvPr>
          <p:cNvSpPr txBox="1"/>
          <p:nvPr/>
        </p:nvSpPr>
        <p:spPr>
          <a:xfrm>
            <a:off x="635000" y="2505670"/>
            <a:ext cx="10922000" cy="923330"/>
          </a:xfrm>
          <a:prstGeom prst="rect">
            <a:avLst/>
          </a:prstGeom>
          <a:noFill/>
        </p:spPr>
        <p:txBody>
          <a:bodyPr vertOverflow="overflow" vert="horz" wrap="square" rtlCol="0" anchor="t">
            <a:spAutoFit/>
          </a:bodyPr>
          <a:lstStyle/>
          <a:p>
            <a:pPr algn="ctr"/>
            <a:r>
              <a:rPr lang="en-US" sz="5400" b="1" i="1" dirty="0">
                <a:solidFill>
                  <a:srgbClr val="0E4D4D"/>
                </a:solidFill>
                <a:latin typeface="Playfair Display"/>
              </a:rPr>
              <a:t>Thank You!</a:t>
            </a:r>
          </a:p>
        </p:txBody>
      </p:sp>
      <p:sp>
        <p:nvSpPr>
          <p:cNvPr id="7" name="Rectangle 6">
            <a:extLst>
              <a:ext uri="{FF2B5EF4-FFF2-40B4-BE49-F238E27FC236}">
                <a16:creationId xmlns:a16="http://schemas.microsoft.com/office/drawing/2014/main" id="{F8896F19-B260-D546-9DA5-A1FC26CFA99D}"/>
              </a:ext>
            </a:extLst>
          </p:cNvPr>
          <p:cNvSpPr/>
          <p:nvPr/>
        </p:nvSpPr>
        <p:spPr>
          <a:xfrm>
            <a:off x="5334000" y="4038600"/>
            <a:ext cx="1524000" cy="38100"/>
          </a:xfrm>
          <a:prstGeom prst="rect">
            <a:avLst/>
          </a:prstGeom>
          <a:solidFill>
            <a:srgbClr val="E0785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DBC9AAF-C819-9643-ADA0-CAE146783314}"/>
              </a:ext>
            </a:extLst>
          </p:cNvPr>
          <p:cNvSpPr txBox="1"/>
          <p:nvPr/>
        </p:nvSpPr>
        <p:spPr>
          <a:xfrm>
            <a:off x="635000" y="4292600"/>
            <a:ext cx="10922000" cy="304800"/>
          </a:xfrm>
          <a:prstGeom prst="rect">
            <a:avLst/>
          </a:prstGeom>
          <a:noFill/>
        </p:spPr>
        <p:txBody>
          <a:bodyPr vertOverflow="overflow" vert="horz" wrap="square" rtlCol="0" anchor="t">
            <a:spAutoFit/>
          </a:bodyPr>
          <a:lstStyle/>
          <a:p>
            <a:pPr algn="ctr"/>
            <a:r>
              <a:rPr lang="en-US" sz="1400" b="1" spc="400" dirty="0">
                <a:solidFill>
                  <a:srgbClr val="E07856"/>
                </a:solidFill>
                <a:latin typeface="Big Caslon Medium"/>
              </a:rPr>
              <a:t>QUESTIONS   ·   COMMENTS   ·   DISCUSSION</a:t>
            </a:r>
          </a:p>
        </p:txBody>
      </p:sp>
      <p:sp>
        <p:nvSpPr>
          <p:cNvPr id="9" name="TextBox 8">
            <a:extLst>
              <a:ext uri="{FF2B5EF4-FFF2-40B4-BE49-F238E27FC236}">
                <a16:creationId xmlns:a16="http://schemas.microsoft.com/office/drawing/2014/main" id="{5EA04AAF-0EBC-D542-BABF-7670C2C44ACB}"/>
              </a:ext>
            </a:extLst>
          </p:cNvPr>
          <p:cNvSpPr txBox="1"/>
          <p:nvPr/>
        </p:nvSpPr>
        <p:spPr>
          <a:xfrm>
            <a:off x="635000" y="4775200"/>
            <a:ext cx="10922000" cy="251223"/>
          </a:xfrm>
          <a:prstGeom prst="rect">
            <a:avLst/>
          </a:prstGeom>
          <a:noFill/>
        </p:spPr>
        <p:txBody>
          <a:bodyPr vertOverflow="overflow" vert="horz" wrap="square" rtlCol="0" anchor="t">
            <a:spAutoFit/>
          </a:bodyPr>
          <a:lstStyle/>
          <a:p>
            <a:pPr algn="ctr">
              <a:lnSpc>
                <a:spcPts val="1100"/>
              </a:lnSpc>
            </a:pPr>
            <a:r>
              <a:rPr lang="en-US" sz="1600" i="1" dirty="0">
                <a:solidFill>
                  <a:srgbClr val="0E4D4D"/>
                </a:solidFill>
                <a:latin typeface="Big Caslon Medium"/>
              </a:rPr>
              <a:t>We welcome your questions and feedback.</a:t>
            </a:r>
          </a:p>
        </p:txBody>
      </p:sp>
      <p:sp>
        <p:nvSpPr>
          <p:cNvPr id="10" name="Rectangle 9">
            <a:extLst>
              <a:ext uri="{FF2B5EF4-FFF2-40B4-BE49-F238E27FC236}">
                <a16:creationId xmlns:a16="http://schemas.microsoft.com/office/drawing/2014/main" id="{6199A330-AF17-6248-8277-8645AE07C6E5}"/>
              </a:ext>
            </a:extLst>
          </p:cNvPr>
          <p:cNvSpPr/>
          <p:nvPr/>
        </p:nvSpPr>
        <p:spPr>
          <a:xfrm>
            <a:off x="0" y="6477000"/>
            <a:ext cx="12192000" cy="381000"/>
          </a:xfrm>
          <a:prstGeom prst="rect">
            <a:avLst/>
          </a:prstGeom>
          <a:solidFill>
            <a:srgbClr val="0E4D4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D70C36A0-B156-6247-84EF-9114FE0C945D}"/>
              </a:ext>
            </a:extLst>
          </p:cNvPr>
          <p:cNvSpPr txBox="1"/>
          <p:nvPr/>
        </p:nvSpPr>
        <p:spPr>
          <a:xfrm>
            <a:off x="406400" y="6553200"/>
            <a:ext cx="6350000" cy="254000"/>
          </a:xfrm>
          <a:prstGeom prst="rect">
            <a:avLst/>
          </a:prstGeom>
          <a:noFill/>
        </p:spPr>
        <p:txBody>
          <a:bodyPr vertOverflow="overflow" vert="horz" wrap="square" rtlCol="0" anchor="t">
            <a:spAutoFit/>
          </a:bodyPr>
          <a:lstStyle/>
          <a:p>
            <a:pPr algn="l"/>
            <a:r>
              <a:rPr lang="en-US" sz="1000" b="1" spc="200" dirty="0">
                <a:solidFill>
                  <a:srgbClr val="F7F1E8"/>
                </a:solidFill>
                <a:latin typeface="Big Caslon Medium"/>
              </a:rPr>
              <a:t>SCH-MGMT 661   ·   APPLICATIONS OF AI MODELS</a:t>
            </a:r>
          </a:p>
        </p:txBody>
      </p:sp>
      <p:pic>
        <p:nvPicPr>
          <p:cNvPr id="12" name="Copied Picture 12">
            <a:extLst>
              <a:ext uri="{FF2B5EF4-FFF2-40B4-BE49-F238E27FC236}">
                <a16:creationId xmlns:a16="http://schemas.microsoft.com/office/drawing/2014/main" id="{13DBE41A-A9BE-849B-30CD-0D2441C04BCD}"/>
              </a:ext>
            </a:extLst>
          </p:cNvPr>
          <p:cNvPicPr>
            <a:picLocks noChangeAspect="1"/>
          </p:cNvPicPr>
          <p:nvPr/>
        </p:nvPicPr>
        <p:blipFill>
          <a:blip r:embed="rId2"/>
          <a:stretch>
            <a:fillRect/>
          </a:stretch>
        </p:blipFill>
        <p:spPr>
          <a:xfrm>
            <a:off x="304800" y="228600"/>
            <a:ext cx="1066800" cy="558800"/>
          </a:xfrm>
          <a:prstGeom prst="roundRect">
            <a:avLst>
              <a:gd name="adj" fmla="val 18000"/>
            </a:avLst>
          </a:prstGeom>
          <a:ln>
            <a:noFill/>
          </a:ln>
          <a:effectLst>
            <a:softEdge rad="0"/>
          </a:effectLst>
        </p:spPr>
      </p:pic>
      <p:sp>
        <p:nvSpPr>
          <p:cNvPr id="13" name="TextBox 12">
            <a:extLst>
              <a:ext uri="{FF2B5EF4-FFF2-40B4-BE49-F238E27FC236}">
                <a16:creationId xmlns:a16="http://schemas.microsoft.com/office/drawing/2014/main" id="{04AF70D9-1B19-4F7F-DCB3-6BBAEDDA397C}"/>
              </a:ext>
            </a:extLst>
          </p:cNvPr>
          <p:cNvSpPr txBox="1"/>
          <p:nvPr/>
        </p:nvSpPr>
        <p:spPr>
          <a:xfrm>
            <a:off x="1651000" y="355600"/>
            <a:ext cx="7112000" cy="292388"/>
          </a:xfrm>
          <a:prstGeom prst="rect">
            <a:avLst/>
          </a:prstGeom>
          <a:noFill/>
        </p:spPr>
        <p:txBody>
          <a:bodyPr vertOverflow="overflow" vert="horz" wrap="square" rtlCol="0" anchor="t">
            <a:spAutoFit/>
          </a:bodyPr>
          <a:lstStyle/>
          <a:p>
            <a:pPr algn="l"/>
            <a:r>
              <a:rPr lang="en-US" sz="1300" b="1" spc="200" dirty="0">
                <a:solidFill>
                  <a:srgbClr val="F7F1E8"/>
                </a:solidFill>
                <a:latin typeface="Big Caslon Medium"/>
              </a:rPr>
              <a:t>AIRBNB CHICAGO   ·   ML / NLP / NEURAL NETWORKS</a:t>
            </a:r>
          </a:p>
        </p:txBody>
      </p:sp>
      <p:sp>
        <p:nvSpPr>
          <p:cNvPr id="14" name="Rectangle 13">
            <a:extLst>
              <a:ext uri="{FF2B5EF4-FFF2-40B4-BE49-F238E27FC236}">
                <a16:creationId xmlns:a16="http://schemas.microsoft.com/office/drawing/2014/main" id="{A7F370AD-D24F-0C1C-A083-F203CD5646FE}"/>
              </a:ext>
            </a:extLst>
          </p:cNvPr>
          <p:cNvSpPr/>
          <p:nvPr/>
        </p:nvSpPr>
        <p:spPr>
          <a:xfrm>
            <a:off x="10033000" y="304800"/>
            <a:ext cx="1778000" cy="406400"/>
          </a:xfrm>
          <a:prstGeom prst="rect">
            <a:avLst/>
          </a:prstGeom>
          <a:solidFill>
            <a:srgbClr val="F7F1E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4CC79386-6483-1BAA-E6D3-5FDC6FF5309E}"/>
              </a:ext>
            </a:extLst>
          </p:cNvPr>
          <p:cNvSpPr txBox="1"/>
          <p:nvPr/>
        </p:nvSpPr>
        <p:spPr>
          <a:xfrm>
            <a:off x="10033000" y="381000"/>
            <a:ext cx="1778000" cy="279400"/>
          </a:xfrm>
          <a:prstGeom prst="rect">
            <a:avLst/>
          </a:prstGeom>
          <a:noFill/>
        </p:spPr>
        <p:txBody>
          <a:bodyPr vertOverflow="overflow" vert="horz" wrap="square" rtlCol="0" anchor="t">
            <a:spAutoFit/>
          </a:bodyPr>
          <a:lstStyle/>
          <a:p>
            <a:pPr algn="ctr"/>
            <a:r>
              <a:rPr lang="en-US" sz="1200" b="1" dirty="0">
                <a:solidFill>
                  <a:srgbClr val="0E4D4D"/>
                </a:solidFill>
                <a:latin typeface="BIG CASLON MEDIUM"/>
                <a:cs typeface="BIG CASLON MEDIUM"/>
              </a:rPr>
              <a:t>GROUP  5</a:t>
            </a:r>
          </a:p>
        </p:txBody>
      </p:sp>
      <p:sp>
        <p:nvSpPr>
          <p:cNvPr id="3" name="TextBox 2">
            <a:extLst>
              <a:ext uri="{FF2B5EF4-FFF2-40B4-BE49-F238E27FC236}">
                <a16:creationId xmlns:a16="http://schemas.microsoft.com/office/drawing/2014/main" id="{FBBEFD02-51AD-969A-8A35-BDD3970A882E}"/>
              </a:ext>
            </a:extLst>
          </p:cNvPr>
          <p:cNvSpPr txBox="1"/>
          <p:nvPr/>
        </p:nvSpPr>
        <p:spPr>
          <a:xfrm>
            <a:off x="11049000" y="6553200"/>
            <a:ext cx="762000" cy="254000"/>
          </a:xfrm>
          <a:prstGeom prst="rect">
            <a:avLst/>
          </a:prstGeom>
          <a:noFill/>
        </p:spPr>
        <p:txBody>
          <a:bodyPr vertOverflow="overflow" vert="horz" wrap="square" rtlCol="0" anchor="t">
            <a:spAutoFit/>
          </a:bodyPr>
          <a:lstStyle/>
          <a:p>
            <a:pPr algn="r"/>
            <a:r>
              <a:rPr lang="en-US" sz="1000" b="1" spc="150" dirty="0">
                <a:solidFill>
                  <a:srgbClr val="E07856"/>
                </a:solidFill>
                <a:latin typeface="Big Caslon Medium"/>
              </a:rPr>
              <a:t>14 / 14</a:t>
            </a:r>
          </a:p>
        </p:txBody>
      </p:sp>
    </p:spTree>
    <p:extLst>
      <p:ext uri="{BB962C8B-B14F-4D97-AF65-F5344CB8AC3E}">
        <p14:creationId xmlns:p14="http://schemas.microsoft.com/office/powerpoint/2010/main" val="2252925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F05EB71-39DF-5046-B62D-ECB310E958F3}">
  <we:reference id="wa200010001" version="1.0.0.1" store="en-US" storeType="OMEX"/>
  <we:alternateReferences>
    <we:reference id="wa200010001" version="1.0.0.1" store="en-US" storeType="OMEX"/>
  </we:alternateReferences>
  <we:properties>
    <we:property name="claude.fileId" value="&quot;b21de946-77b1-4e54-8563-3e5eeffa405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1758</TotalTime>
  <Words>2447</Words>
  <Application>Microsoft Macintosh PowerPoint</Application>
  <PresentationFormat>Widescreen</PresentationFormat>
  <Paragraphs>325</Paragraphs>
  <Slides>14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Angsana New</vt:lpstr>
      <vt:lpstr>Aptos</vt:lpstr>
      <vt:lpstr>Aptos Display</vt:lpstr>
      <vt:lpstr>Arial</vt:lpstr>
      <vt:lpstr>Big Caslon Medium</vt:lpstr>
      <vt:lpstr>Big Caslon Medium</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Rohith Reddy Kolanu</dc:creator>
  <cp:lastModifiedBy>Rohith Reddy Kolanu</cp:lastModifiedBy>
  <cp:revision>15</cp:revision>
  <dcterms:created xsi:type="dcterms:W3CDTF">2026-05-03T17:29:36Z</dcterms:created>
  <dcterms:modified xsi:type="dcterms:W3CDTF">2026-05-06T19:08:06Z</dcterms:modified>
</cp:coreProperties>
</file>